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1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2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3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4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slides/charts/chart5.xml" ContentType="application/vnd.openxmlformats-officedocument.drawingml.chart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slides/charts/chart6.xml" ContentType="application/vnd.openxmlformats-officedocument.drawingml.chart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slides/charts/chart7.xml" ContentType="application/vnd.openxmlformats-officedocument.drawingml.chart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slides/charts/chart8.xml" ContentType="application/vnd.openxmlformats-officedocument.drawingml.chart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slides/charts/chart9.xml" ContentType="application/vnd.openxmlformats-officedocument.drawingml.chart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slides/charts/chart10.xml" ContentType="application/vnd.openxmlformats-officedocument.drawingml.chart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slides/charts/chart11.xml" ContentType="application/vnd.openxmlformats-officedocument.drawingml.chart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slides/charts/chart12.xml" ContentType="application/vnd.openxmlformats-officedocument.drawingml.chart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slides/charts/chart13.xml" ContentType="application/vnd.openxmlformats-officedocument.drawingml.chart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slides/charts/chart14.xml" ContentType="application/vnd.openxmlformats-officedocument.drawingml.chart+xml"/>
  <Override PartName="/ppt/slides/charts/chart15.xml" ContentType="application/vnd.openxmlformats-officedocument.drawingml.chart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slides/charts/chart16.xml" ContentType="application/vnd.openxmlformats-officedocument.drawingml.chart+xml"/>
  <Override PartName="/ppt/slides/charts/chart17.xml" ContentType="application/vnd.openxmlformats-officedocument.drawingml.chart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d23ab22f16f49eb" /><Relationship Type="http://schemas.openxmlformats.org/officeDocument/2006/relationships/extended-properties" Target="/docProps/app.xml" Id="R22c9b0c5cc124ce3" /><Relationship Type="http://schemas.openxmlformats.org/officeDocument/2006/relationships/officeDocument" Target="/ppt/presentation.xml" Id="R0907267a0d9b4bb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8459fcb0bf54580"/>
  </p:sldMasterIdLst>
  <p:notesMasterIdLst>
    <p:notesMasterId xmlns:r="http://schemas.openxmlformats.org/officeDocument/2006/relationships" r:id="R092f86f38b9a482d"/>
  </p:notesMasterIdLst>
  <p:sldIdLst>
    <p:sldId xmlns:r="http://schemas.openxmlformats.org/officeDocument/2006/relationships" id="256" r:id="Ra4c69ede4dbd42ec"/>
    <p:sldId xmlns:r="http://schemas.openxmlformats.org/officeDocument/2006/relationships" id="257" r:id="Rc2f06a969fd844cd"/>
    <p:sldId xmlns:r="http://schemas.openxmlformats.org/officeDocument/2006/relationships" id="258" r:id="R57ca4e4ffbee4fe4"/>
    <p:sldId xmlns:r="http://schemas.openxmlformats.org/officeDocument/2006/relationships" id="259" r:id="Rb6f57cd926544ee9"/>
    <p:sldId xmlns:r="http://schemas.openxmlformats.org/officeDocument/2006/relationships" id="260" r:id="Rd733fae43ec44b69"/>
    <p:sldId xmlns:r="http://schemas.openxmlformats.org/officeDocument/2006/relationships" id="261" r:id="R2ac9de570ca845ec"/>
    <p:sldId xmlns:r="http://schemas.openxmlformats.org/officeDocument/2006/relationships" id="262" r:id="Re242960095c04fd8"/>
    <p:sldId xmlns:r="http://schemas.openxmlformats.org/officeDocument/2006/relationships" id="263" r:id="R0d833524d12048b1"/>
    <p:sldId xmlns:r="http://schemas.openxmlformats.org/officeDocument/2006/relationships" id="264" r:id="R773c1fef9d014cbc"/>
    <p:sldId xmlns:r="http://schemas.openxmlformats.org/officeDocument/2006/relationships" id="265" r:id="Rd8793bdc7de249e1"/>
    <p:sldId xmlns:r="http://schemas.openxmlformats.org/officeDocument/2006/relationships" id="266" r:id="Rd12d271f34cf4ff6"/>
    <p:sldId xmlns:r="http://schemas.openxmlformats.org/officeDocument/2006/relationships" id="267" r:id="Rdfac03cc57c247f8"/>
    <p:sldId xmlns:r="http://schemas.openxmlformats.org/officeDocument/2006/relationships" id="268" r:id="R31aaca543ad14c77"/>
    <p:sldId xmlns:r="http://schemas.openxmlformats.org/officeDocument/2006/relationships" id="269" r:id="Ra120d8a9ba9a46e7"/>
    <p:sldId xmlns:r="http://schemas.openxmlformats.org/officeDocument/2006/relationships" id="270" r:id="R4a4f6fcc133b4213"/>
    <p:sldId xmlns:r="http://schemas.openxmlformats.org/officeDocument/2006/relationships" id="271" r:id="R260c9d0d051f445e"/>
    <p:sldId xmlns:r="http://schemas.openxmlformats.org/officeDocument/2006/relationships" id="272" r:id="R6274a6b14cb64c72"/>
    <p:sldId xmlns:r="http://schemas.openxmlformats.org/officeDocument/2006/relationships" id="273" r:id="Ra0a137c6031446ac"/>
    <p:sldId xmlns:r="http://schemas.openxmlformats.org/officeDocument/2006/relationships" id="274" r:id="R7287eb1eb74744e2"/>
    <p:sldId xmlns:r="http://schemas.openxmlformats.org/officeDocument/2006/relationships" id="275" r:id="R626260c4aa494916"/>
    <p:sldId xmlns:r="http://schemas.openxmlformats.org/officeDocument/2006/relationships" id="276" r:id="Rea8801da2fef46da"/>
    <p:sldId xmlns:r="http://schemas.openxmlformats.org/officeDocument/2006/relationships" id="277" r:id="R108ab57fde924113"/>
    <p:sldId xmlns:r="http://schemas.openxmlformats.org/officeDocument/2006/relationships" id="278" r:id="R9f3dee7adcf74b36"/>
    <p:sldId xmlns:r="http://schemas.openxmlformats.org/officeDocument/2006/relationships" id="279" r:id="R1000a0134a104e8b"/>
    <p:sldId xmlns:r="http://schemas.openxmlformats.org/officeDocument/2006/relationships" id="280" r:id="Reb70299c3faf4388"/>
    <p:sldId xmlns:r="http://schemas.openxmlformats.org/officeDocument/2006/relationships" id="281" r:id="R800bdd058fbc4272"/>
    <p:sldId xmlns:r="http://schemas.openxmlformats.org/officeDocument/2006/relationships" id="282" r:id="Rc58948e484b44159"/>
    <p:sldId xmlns:r="http://schemas.openxmlformats.org/officeDocument/2006/relationships" id="283" r:id="R001dc10077e840a5"/>
    <p:sldId xmlns:r="http://schemas.openxmlformats.org/officeDocument/2006/relationships" id="284" r:id="R0a2ca4a39a3e4eb2"/>
    <p:sldId xmlns:r="http://schemas.openxmlformats.org/officeDocument/2006/relationships" id="285" r:id="R0d2155f962374a2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d05fb2ca29c48c6" /><Relationship Type="http://schemas.openxmlformats.org/officeDocument/2006/relationships/slideMaster" Target="/ppt/slideMasters/slideMaster1.xml" Id="R98459fcb0bf54580" /><Relationship Type="http://schemas.openxmlformats.org/officeDocument/2006/relationships/notesMaster" Target="/ppt/notesMasters/notesMaster1.xml" Id="R092f86f38b9a482d" /><Relationship Type="http://schemas.openxmlformats.org/officeDocument/2006/relationships/presProps" Target="/ppt/presProps.xml" Id="R56ccee8945114499" /><Relationship Type="http://schemas.openxmlformats.org/officeDocument/2006/relationships/tableStyles" Target="/ppt/tableStyles.xml" Id="Reb93a0bdb6bb48f7" /><Relationship Type="http://schemas.openxmlformats.org/officeDocument/2006/relationships/slide" Target="/ppt/slides/slide1.xml" Id="Ra4c69ede4dbd42ec" /><Relationship Type="http://schemas.openxmlformats.org/officeDocument/2006/relationships/slide" Target="/ppt/slides/slide2.xml" Id="Rc2f06a969fd844cd" /><Relationship Type="http://schemas.openxmlformats.org/officeDocument/2006/relationships/slide" Target="/ppt/slides/slide3.xml" Id="R57ca4e4ffbee4fe4" /><Relationship Type="http://schemas.openxmlformats.org/officeDocument/2006/relationships/slide" Target="/ppt/slides/slide4.xml" Id="Rb6f57cd926544ee9" /><Relationship Type="http://schemas.openxmlformats.org/officeDocument/2006/relationships/slide" Target="/ppt/slides/slide5.xml" Id="Rd733fae43ec44b69" /><Relationship Type="http://schemas.openxmlformats.org/officeDocument/2006/relationships/slide" Target="/ppt/slides/slide6.xml" Id="R2ac9de570ca845ec" /><Relationship Type="http://schemas.openxmlformats.org/officeDocument/2006/relationships/slide" Target="/ppt/slides/slide7.xml" Id="Re242960095c04fd8" /><Relationship Type="http://schemas.openxmlformats.org/officeDocument/2006/relationships/slide" Target="/ppt/slides/slide8.xml" Id="R0d833524d12048b1" /><Relationship Type="http://schemas.openxmlformats.org/officeDocument/2006/relationships/slide" Target="/ppt/slides/slide9.xml" Id="R773c1fef9d014cbc" /><Relationship Type="http://schemas.openxmlformats.org/officeDocument/2006/relationships/slide" Target="/ppt/slides/slide10.xml" Id="Rd8793bdc7de249e1" /><Relationship Type="http://schemas.openxmlformats.org/officeDocument/2006/relationships/slide" Target="/ppt/slides/slide11.xml" Id="Rd12d271f34cf4ff6" /><Relationship Type="http://schemas.openxmlformats.org/officeDocument/2006/relationships/slide" Target="/ppt/slides/slide12.xml" Id="Rdfac03cc57c247f8" /><Relationship Type="http://schemas.openxmlformats.org/officeDocument/2006/relationships/slide" Target="/ppt/slides/slide13.xml" Id="R31aaca543ad14c77" /><Relationship Type="http://schemas.openxmlformats.org/officeDocument/2006/relationships/slide" Target="/ppt/slides/slide14.xml" Id="Ra120d8a9ba9a46e7" /><Relationship Type="http://schemas.openxmlformats.org/officeDocument/2006/relationships/slide" Target="/ppt/slides/slide15.xml" Id="R4a4f6fcc133b4213" /><Relationship Type="http://schemas.openxmlformats.org/officeDocument/2006/relationships/slide" Target="/ppt/slides/slide16.xml" Id="R260c9d0d051f445e" /><Relationship Type="http://schemas.openxmlformats.org/officeDocument/2006/relationships/slide" Target="/ppt/slides/slide17.xml" Id="R6274a6b14cb64c72" /><Relationship Type="http://schemas.openxmlformats.org/officeDocument/2006/relationships/slide" Target="/ppt/slides/slide18.xml" Id="Ra0a137c6031446ac" /><Relationship Type="http://schemas.openxmlformats.org/officeDocument/2006/relationships/slide" Target="/ppt/slides/slide19.xml" Id="R7287eb1eb74744e2" /><Relationship Type="http://schemas.openxmlformats.org/officeDocument/2006/relationships/slide" Target="/ppt/slides/slide20.xml" Id="R626260c4aa494916" /><Relationship Type="http://schemas.openxmlformats.org/officeDocument/2006/relationships/slide" Target="/ppt/slides/slide21.xml" Id="Rea8801da2fef46da" /><Relationship Type="http://schemas.openxmlformats.org/officeDocument/2006/relationships/slide" Target="/ppt/slides/slide22.xml" Id="R108ab57fde924113" /><Relationship Type="http://schemas.openxmlformats.org/officeDocument/2006/relationships/slide" Target="/ppt/slides/slide23.xml" Id="R9f3dee7adcf74b36" /><Relationship Type="http://schemas.openxmlformats.org/officeDocument/2006/relationships/slide" Target="/ppt/slides/slide24.xml" Id="R1000a0134a104e8b" /><Relationship Type="http://schemas.openxmlformats.org/officeDocument/2006/relationships/slide" Target="/ppt/slides/slide25.xml" Id="Reb70299c3faf4388" /><Relationship Type="http://schemas.openxmlformats.org/officeDocument/2006/relationships/slide" Target="/ppt/slides/slide26.xml" Id="R800bdd058fbc4272" /><Relationship Type="http://schemas.openxmlformats.org/officeDocument/2006/relationships/slide" Target="/ppt/slides/slide27.xml" Id="Rc58948e484b44159" /><Relationship Type="http://schemas.openxmlformats.org/officeDocument/2006/relationships/slide" Target="/ppt/slides/slide28.xml" Id="R001dc10077e840a5" /><Relationship Type="http://schemas.openxmlformats.org/officeDocument/2006/relationships/slide" Target="/ppt/slides/slide29.xml" Id="R0a2ca4a39a3e4eb2" /><Relationship Type="http://schemas.openxmlformats.org/officeDocument/2006/relationships/slide" Target="/ppt/slides/slide30.xml" Id="R0d2155f962374a2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fd7fc17473d45e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2c33298eec34c5f" /><Relationship Type="http://schemas.openxmlformats.org/officeDocument/2006/relationships/notesMaster" Target="/ppt/notesMasters/notesMaster1.xml" Id="R0f8f704b0b72472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956952299cc4a69" /><Relationship Type="http://schemas.openxmlformats.org/officeDocument/2006/relationships/notesMaster" Target="/ppt/notesMasters/notesMaster1.xml" Id="R36b3ad260cc2453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86f7452341c4f3c" /><Relationship Type="http://schemas.openxmlformats.org/officeDocument/2006/relationships/notesMaster" Target="/ppt/notesMasters/notesMaster1.xml" Id="Rd012d9a445d9475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64c1cb952c544b4" /><Relationship Type="http://schemas.openxmlformats.org/officeDocument/2006/relationships/notesMaster" Target="/ppt/notesMasters/notesMaster1.xml" Id="Rf2ff48052f814d0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e33104e969d4cb8" /><Relationship Type="http://schemas.openxmlformats.org/officeDocument/2006/relationships/notesMaster" Target="/ppt/notesMasters/notesMaster1.xml" Id="Rb500f0c29cca4a4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e52bdc2872e4cc0" /><Relationship Type="http://schemas.openxmlformats.org/officeDocument/2006/relationships/notesMaster" Target="/ppt/notesMasters/notesMaster1.xml" Id="R6226c281a90e405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def64d6a4a6481c" /><Relationship Type="http://schemas.openxmlformats.org/officeDocument/2006/relationships/notesMaster" Target="/ppt/notesMasters/notesMaster1.xml" Id="Rf963fcdb8b984a3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ac47795bc2e42a5" /><Relationship Type="http://schemas.openxmlformats.org/officeDocument/2006/relationships/notesMaster" Target="/ppt/notesMasters/notesMaster1.xml" Id="R8659d114460b4cb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291997454514c7b" /><Relationship Type="http://schemas.openxmlformats.org/officeDocument/2006/relationships/notesMaster" Target="/ppt/notesMasters/notesMaster1.xml" Id="R1c63dc6b2f4940e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fea795eb11944bf" /><Relationship Type="http://schemas.openxmlformats.org/officeDocument/2006/relationships/notesMaster" Target="/ppt/notesMasters/notesMaster1.xml" Id="Ra1b83cecfab34a0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69c24881ffc4f85" /><Relationship Type="http://schemas.openxmlformats.org/officeDocument/2006/relationships/notesMaster" Target="/ppt/notesMasters/notesMaster1.xml" Id="R97e2add22395478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62e368eaa354304" /><Relationship Type="http://schemas.openxmlformats.org/officeDocument/2006/relationships/notesMaster" Target="/ppt/notesMasters/notesMaster1.xml" Id="R77e9a3401a64414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9af4a8e8b3f4a82" /><Relationship Type="http://schemas.openxmlformats.org/officeDocument/2006/relationships/notesMaster" Target="/ppt/notesMasters/notesMaster1.xml" Id="R7a59aa81bacf469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eaac256e30446f5" /><Relationship Type="http://schemas.openxmlformats.org/officeDocument/2006/relationships/notesMaster" Target="/ppt/notesMasters/notesMaster1.xml" Id="R983ffb5e2786458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07b9fdd5028484a" /><Relationship Type="http://schemas.openxmlformats.org/officeDocument/2006/relationships/notesMaster" Target="/ppt/notesMasters/notesMaster1.xml" Id="R4f9941db2d424a7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2770945c01e460b" /><Relationship Type="http://schemas.openxmlformats.org/officeDocument/2006/relationships/notesMaster" Target="/ppt/notesMasters/notesMaster1.xml" Id="R8dadcf52ea31499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7720c13cf1a49b2" /><Relationship Type="http://schemas.openxmlformats.org/officeDocument/2006/relationships/notesMaster" Target="/ppt/notesMasters/notesMaster1.xml" Id="R714b7ec0cc5a40b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04635017281470a" /><Relationship Type="http://schemas.openxmlformats.org/officeDocument/2006/relationships/notesMaster" Target="/ppt/notesMasters/notesMaster1.xml" Id="Ra9409cbad19c43d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a49d3829e16494c" /><Relationship Type="http://schemas.openxmlformats.org/officeDocument/2006/relationships/notesMaster" Target="/ppt/notesMasters/notesMaster1.xml" Id="Rf61950ad2f0f4e0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7a376722ecd44ba" /><Relationship Type="http://schemas.openxmlformats.org/officeDocument/2006/relationships/notesMaster" Target="/ppt/notesMasters/notesMaster1.xml" Id="R26ac8cfea8b44ce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4e25a67516444fa" /><Relationship Type="http://schemas.openxmlformats.org/officeDocument/2006/relationships/notesMaster" Target="/ppt/notesMasters/notesMaster1.xml" Id="R270a3118caf6478e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080710e750742bd" /><Relationship Type="http://schemas.openxmlformats.org/officeDocument/2006/relationships/notesMaster" Target="/ppt/notesMasters/notesMaster1.xml" Id="R0b99c7a5c93f48d7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f6a2ba9d57424d17" /><Relationship Type="http://schemas.openxmlformats.org/officeDocument/2006/relationships/notesMaster" Target="/ppt/notesMasters/notesMaster1.xml" Id="Re2d5e76bd0ee42b1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3f241f65a3354fd4" /><Relationship Type="http://schemas.openxmlformats.org/officeDocument/2006/relationships/notesMaster" Target="/ppt/notesMasters/notesMaster1.xml" Id="Rcec213e2c2fe4555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821f3dd668814a42" /><Relationship Type="http://schemas.openxmlformats.org/officeDocument/2006/relationships/notesMaster" Target="/ppt/notesMasters/notesMaster1.xml" Id="Rdf0ddda5af564ea7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6711acc9fccf445d" /><Relationship Type="http://schemas.openxmlformats.org/officeDocument/2006/relationships/notesMaster" Target="/ppt/notesMasters/notesMaster1.xml" Id="R90c1c4180707434a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ca667a68148e4894" /><Relationship Type="http://schemas.openxmlformats.org/officeDocument/2006/relationships/notesMaster" Target="/ppt/notesMasters/notesMaster1.xml" Id="R4544dc7977a74ea6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865f48b8a2ac4269" /><Relationship Type="http://schemas.openxmlformats.org/officeDocument/2006/relationships/notesMaster" Target="/ppt/notesMasters/notesMaster1.xml" Id="Recaee94b824f4015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7667bbff63b94aed" /><Relationship Type="http://schemas.openxmlformats.org/officeDocument/2006/relationships/notesMaster" Target="/ppt/notesMasters/notesMaster1.xml" Id="R402112e2ed1f4490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5649ebcf600a46ff" /><Relationship Type="http://schemas.openxmlformats.org/officeDocument/2006/relationships/notesMaster" Target="/ppt/notesMasters/notesMaster1.xml" Id="R5872cd2dcb62486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note: Interpret the findings using the underlying dataset.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crm_monthly.csv</a:t>
            </a:r>
          </a:p>
          <a:p xmlns:a="http://schemas.openxmlformats.org/drawingml/2006/main">
            <a:r>
              <a:t>- crm_rep_performance.csv</a:t>
            </a:r>
          </a:p>
          <a:p xmlns:a="http://schemas.openxmlformats.org/drawingml/2006/main">
            <a:r>
              <a:t>- crm_lead_sources.csv</a:t>
            </a:r>
          </a:p>
          <a:p xmlns:a="http://schemas.openxmlformats.org/drawingml/2006/main">
            <a:r>
              <a:t>- CRM Sales Analytics Power BI / Excel / Tableau project assets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note: Interpret the findings using the underlying dataset.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crm_monthly.csv</a:t>
            </a:r>
          </a:p>
          <a:p xmlns:a="http://schemas.openxmlformats.org/drawingml/2006/main">
            <a:r>
              <a:t>- crm_rep_performance.csv</a:t>
            </a:r>
          </a:p>
          <a:p xmlns:a="http://schemas.openxmlformats.org/drawingml/2006/main">
            <a:r>
              <a:t>- crm_lead_sources.csv</a:t>
            </a:r>
          </a:p>
          <a:p xmlns:a="http://schemas.openxmlformats.org/drawingml/2006/main">
            <a:r>
              <a:t>- CRM Sales Analytics Power BI / Excel / Tableau project assets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note: Interpret the findings using the underlying dataset.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crm_monthly.csv</a:t>
            </a:r>
          </a:p>
          <a:p xmlns:a="http://schemas.openxmlformats.org/drawingml/2006/main">
            <a:r>
              <a:t>- crm_rep_performance.csv</a:t>
            </a:r>
          </a:p>
          <a:p xmlns:a="http://schemas.openxmlformats.org/drawingml/2006/main">
            <a:r>
              <a:t>- crm_lead_sources.csv</a:t>
            </a:r>
          </a:p>
          <a:p xmlns:a="http://schemas.openxmlformats.org/drawingml/2006/main">
            <a:r>
              <a:t>- CRM Sales Analytics Power BI / Excel / Tableau project assets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note: Interpret the findings using the underlying dataset.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crm_monthly.csv</a:t>
            </a:r>
          </a:p>
          <a:p xmlns:a="http://schemas.openxmlformats.org/drawingml/2006/main">
            <a:r>
              <a:t>- crm_rep_performance.csv</a:t>
            </a:r>
          </a:p>
          <a:p xmlns:a="http://schemas.openxmlformats.org/drawingml/2006/main">
            <a:r>
              <a:t>- crm_lead_sources.csv</a:t>
            </a:r>
          </a:p>
          <a:p xmlns:a="http://schemas.openxmlformats.org/drawingml/2006/main">
            <a:r>
              <a:t>- CRM Sales Analytics Power BI / Excel / Tableau project assets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note: Interpret the findings using the underlying dataset.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crm_monthly.csv</a:t>
            </a:r>
          </a:p>
          <a:p xmlns:a="http://schemas.openxmlformats.org/drawingml/2006/main">
            <a:r>
              <a:t>- crm_rep_performance.csv</a:t>
            </a:r>
          </a:p>
          <a:p xmlns:a="http://schemas.openxmlformats.org/drawingml/2006/main">
            <a:r>
              <a:t>- crm_lead_sources.csv</a:t>
            </a:r>
          </a:p>
          <a:p xmlns:a="http://schemas.openxmlformats.org/drawingml/2006/main">
            <a:r>
              <a:t>- CRM Sales Analytics Power BI / Excel / Tableau project assets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note: Interpret the findings using the underlying dataset.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crm_monthly.csv</a:t>
            </a:r>
          </a:p>
          <a:p xmlns:a="http://schemas.openxmlformats.org/drawingml/2006/main">
            <a:r>
              <a:t>- crm_rep_performance.csv</a:t>
            </a:r>
          </a:p>
          <a:p xmlns:a="http://schemas.openxmlformats.org/drawingml/2006/main">
            <a:r>
              <a:t>- crm_lead_sources.csv</a:t>
            </a:r>
          </a:p>
          <a:p xmlns:a="http://schemas.openxmlformats.org/drawingml/2006/main">
            <a:r>
              <a:t>- CRM Sales Analytics Power BI / Excel / Tableau project assets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note: Interpret the findings using the underlying dataset.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crm_monthly.csv</a:t>
            </a:r>
          </a:p>
          <a:p xmlns:a="http://schemas.openxmlformats.org/drawingml/2006/main">
            <a:r>
              <a:t>- crm_rep_performance.csv</a:t>
            </a:r>
          </a:p>
          <a:p xmlns:a="http://schemas.openxmlformats.org/drawingml/2006/main">
            <a:r>
              <a:t>- crm_lead_sources.csv</a:t>
            </a:r>
          </a:p>
          <a:p xmlns:a="http://schemas.openxmlformats.org/drawingml/2006/main">
            <a:r>
              <a:t>- CRM Sales Analytics Power BI / Excel / Tableau project assets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note: Interpret the findings using the underlying dataset.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crm_monthly.csv</a:t>
            </a:r>
          </a:p>
          <a:p xmlns:a="http://schemas.openxmlformats.org/drawingml/2006/main">
            <a:r>
              <a:t>- crm_rep_performance.csv</a:t>
            </a:r>
          </a:p>
          <a:p xmlns:a="http://schemas.openxmlformats.org/drawingml/2006/main">
            <a:r>
              <a:t>- crm_lead_sources.csv</a:t>
            </a:r>
          </a:p>
          <a:p xmlns:a="http://schemas.openxmlformats.org/drawingml/2006/main">
            <a:r>
              <a:t>- CRM Sales Analytics Power BI / Excel / Tableau project assets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note: Interpret the findings using the underlying dataset.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crm_monthly.csv</a:t>
            </a:r>
          </a:p>
          <a:p xmlns:a="http://schemas.openxmlformats.org/drawingml/2006/main">
            <a:r>
              <a:t>- crm_rep_performance.csv</a:t>
            </a:r>
          </a:p>
          <a:p xmlns:a="http://schemas.openxmlformats.org/drawingml/2006/main">
            <a:r>
              <a:t>- crm_lead_sources.csv</a:t>
            </a:r>
          </a:p>
          <a:p xmlns:a="http://schemas.openxmlformats.org/drawingml/2006/main">
            <a:r>
              <a:t>- CRM Sales Analytics Power BI / Excel / Tableau project assets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note: Interpret the findings using the underlying dataset.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crm_monthly.csv</a:t>
            </a:r>
          </a:p>
          <a:p xmlns:a="http://schemas.openxmlformats.org/drawingml/2006/main">
            <a:r>
              <a:t>- crm_rep_performance.csv</a:t>
            </a:r>
          </a:p>
          <a:p xmlns:a="http://schemas.openxmlformats.org/drawingml/2006/main">
            <a:r>
              <a:t>- crm_lead_sources.csv</a:t>
            </a:r>
          </a:p>
          <a:p xmlns:a="http://schemas.openxmlformats.org/drawingml/2006/main">
            <a:r>
              <a:t>- CRM Sales Analytics Power BI / Excel / Tableau project assets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note: Interpret the findings using the underlying dataset.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crm_monthly.csv</a:t>
            </a:r>
          </a:p>
          <a:p xmlns:a="http://schemas.openxmlformats.org/drawingml/2006/main">
            <a:r>
              <a:t>- crm_rep_performance.csv</a:t>
            </a:r>
          </a:p>
          <a:p xmlns:a="http://schemas.openxmlformats.org/drawingml/2006/main">
            <a:r>
              <a:t>- crm_lead_sources.csv</a:t>
            </a:r>
          </a:p>
          <a:p xmlns:a="http://schemas.openxmlformats.org/drawingml/2006/main">
            <a:r>
              <a:t>- CRM Sales Analytics Power BI / Excel / Tableau project assets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note: Interpret the findings using the underlying dataset.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crm_monthly.csv</a:t>
            </a:r>
          </a:p>
          <a:p xmlns:a="http://schemas.openxmlformats.org/drawingml/2006/main">
            <a:r>
              <a:t>- crm_rep_performance.csv</a:t>
            </a:r>
          </a:p>
          <a:p xmlns:a="http://schemas.openxmlformats.org/drawingml/2006/main">
            <a:r>
              <a:t>- crm_lead_sources.csv</a:t>
            </a:r>
          </a:p>
          <a:p xmlns:a="http://schemas.openxmlformats.org/drawingml/2006/main">
            <a:r>
              <a:t>- CRM Sales Analytics Power BI / Excel / Tableau project assets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note: Interpret the findings using the underlying dataset.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crm_monthly.csv</a:t>
            </a:r>
          </a:p>
          <a:p xmlns:a="http://schemas.openxmlformats.org/drawingml/2006/main">
            <a:r>
              <a:t>- crm_rep_performance.csv</a:t>
            </a:r>
          </a:p>
          <a:p xmlns:a="http://schemas.openxmlformats.org/drawingml/2006/main">
            <a:r>
              <a:t>- crm_lead_sources.csv</a:t>
            </a:r>
          </a:p>
          <a:p xmlns:a="http://schemas.openxmlformats.org/drawingml/2006/main">
            <a:r>
              <a:t>- CRM Sales Analytics Power BI / Excel / Tableau project assets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note: Interpret the findings using the underlying dataset.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crm_monthly.csv</a:t>
            </a:r>
          </a:p>
          <a:p xmlns:a="http://schemas.openxmlformats.org/drawingml/2006/main">
            <a:r>
              <a:t>- crm_rep_performance.csv</a:t>
            </a:r>
          </a:p>
          <a:p xmlns:a="http://schemas.openxmlformats.org/drawingml/2006/main">
            <a:r>
              <a:t>- crm_lead_sources.csv</a:t>
            </a:r>
          </a:p>
          <a:p xmlns:a="http://schemas.openxmlformats.org/drawingml/2006/main">
            <a:r>
              <a:t>- CRM Sales Analytics Power BI / Excel / Tableau project assets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note: Interpret the findings using the underlying dataset.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crm_monthly.csv</a:t>
            </a:r>
          </a:p>
          <a:p xmlns:a="http://schemas.openxmlformats.org/drawingml/2006/main">
            <a:r>
              <a:t>- crm_rep_performance.csv</a:t>
            </a:r>
          </a:p>
          <a:p xmlns:a="http://schemas.openxmlformats.org/drawingml/2006/main">
            <a:r>
              <a:t>- crm_lead_sources.csv</a:t>
            </a:r>
          </a:p>
          <a:p xmlns:a="http://schemas.openxmlformats.org/drawingml/2006/main">
            <a:r>
              <a:t>- CRM Sales Analytics Power BI / Excel / Tableau project assets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note: Interpret the findings using the underlying dataset.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crm_monthly.csv</a:t>
            </a:r>
          </a:p>
          <a:p xmlns:a="http://schemas.openxmlformats.org/drawingml/2006/main">
            <a:r>
              <a:t>- crm_rep_performance.csv</a:t>
            </a:r>
          </a:p>
          <a:p xmlns:a="http://schemas.openxmlformats.org/drawingml/2006/main">
            <a:r>
              <a:t>- crm_lead_sources.csv</a:t>
            </a:r>
          </a:p>
          <a:p xmlns:a="http://schemas.openxmlformats.org/drawingml/2006/main">
            <a:r>
              <a:t>- CRM Sales Analytics Power BI / Excel / Tableau project assets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note: Interpret the findings using the underlying dataset.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crm_monthly.csv</a:t>
            </a:r>
          </a:p>
          <a:p xmlns:a="http://schemas.openxmlformats.org/drawingml/2006/main">
            <a:r>
              <a:t>- crm_rep_performance.csv</a:t>
            </a:r>
          </a:p>
          <a:p xmlns:a="http://schemas.openxmlformats.org/drawingml/2006/main">
            <a:r>
              <a:t>- crm_lead_sources.csv</a:t>
            </a:r>
          </a:p>
          <a:p xmlns:a="http://schemas.openxmlformats.org/drawingml/2006/main">
            <a:r>
              <a:t>- CRM Sales Analytics Power BI / Excel / Tableau project assets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note: Interpret the findings using the underlying dataset.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crm_monthly.csv</a:t>
            </a:r>
          </a:p>
          <a:p xmlns:a="http://schemas.openxmlformats.org/drawingml/2006/main">
            <a:r>
              <a:t>- crm_rep_performance.csv</a:t>
            </a:r>
          </a:p>
          <a:p xmlns:a="http://schemas.openxmlformats.org/drawingml/2006/main">
            <a:r>
              <a:t>- crm_lead_sources.csv</a:t>
            </a:r>
          </a:p>
          <a:p xmlns:a="http://schemas.openxmlformats.org/drawingml/2006/main">
            <a:r>
              <a:t>- CRM Sales Analytics Power BI / Excel / Tableau project assets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note: Interpret the findings using the underlying dataset.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crm_monthly.csv</a:t>
            </a:r>
          </a:p>
          <a:p xmlns:a="http://schemas.openxmlformats.org/drawingml/2006/main">
            <a:r>
              <a:t>- crm_rep_performance.csv</a:t>
            </a:r>
          </a:p>
          <a:p xmlns:a="http://schemas.openxmlformats.org/drawingml/2006/main">
            <a:r>
              <a:t>- crm_lead_sources.csv</a:t>
            </a:r>
          </a:p>
          <a:p xmlns:a="http://schemas.openxmlformats.org/drawingml/2006/main">
            <a:r>
              <a:t>- CRM Sales Analytics Power BI / Excel / Tableau project assets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note: Interpret the findings using the underlying dataset.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crm_monthly.csv</a:t>
            </a:r>
          </a:p>
          <a:p xmlns:a="http://schemas.openxmlformats.org/drawingml/2006/main">
            <a:r>
              <a:t>- crm_rep_performance.csv</a:t>
            </a:r>
          </a:p>
          <a:p xmlns:a="http://schemas.openxmlformats.org/drawingml/2006/main">
            <a:r>
              <a:t>- crm_lead_sources.csv</a:t>
            </a:r>
          </a:p>
          <a:p xmlns:a="http://schemas.openxmlformats.org/drawingml/2006/main">
            <a:r>
              <a:t>- CRM Sales Analytics Power BI / Excel / Tableau project assets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note: Interpret the findings using the underlying dataset.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crm_monthly.csv</a:t>
            </a:r>
          </a:p>
          <a:p xmlns:a="http://schemas.openxmlformats.org/drawingml/2006/main">
            <a:r>
              <a:t>- crm_rep_performance.csv</a:t>
            </a:r>
          </a:p>
          <a:p xmlns:a="http://schemas.openxmlformats.org/drawingml/2006/main">
            <a:r>
              <a:t>- crm_lead_sources.csv</a:t>
            </a:r>
          </a:p>
          <a:p xmlns:a="http://schemas.openxmlformats.org/drawingml/2006/main">
            <a:r>
              <a:t>- CRM Sales Analytics Power BI / Excel / Tableau project assets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note: Interpret the findings using the underlying dataset.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crm_monthly.csv</a:t>
            </a:r>
          </a:p>
          <a:p xmlns:a="http://schemas.openxmlformats.org/drawingml/2006/main">
            <a:r>
              <a:t>- crm_rep_performance.csv</a:t>
            </a:r>
          </a:p>
          <a:p xmlns:a="http://schemas.openxmlformats.org/drawingml/2006/main">
            <a:r>
              <a:t>- crm_lead_sources.csv</a:t>
            </a:r>
          </a:p>
          <a:p xmlns:a="http://schemas.openxmlformats.org/drawingml/2006/main">
            <a:r>
              <a:t>- CRM Sales Analytics Power BI / Excel / Tableau project assets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note: Interpret the findings using the underlying dataset.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crm_monthly.csv</a:t>
            </a:r>
          </a:p>
          <a:p xmlns:a="http://schemas.openxmlformats.org/drawingml/2006/main">
            <a:r>
              <a:t>- crm_rep_performance.csv</a:t>
            </a:r>
          </a:p>
          <a:p xmlns:a="http://schemas.openxmlformats.org/drawingml/2006/main">
            <a:r>
              <a:t>- crm_lead_sources.csv</a:t>
            </a:r>
          </a:p>
          <a:p xmlns:a="http://schemas.openxmlformats.org/drawingml/2006/main">
            <a:r>
              <a:t>- CRM Sales Analytics Power BI / Excel / Tableau project assets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note: Interpret the findings using the underlying dataset.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crm_monthly.csv</a:t>
            </a:r>
          </a:p>
          <a:p xmlns:a="http://schemas.openxmlformats.org/drawingml/2006/main">
            <a:r>
              <a:t>- crm_rep_performance.csv</a:t>
            </a:r>
          </a:p>
          <a:p xmlns:a="http://schemas.openxmlformats.org/drawingml/2006/main">
            <a:r>
              <a:t>- crm_lead_sources.csv</a:t>
            </a:r>
          </a:p>
          <a:p xmlns:a="http://schemas.openxmlformats.org/drawingml/2006/main">
            <a:r>
              <a:t>- CRM Sales Analytics Power BI / Excel / Tableau project assets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note: Interpret the findings using the underlying dataset.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crm_monthly.csv</a:t>
            </a:r>
          </a:p>
          <a:p xmlns:a="http://schemas.openxmlformats.org/drawingml/2006/main">
            <a:r>
              <a:t>- crm_rep_performance.csv</a:t>
            </a:r>
          </a:p>
          <a:p xmlns:a="http://schemas.openxmlformats.org/drawingml/2006/main">
            <a:r>
              <a:t>- crm_lead_sources.csv</a:t>
            </a:r>
          </a:p>
          <a:p xmlns:a="http://schemas.openxmlformats.org/drawingml/2006/main">
            <a:r>
              <a:t>- CRM Sales Analytics Power BI / Excel / Tableau project assets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note: Interpret the findings using the underlying dataset.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crm_monthly.csv</a:t>
            </a:r>
          </a:p>
          <a:p xmlns:a="http://schemas.openxmlformats.org/drawingml/2006/main">
            <a:r>
              <a:t>- crm_rep_performance.csv</a:t>
            </a:r>
          </a:p>
          <a:p xmlns:a="http://schemas.openxmlformats.org/drawingml/2006/main">
            <a:r>
              <a:t>- crm_lead_sources.csv</a:t>
            </a:r>
          </a:p>
          <a:p xmlns:a="http://schemas.openxmlformats.org/drawingml/2006/main">
            <a:r>
              <a:t>- CRM Sales Analytics Power BI / Excel / Tableau project assets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note: Interpret the findings using the underlying dataset.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crm_monthly.csv</a:t>
            </a:r>
          </a:p>
          <a:p xmlns:a="http://schemas.openxmlformats.org/drawingml/2006/main">
            <a:r>
              <a:t>- crm_rep_performance.csv</a:t>
            </a:r>
          </a:p>
          <a:p xmlns:a="http://schemas.openxmlformats.org/drawingml/2006/main">
            <a:r>
              <a:t>- crm_lead_sources.csv</a:t>
            </a:r>
          </a:p>
          <a:p xmlns:a="http://schemas.openxmlformats.org/drawingml/2006/main">
            <a:r>
              <a:t>- CRM Sales Analytics Power BI / Excel / Tableau project assets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note: Interpret the findings using the underlying dataset.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crm_monthly.csv</a:t>
            </a:r>
          </a:p>
          <a:p xmlns:a="http://schemas.openxmlformats.org/drawingml/2006/main">
            <a:r>
              <a:t>- crm_rep_performance.csv</a:t>
            </a:r>
          </a:p>
          <a:p xmlns:a="http://schemas.openxmlformats.org/drawingml/2006/main">
            <a:r>
              <a:t>- crm_lead_sources.csv</a:t>
            </a:r>
          </a:p>
          <a:p xmlns:a="http://schemas.openxmlformats.org/drawingml/2006/main">
            <a:r>
              <a:t>- CRM Sales Analytics Power BI / Excel / Tableau project assets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note: Interpret the findings using the underlying dataset.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crm_monthly.csv</a:t>
            </a:r>
          </a:p>
          <a:p xmlns:a="http://schemas.openxmlformats.org/drawingml/2006/main">
            <a:r>
              <a:t>- crm_rep_performance.csv</a:t>
            </a:r>
          </a:p>
          <a:p xmlns:a="http://schemas.openxmlformats.org/drawingml/2006/main">
            <a:r>
              <a:t>- crm_lead_sources.csv</a:t>
            </a:r>
          </a:p>
          <a:p xmlns:a="http://schemas.openxmlformats.org/drawingml/2006/main">
            <a:r>
              <a:t>- CRM Sales Analytics Power BI / Excel / Tableau project assets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note: Interpret the findings using the underlying dataset.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crm_monthly.csv</a:t>
            </a:r>
          </a:p>
          <a:p xmlns:a="http://schemas.openxmlformats.org/drawingml/2006/main">
            <a:r>
              <a:t>- crm_rep_performance.csv</a:t>
            </a:r>
          </a:p>
          <a:p xmlns:a="http://schemas.openxmlformats.org/drawingml/2006/main">
            <a:r>
              <a:t>- crm_lead_sources.csv</a:t>
            </a:r>
          </a:p>
          <a:p xmlns:a="http://schemas.openxmlformats.org/drawingml/2006/main">
            <a:r>
              <a:t>- CRM Sales Analytics Power BI / Excel / Tableau project assets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13f6895ed54fd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fd9e45f1a464255" /><Relationship Type="http://schemas.openxmlformats.org/officeDocument/2006/relationships/slideLayout" Target="/ppt/slideLayouts/slideLayout1.xml" Id="R75ea92ddb447489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5ea92ddb447489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7ae49fb9494c05" /><Relationship Type="http://schemas.openxmlformats.org/officeDocument/2006/relationships/image" Target="/ppt/media/image.png" Id="Rd455457f2b9f435e" /><Relationship Type="http://schemas.openxmlformats.org/officeDocument/2006/relationships/image" Target="/ppt/media/image2.png" Id="Rbb09b28972b441f3" /><Relationship Type="http://schemas.openxmlformats.org/officeDocument/2006/relationships/notesSlide" Target="/ppt/notesSlides/notesSlide1.xml" Id="Rbc2316fa3fda4d9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2701f896c14c5b" /><Relationship Type="http://schemas.openxmlformats.org/officeDocument/2006/relationships/notesSlide" Target="/ppt/notesSlides/notesSlide2.xml" Id="R297c23e05ad145e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d9094f4fa64ad2" /><Relationship Type="http://schemas.openxmlformats.org/officeDocument/2006/relationships/notesSlide" Target="/ppt/notesSlides/notesSlide3.xml" Id="R8cdccca6b6c548a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33246d301c4839" /><Relationship Type="http://schemas.openxmlformats.org/officeDocument/2006/relationships/notesSlide" Target="/ppt/notesSlides/notesSlide4.xml" Id="Rbee6bb5c195348f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11a0e7840f49a5" /><Relationship Type="http://schemas.openxmlformats.org/officeDocument/2006/relationships/notesSlide" Target="/ppt/notesSlides/notesSlide5.xml" Id="Rcb4a8a97c5b1418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a6584b1354437a" /><Relationship Type="http://schemas.openxmlformats.org/officeDocument/2006/relationships/notesSlide" Target="/ppt/notesSlides/notesSlide6.xml" Id="R8ce1066072f6486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42a86d657e4fd8" /><Relationship Type="http://schemas.openxmlformats.org/officeDocument/2006/relationships/notesSlide" Target="/ppt/notesSlides/notesSlide7.xml" Id="Rda2a9fd7a2f641e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804fbfc7324efa" /><Relationship Type="http://schemas.openxmlformats.org/officeDocument/2006/relationships/notesSlide" Target="/ppt/notesSlides/notesSlide8.xml" Id="Red3068d116f1486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55edaee4694bca" /><Relationship Type="http://schemas.openxmlformats.org/officeDocument/2006/relationships/image" Target="/ppt/media/image3.png" Id="R4671789f79f240a8" /><Relationship Type="http://schemas.openxmlformats.org/officeDocument/2006/relationships/image" Target="/ppt/media/image4.png" Id="R5747ca571e334ec1" /><Relationship Type="http://schemas.openxmlformats.org/officeDocument/2006/relationships/notesSlide" Target="/ppt/notesSlides/notesSlide9.xml" Id="R950a98450da541d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11bc61cbd24dfa" /><Relationship Type="http://schemas.openxmlformats.org/officeDocument/2006/relationships/chart" Target="/ppt/slides/charts/chart1.xml" Id="Rf4f47a5099e34ea5" /><Relationship Type="http://schemas.openxmlformats.org/officeDocument/2006/relationships/notesSlide" Target="/ppt/notesSlides/notesSlide10.xml" Id="Re5a837a642c94e4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1b656602b54517" /><Relationship Type="http://schemas.openxmlformats.org/officeDocument/2006/relationships/notesSlide" Target="/ppt/notesSlides/notesSlide11.xml" Id="R24cebd10492f44f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634b4144c34615" /><Relationship Type="http://schemas.openxmlformats.org/officeDocument/2006/relationships/notesSlide" Target="/ppt/notesSlides/notesSlide12.xml" Id="R2ba2c7d02800456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6bd8950a4f4724" /><Relationship Type="http://schemas.openxmlformats.org/officeDocument/2006/relationships/chart" Target="/ppt/slides/charts/chart2.xml" Id="R55d2d510746f4094" /><Relationship Type="http://schemas.openxmlformats.org/officeDocument/2006/relationships/notesSlide" Target="/ppt/notesSlides/notesSlide13.xml" Id="R5c70bd751c95454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d2c00ae0da4fe1" /><Relationship Type="http://schemas.openxmlformats.org/officeDocument/2006/relationships/chart" Target="/ppt/slides/charts/chart3.xml" Id="R01e7f0402ea542c4" /><Relationship Type="http://schemas.openxmlformats.org/officeDocument/2006/relationships/notesSlide" Target="/ppt/notesSlides/notesSlide14.xml" Id="R34e8e502b55d448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eef60507f74d1b" /><Relationship Type="http://schemas.openxmlformats.org/officeDocument/2006/relationships/chart" Target="/ppt/slides/charts/chart4.xml" Id="Rb2db7e9710014023" /><Relationship Type="http://schemas.openxmlformats.org/officeDocument/2006/relationships/notesSlide" Target="/ppt/notesSlides/notesSlide15.xml" Id="R4a0577d12010479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ee015abff54d13" /><Relationship Type="http://schemas.openxmlformats.org/officeDocument/2006/relationships/chart" Target="/ppt/slides/charts/chart5.xml" Id="R705c45b067b24bfa" /><Relationship Type="http://schemas.openxmlformats.org/officeDocument/2006/relationships/notesSlide" Target="/ppt/notesSlides/notesSlide16.xml" Id="Rd254d67470ed499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8cf45cf92d405b" /><Relationship Type="http://schemas.openxmlformats.org/officeDocument/2006/relationships/chart" Target="/ppt/slides/charts/chart6.xml" Id="Rb20c83e30b294f4f" /><Relationship Type="http://schemas.openxmlformats.org/officeDocument/2006/relationships/notesSlide" Target="/ppt/notesSlides/notesSlide17.xml" Id="R16a2f71ead6d418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2f476020eb47b7" /><Relationship Type="http://schemas.openxmlformats.org/officeDocument/2006/relationships/chart" Target="/ppt/slides/charts/chart7.xml" Id="R54cc29a9e3b94da0" /><Relationship Type="http://schemas.openxmlformats.org/officeDocument/2006/relationships/notesSlide" Target="/ppt/notesSlides/notesSlide18.xml" Id="R93e9d2ff8bd6401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4449d6b99c4ded" /><Relationship Type="http://schemas.openxmlformats.org/officeDocument/2006/relationships/chart" Target="/ppt/slides/charts/chart8.xml" Id="Re6c0c7de1a714749" /><Relationship Type="http://schemas.openxmlformats.org/officeDocument/2006/relationships/notesSlide" Target="/ppt/notesSlides/notesSlide19.xml" Id="R88cd09d0316b4fb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bf5d419fe14604" /><Relationship Type="http://schemas.openxmlformats.org/officeDocument/2006/relationships/chart" Target="/ppt/slides/charts/chart9.xml" Id="Rb5267a584ed842e6" /><Relationship Type="http://schemas.openxmlformats.org/officeDocument/2006/relationships/notesSlide" Target="/ppt/notesSlides/notesSlide20.xml" Id="Rc6af62af27a149c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17d01221454ba5" /><Relationship Type="http://schemas.openxmlformats.org/officeDocument/2006/relationships/chart" Target="/ppt/slides/charts/chart10.xml" Id="R64430113b6f14343" /><Relationship Type="http://schemas.openxmlformats.org/officeDocument/2006/relationships/notesSlide" Target="/ppt/notesSlides/notesSlide21.xml" Id="R6b0f484c8fe54259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174a52837d4325" /><Relationship Type="http://schemas.openxmlformats.org/officeDocument/2006/relationships/chart" Target="/ppt/slides/charts/chart11.xml" Id="R574a96a61ca8449c" /><Relationship Type="http://schemas.openxmlformats.org/officeDocument/2006/relationships/notesSlide" Target="/ppt/notesSlides/notesSlide22.xml" Id="R5ebd958e4a4d45c2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9637767aca461a" /><Relationship Type="http://schemas.openxmlformats.org/officeDocument/2006/relationships/chart" Target="/ppt/slides/charts/chart12.xml" Id="R36d7d0e24d77406b" /><Relationship Type="http://schemas.openxmlformats.org/officeDocument/2006/relationships/notesSlide" Target="/ppt/notesSlides/notesSlide23.xml" Id="Rcf034d4300024400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ee44b13c95450d" /><Relationship Type="http://schemas.openxmlformats.org/officeDocument/2006/relationships/notesSlide" Target="/ppt/notesSlides/notesSlide24.xml" Id="Re358f729fb6e4ecf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3b9f1f7b2c405c" /><Relationship Type="http://schemas.openxmlformats.org/officeDocument/2006/relationships/chart" Target="/ppt/slides/charts/chart13.xml" Id="R63d7fb0a5eda4211" /><Relationship Type="http://schemas.openxmlformats.org/officeDocument/2006/relationships/notesSlide" Target="/ppt/notesSlides/notesSlide25.xml" Id="R5da01815114b46b3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a888bf59fd45ab" /><Relationship Type="http://schemas.openxmlformats.org/officeDocument/2006/relationships/chart" Target="/ppt/slides/charts/chart14.xml" Id="R777e4d9067b149c2" /><Relationship Type="http://schemas.openxmlformats.org/officeDocument/2006/relationships/chart" Target="/ppt/slides/charts/chart15.xml" Id="R99cc227eb3c44765" /><Relationship Type="http://schemas.openxmlformats.org/officeDocument/2006/relationships/notesSlide" Target="/ppt/notesSlides/notesSlide26.xml" Id="R29e2120254ac44a4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e79e2bb95c464c" /><Relationship Type="http://schemas.openxmlformats.org/officeDocument/2006/relationships/chart" Target="/ppt/slides/charts/chart16.xml" Id="R86173421eeff448d" /><Relationship Type="http://schemas.openxmlformats.org/officeDocument/2006/relationships/chart" Target="/ppt/slides/charts/chart17.xml" Id="Rb4a493a554bc4b94" /><Relationship Type="http://schemas.openxmlformats.org/officeDocument/2006/relationships/notesSlide" Target="/ppt/notesSlides/notesSlide27.xml" Id="R658c1f5a2e42478c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2159dd678749f8" /><Relationship Type="http://schemas.openxmlformats.org/officeDocument/2006/relationships/notesSlide" Target="/ppt/notesSlides/notesSlide28.xml" Id="Rc8df486c10b04c22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9e0a053e774bbc" /><Relationship Type="http://schemas.openxmlformats.org/officeDocument/2006/relationships/notesSlide" Target="/ppt/notesSlides/notesSlide29.xml" Id="R017988160bd1475c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572875389240c3" /><Relationship Type="http://schemas.openxmlformats.org/officeDocument/2006/relationships/image" Target="/ppt/media/image5.png" Id="Rb1aa762e174a4047" /><Relationship Type="http://schemas.openxmlformats.org/officeDocument/2006/relationships/image" Target="/ppt/media/image6.png" Id="R7b8d661e48094dad" /><Relationship Type="http://schemas.openxmlformats.org/officeDocument/2006/relationships/notesSlide" Target="/ppt/notesSlides/notesSlide30.xml" Id="Rdafdef3a8b9e47bc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Revenue (TL M)</c:v>
          </c:tx>
          <c:spPr>
            <a:ln xmlns:a="http://schemas.openxmlformats.org/drawingml/2006/main" w="38100">
              <a:solidFill>
                <a:srgbClr val="39D98A"/>
              </a:solidFill>
              <a:prstDash val="solid"/>
            </a:ln>
          </c:spPr>
          <c:marker>
            <c:symbol val="none"/>
            <c:size val="6"/>
          </c:marker>
          <c:cat>
            <c:strLit>
              <c:ptCount val="36"/>
              <c:pt idx="0">
                <c:v>Jan 24</c:v>
              </c:pt>
              <c:pt idx="1">
                <c:v>Feb 24</c:v>
              </c:pt>
              <c:pt idx="2">
                <c:v>Mar 24</c:v>
              </c:pt>
              <c:pt idx="3">
                <c:v>Apr 24</c:v>
              </c:pt>
              <c:pt idx="4">
                <c:v>May 24</c:v>
              </c:pt>
              <c:pt idx="5">
                <c:v>Jun 24</c:v>
              </c:pt>
              <c:pt idx="6">
                <c:v>Jul 24</c:v>
              </c:pt>
              <c:pt idx="7">
                <c:v>Aug 24</c:v>
              </c:pt>
              <c:pt idx="8">
                <c:v>Sep 24</c:v>
              </c:pt>
              <c:pt idx="9">
                <c:v>Oct 24</c:v>
              </c:pt>
              <c:pt idx="10">
                <c:v>Nov 24</c:v>
              </c:pt>
              <c:pt idx="11">
                <c:v>Dec 24</c:v>
              </c:pt>
              <c:pt idx="12">
                <c:v>Jan 25</c:v>
              </c:pt>
              <c:pt idx="13">
                <c:v>Feb 25</c:v>
              </c:pt>
              <c:pt idx="14">
                <c:v>Mar 25</c:v>
              </c:pt>
              <c:pt idx="15">
                <c:v>Apr 25</c:v>
              </c:pt>
              <c:pt idx="16">
                <c:v>May 25</c:v>
              </c:pt>
              <c:pt idx="17">
                <c:v>Jun 25</c:v>
              </c:pt>
              <c:pt idx="18">
                <c:v>Jul 25</c:v>
              </c:pt>
              <c:pt idx="19">
                <c:v>Aug 25</c:v>
              </c:pt>
              <c:pt idx="20">
                <c:v>Sep 25</c:v>
              </c:pt>
              <c:pt idx="21">
                <c:v>Oct 25</c:v>
              </c:pt>
              <c:pt idx="22">
                <c:v>Nov 25</c:v>
              </c:pt>
              <c:pt idx="23">
                <c:v>Dec 25</c:v>
              </c:pt>
              <c:pt idx="24">
                <c:v>Jan 26</c:v>
              </c:pt>
              <c:pt idx="25">
                <c:v>Feb 26</c:v>
              </c:pt>
              <c:pt idx="26">
                <c:v>Mar 26</c:v>
              </c:pt>
              <c:pt idx="27">
                <c:v>Apr 26</c:v>
              </c:pt>
              <c:pt idx="28">
                <c:v>May 26</c:v>
              </c:pt>
              <c:pt idx="29">
                <c:v>Jun 26</c:v>
              </c:pt>
              <c:pt idx="30">
                <c:v>Jul 26</c:v>
              </c:pt>
              <c:pt idx="31">
                <c:v>Aug 26</c:v>
              </c:pt>
              <c:pt idx="32">
                <c:v>Sep 26</c:v>
              </c:pt>
              <c:pt idx="33">
                <c:v>Oct 26</c:v>
              </c:pt>
              <c:pt idx="34">
                <c:v>Nov 26</c:v>
              </c:pt>
              <c:pt idx="35">
                <c:v>Dec 26</c:v>
              </c:pt>
            </c:strLit>
          </c:cat>
          <c:val>
            <c:numLit>
              <c:formatCode>0.0</c:formatCode>
              <c:ptCount val="36"/>
              <c:pt idx="0">
                <c:v>1.5555</c:v>
              </c:pt>
              <c:pt idx="1">
                <c:v>1.6926</c:v>
              </c:pt>
              <c:pt idx="2">
                <c:v>1.746</c:v>
              </c:pt>
              <c:pt idx="3">
                <c:v>1.78</c:v>
              </c:pt>
              <c:pt idx="4">
                <c:v>1.9008</c:v>
              </c:pt>
              <c:pt idx="5">
                <c:v>1.8096</c:v>
              </c:pt>
              <c:pt idx="6">
                <c:v>1.6008</c:v>
              </c:pt>
              <c:pt idx="7">
                <c:v>1.6182</c:v>
              </c:pt>
              <c:pt idx="8">
                <c:v>1.8025</c:v>
              </c:pt>
              <c:pt idx="9">
                <c:v>1.8231</c:v>
              </c:pt>
              <c:pt idx="10">
                <c:v>1.8079</c:v>
              </c:pt>
              <c:pt idx="11">
                <c:v>1.9005</c:v>
              </c:pt>
              <c:pt idx="12">
                <c:v>1.764</c:v>
              </c:pt>
              <c:pt idx="13">
                <c:v>1.7248</c:v>
              </c:pt>
              <c:pt idx="14">
                <c:v>1.755</c:v>
              </c:pt>
              <c:pt idx="15">
                <c:v>1.8721</c:v>
              </c:pt>
              <c:pt idx="16">
                <c:v>1.9482</c:v>
              </c:pt>
              <c:pt idx="17">
                <c:v>1.7766</c:v>
              </c:pt>
              <c:pt idx="18">
                <c:v>1.6643</c:v>
              </c:pt>
              <c:pt idx="19">
                <c:v>1.8139</c:v>
              </c:pt>
              <c:pt idx="20">
                <c:v>1.9928</c:v>
              </c:pt>
              <c:pt idx="21">
                <c:v>2.0412</c:v>
              </c:pt>
              <c:pt idx="22">
                <c:v>2.2272</c:v>
              </c:pt>
              <c:pt idx="23">
                <c:v>2.4444</c:v>
              </c:pt>
              <c:pt idx="24">
                <c:v>2.1527</c:v>
              </c:pt>
              <c:pt idx="25">
                <c:v>2.1736</c:v>
              </c:pt>
              <c:pt idx="26">
                <c:v>2.3826</c:v>
              </c:pt>
              <c:pt idx="27">
                <c:v>2.4752</c:v>
              </c:pt>
              <c:pt idx="28">
                <c:v>2.4102</c:v>
              </c:pt>
              <c:pt idx="29">
                <c:v>2.2127</c:v>
              </c:pt>
              <c:pt idx="30">
                <c:v>2.121</c:v>
              </c:pt>
              <c:pt idx="31">
                <c:v>2.1306</c:v>
              </c:pt>
              <c:pt idx="32">
                <c:v>2.211</c:v>
              </c:pt>
              <c:pt idx="33">
                <c:v>2.3432</c:v>
              </c:pt>
              <c:pt idx="34">
                <c:v>2.5296</c:v>
              </c:pt>
              <c:pt idx="35">
                <c:v>2.6574</c:v>
              </c:pt>
            </c:numLit>
          </c:val>
        </c:ser>
        <c:ser>
          <c:idx val="1"/>
          <c:order val="1"/>
          <c:tx>
            <c:v>Target (TL M)</c:v>
          </c:tx>
          <c:spPr>
            <a:ln xmlns:a="http://schemas.openxmlformats.org/drawingml/2006/main" w="28575">
              <a:solidFill>
                <a:srgbClr val="FFB547"/>
              </a:solidFill>
              <a:prstDash val="solid"/>
            </a:ln>
          </c:spPr>
          <c:marker>
            <c:symbol val="none"/>
            <c:size val="6"/>
          </c:marker>
          <c:cat>
            <c:strLit>
              <c:ptCount val="36"/>
              <c:pt idx="0">
                <c:v>Jan 24</c:v>
              </c:pt>
              <c:pt idx="1">
                <c:v>Feb 24</c:v>
              </c:pt>
              <c:pt idx="2">
                <c:v>Mar 24</c:v>
              </c:pt>
              <c:pt idx="3">
                <c:v>Apr 24</c:v>
              </c:pt>
              <c:pt idx="4">
                <c:v>May 24</c:v>
              </c:pt>
              <c:pt idx="5">
                <c:v>Jun 24</c:v>
              </c:pt>
              <c:pt idx="6">
                <c:v>Jul 24</c:v>
              </c:pt>
              <c:pt idx="7">
                <c:v>Aug 24</c:v>
              </c:pt>
              <c:pt idx="8">
                <c:v>Sep 24</c:v>
              </c:pt>
              <c:pt idx="9">
                <c:v>Oct 24</c:v>
              </c:pt>
              <c:pt idx="10">
                <c:v>Nov 24</c:v>
              </c:pt>
              <c:pt idx="11">
                <c:v>Dec 24</c:v>
              </c:pt>
              <c:pt idx="12">
                <c:v>Jan 25</c:v>
              </c:pt>
              <c:pt idx="13">
                <c:v>Feb 25</c:v>
              </c:pt>
              <c:pt idx="14">
                <c:v>Mar 25</c:v>
              </c:pt>
              <c:pt idx="15">
                <c:v>Apr 25</c:v>
              </c:pt>
              <c:pt idx="16">
                <c:v>May 25</c:v>
              </c:pt>
              <c:pt idx="17">
                <c:v>Jun 25</c:v>
              </c:pt>
              <c:pt idx="18">
                <c:v>Jul 25</c:v>
              </c:pt>
              <c:pt idx="19">
                <c:v>Aug 25</c:v>
              </c:pt>
              <c:pt idx="20">
                <c:v>Sep 25</c:v>
              </c:pt>
              <c:pt idx="21">
                <c:v>Oct 25</c:v>
              </c:pt>
              <c:pt idx="22">
                <c:v>Nov 25</c:v>
              </c:pt>
              <c:pt idx="23">
                <c:v>Dec 25</c:v>
              </c:pt>
              <c:pt idx="24">
                <c:v>Jan 26</c:v>
              </c:pt>
              <c:pt idx="25">
                <c:v>Feb 26</c:v>
              </c:pt>
              <c:pt idx="26">
                <c:v>Mar 26</c:v>
              </c:pt>
              <c:pt idx="27">
                <c:v>Apr 26</c:v>
              </c:pt>
              <c:pt idx="28">
                <c:v>May 26</c:v>
              </c:pt>
              <c:pt idx="29">
                <c:v>Jun 26</c:v>
              </c:pt>
              <c:pt idx="30">
                <c:v>Jul 26</c:v>
              </c:pt>
              <c:pt idx="31">
                <c:v>Aug 26</c:v>
              </c:pt>
              <c:pt idx="32">
                <c:v>Sep 26</c:v>
              </c:pt>
              <c:pt idx="33">
                <c:v>Oct 26</c:v>
              </c:pt>
              <c:pt idx="34">
                <c:v>Nov 26</c:v>
              </c:pt>
              <c:pt idx="35">
                <c:v>Dec 26</c:v>
              </c:pt>
            </c:strLit>
          </c:cat>
          <c:val>
            <c:numLit>
              <c:formatCode>0.0</c:formatCode>
              <c:ptCount val="36"/>
              <c:pt idx="0">
                <c:v>1.585</c:v>
              </c:pt>
              <c:pt idx="1">
                <c:v>1.629</c:v>
              </c:pt>
              <c:pt idx="2">
                <c:v>1.713</c:v>
              </c:pt>
              <c:pt idx="3">
                <c:v>1.762</c:v>
              </c:pt>
              <c:pt idx="4">
                <c:v>1.792</c:v>
              </c:pt>
              <c:pt idx="5">
                <c:v>1.689</c:v>
              </c:pt>
              <c:pt idx="6">
                <c:v>1.59</c:v>
              </c:pt>
              <c:pt idx="7">
                <c:v>1.624</c:v>
              </c:pt>
              <c:pt idx="8">
                <c:v>1.765</c:v>
              </c:pt>
              <c:pt idx="9">
                <c:v>1.87</c:v>
              </c:pt>
              <c:pt idx="10">
                <c:v>1.959</c:v>
              </c:pt>
              <c:pt idx="11">
                <c:v>2.067</c:v>
              </c:pt>
              <c:pt idx="12">
                <c:v>1.901</c:v>
              </c:pt>
              <c:pt idx="13">
                <c:v>1.963</c:v>
              </c:pt>
              <c:pt idx="14">
                <c:v>2.078</c:v>
              </c:pt>
              <c:pt idx="15">
                <c:v>2.14</c:v>
              </c:pt>
              <c:pt idx="16">
                <c:v>2.179</c:v>
              </c:pt>
              <c:pt idx="17">
                <c:v>2.055</c:v>
              </c:pt>
              <c:pt idx="18">
                <c:v>1.914</c:v>
              </c:pt>
              <c:pt idx="19">
                <c:v>1.953</c:v>
              </c:pt>
              <c:pt idx="20">
                <c:v>2.124</c:v>
              </c:pt>
              <c:pt idx="21">
                <c:v>2.237</c:v>
              </c:pt>
              <c:pt idx="22">
                <c:v>2.353</c:v>
              </c:pt>
              <c:pt idx="23">
                <c:v>2.482</c:v>
              </c:pt>
              <c:pt idx="24">
                <c:v>2.245</c:v>
              </c:pt>
              <c:pt idx="25">
                <c:v>2.319</c:v>
              </c:pt>
              <c:pt idx="26">
                <c:v>2.467</c:v>
              </c:pt>
              <c:pt idx="27">
                <c:v>2.553</c:v>
              </c:pt>
              <c:pt idx="28">
                <c:v>2.602</c:v>
              </c:pt>
              <c:pt idx="29">
                <c:v>2.444</c:v>
              </c:pt>
              <c:pt idx="30">
                <c:v>2.288</c:v>
              </c:pt>
              <c:pt idx="31">
                <c:v>2.326</c:v>
              </c:pt>
              <c:pt idx="32">
                <c:v>2.515</c:v>
              </c:pt>
              <c:pt idx="33">
                <c:v>2.646</c:v>
              </c:pt>
              <c:pt idx="34">
                <c:v>2.769</c:v>
              </c:pt>
              <c:pt idx="35">
                <c:v>2.917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53A5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1A7BE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253A52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253A5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1A7BE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07111F"/>
        </a:solidFill>
        <a:ln xmlns:a="http://schemas.openxmlformats.org/drawingml/2006/main" w="0">
          <a:solidFill>
            <a:srgbClr val="07111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91A7BE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07111F"/>
    </a:solidFill>
    <a:ln xmlns:a="http://schemas.openxmlformats.org/drawingml/2006/main" w="0">
      <a:solidFill>
        <a:srgbClr val="07111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Actual</c:v>
          </c:tx>
          <c:spPr>
            <a:ln xmlns:a="http://schemas.openxmlformats.org/drawingml/2006/main" w="38100">
              <a:solidFill>
                <a:srgbClr val="24C7D9"/>
              </a:solidFill>
              <a:prstDash val="solid"/>
            </a:ln>
          </c:spPr>
          <c:marker>
            <c:symbol val="none"/>
            <c:size val="6"/>
          </c:marker>
          <c:cat>
            <c:strLit>
              <c:ptCount val="12"/>
              <c:pt idx="0">
                <c:v>Jan</c:v>
              </c:pt>
              <c:pt idx="1">
                <c:v>Feb</c:v>
              </c:pt>
              <c:pt idx="2">
                <c:v>Mar</c:v>
              </c:pt>
              <c:pt idx="3">
                <c:v>Apr</c:v>
              </c:pt>
              <c:pt idx="4">
                <c:v>May</c:v>
              </c:pt>
              <c:pt idx="5">
                <c:v>Jun</c:v>
              </c:pt>
              <c:pt idx="6">
                <c:v>Jul</c:v>
              </c:pt>
              <c:pt idx="7">
                <c:v>Aug</c:v>
              </c:pt>
              <c:pt idx="8">
                <c:v>Sep</c:v>
              </c:pt>
              <c:pt idx="9">
                <c:v>Oct</c:v>
              </c:pt>
              <c:pt idx="10">
                <c:v>Nov</c:v>
              </c:pt>
              <c:pt idx="11">
                <c:v>Dec</c:v>
              </c:pt>
            </c:strLit>
          </c:cat>
          <c:val>
            <c:numLit>
              <c:formatCode>0</c:formatCode>
              <c:ptCount val="12"/>
              <c:pt idx="0">
                <c:v>1333</c:v>
              </c:pt>
              <c:pt idx="1">
                <c:v>1338</c:v>
              </c:pt>
              <c:pt idx="2">
                <c:v>1471</c:v>
              </c:pt>
              <c:pt idx="3">
                <c:v>1557</c:v>
              </c:pt>
              <c:pt idx="4">
                <c:v>1548</c:v>
              </c:pt>
              <c:pt idx="5">
                <c:v>1461</c:v>
              </c:pt>
              <c:pt idx="6">
                <c:v>1430</c:v>
              </c:pt>
              <c:pt idx="7">
                <c:v>1459</c:v>
              </c:pt>
              <c:pt idx="8">
                <c:v>1519</c:v>
              </c:pt>
              <c:pt idx="9">
                <c:v>1608</c:v>
              </c:pt>
              <c:pt idx="10">
                <c:v>1719</c:v>
              </c:pt>
              <c:pt idx="11">
                <c:v>1763</c:v>
              </c:pt>
            </c:numLit>
          </c:val>
        </c:ser>
        <c:ser>
          <c:idx val="1"/>
          <c:order val="1"/>
          <c:tx>
            <c:v>Target</c:v>
          </c:tx>
          <c:spPr>
            <a:ln xmlns:a="http://schemas.openxmlformats.org/drawingml/2006/main" w="28575">
              <a:solidFill>
                <a:srgbClr val="FFB547"/>
              </a:solidFill>
              <a:prstDash val="solid"/>
            </a:ln>
          </c:spPr>
          <c:marker>
            <c:symbol val="none"/>
            <c:size val="6"/>
          </c:marker>
          <c:cat>
            <c:strLit>
              <c:ptCount val="12"/>
              <c:pt idx="0">
                <c:v>Jan</c:v>
              </c:pt>
              <c:pt idx="1">
                <c:v>Feb</c:v>
              </c:pt>
              <c:pt idx="2">
                <c:v>Mar</c:v>
              </c:pt>
              <c:pt idx="3">
                <c:v>Apr</c:v>
              </c:pt>
              <c:pt idx="4">
                <c:v>May</c:v>
              </c:pt>
              <c:pt idx="5">
                <c:v>Jun</c:v>
              </c:pt>
              <c:pt idx="6">
                <c:v>Jul</c:v>
              </c:pt>
              <c:pt idx="7">
                <c:v>Aug</c:v>
              </c:pt>
              <c:pt idx="8">
                <c:v>Sep</c:v>
              </c:pt>
              <c:pt idx="9">
                <c:v>Oct</c:v>
              </c:pt>
              <c:pt idx="10">
                <c:v>Nov</c:v>
              </c:pt>
              <c:pt idx="11">
                <c:v>Dec</c:v>
              </c:pt>
            </c:strLit>
          </c:cat>
          <c:val>
            <c:numLit>
              <c:formatCode>0</c:formatCode>
              <c:ptCount val="12"/>
              <c:pt idx="0">
                <c:v>1377</c:v>
              </c:pt>
              <c:pt idx="1">
                <c:v>1422</c:v>
              </c:pt>
              <c:pt idx="2">
                <c:v>1513</c:v>
              </c:pt>
              <c:pt idx="3">
                <c:v>1573</c:v>
              </c:pt>
              <c:pt idx="4">
                <c:v>1619</c:v>
              </c:pt>
              <c:pt idx="5">
                <c:v>1543</c:v>
              </c:pt>
              <c:pt idx="6">
                <c:v>1452</c:v>
              </c:pt>
              <c:pt idx="7">
                <c:v>1483</c:v>
              </c:pt>
              <c:pt idx="8">
                <c:v>1604</c:v>
              </c:pt>
              <c:pt idx="9">
                <c:v>1679</c:v>
              </c:pt>
              <c:pt idx="10">
                <c:v>1740</c:v>
              </c:pt>
              <c:pt idx="11">
                <c:v>1815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53A5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1A7BE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253A52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253A5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1A7BE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07111F"/>
        </a:solidFill>
        <a:ln xmlns:a="http://schemas.openxmlformats.org/drawingml/2006/main" w="0">
          <a:solidFill>
            <a:srgbClr val="07111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91A7BE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07111F"/>
    </a:solidFill>
    <a:ln xmlns:a="http://schemas.openxmlformats.org/drawingml/2006/main" w="0">
      <a:solidFill>
        <a:srgbClr val="07111F"/>
      </a:solidFill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Qualification %</c:v>
          </c:tx>
          <c:spPr>
            <a:ln xmlns:a="http://schemas.openxmlformats.org/drawingml/2006/main" w="38100">
              <a:solidFill>
                <a:srgbClr val="24C7D9"/>
              </a:solidFill>
              <a:prstDash val="solid"/>
            </a:ln>
          </c:spPr>
          <c:marker>
            <c:symbol val="none"/>
            <c:size val="6"/>
          </c:marker>
          <c:cat>
            <c:strLit>
              <c:ptCount val="36"/>
              <c:pt idx="0">
                <c:v>Jan 24</c:v>
              </c:pt>
              <c:pt idx="1">
                <c:v>Feb 24</c:v>
              </c:pt>
              <c:pt idx="2">
                <c:v>Mar 24</c:v>
              </c:pt>
              <c:pt idx="3">
                <c:v>Apr 24</c:v>
              </c:pt>
              <c:pt idx="4">
                <c:v>May 24</c:v>
              </c:pt>
              <c:pt idx="5">
                <c:v>Jun 24</c:v>
              </c:pt>
              <c:pt idx="6">
                <c:v>Jul 24</c:v>
              </c:pt>
              <c:pt idx="7">
                <c:v>Aug 24</c:v>
              </c:pt>
              <c:pt idx="8">
                <c:v>Sep 24</c:v>
              </c:pt>
              <c:pt idx="9">
                <c:v>Oct 24</c:v>
              </c:pt>
              <c:pt idx="10">
                <c:v>Nov 24</c:v>
              </c:pt>
              <c:pt idx="11">
                <c:v>Dec 24</c:v>
              </c:pt>
              <c:pt idx="12">
                <c:v>Jan 25</c:v>
              </c:pt>
              <c:pt idx="13">
                <c:v>Feb 25</c:v>
              </c:pt>
              <c:pt idx="14">
                <c:v>Mar 25</c:v>
              </c:pt>
              <c:pt idx="15">
                <c:v>Apr 25</c:v>
              </c:pt>
              <c:pt idx="16">
                <c:v>May 25</c:v>
              </c:pt>
              <c:pt idx="17">
                <c:v>Jun 25</c:v>
              </c:pt>
              <c:pt idx="18">
                <c:v>Jul 25</c:v>
              </c:pt>
              <c:pt idx="19">
                <c:v>Aug 25</c:v>
              </c:pt>
              <c:pt idx="20">
                <c:v>Sep 25</c:v>
              </c:pt>
              <c:pt idx="21">
                <c:v>Oct 25</c:v>
              </c:pt>
              <c:pt idx="22">
                <c:v>Nov 25</c:v>
              </c:pt>
              <c:pt idx="23">
                <c:v>Dec 25</c:v>
              </c:pt>
              <c:pt idx="24">
                <c:v>Jan 26</c:v>
              </c:pt>
              <c:pt idx="25">
                <c:v>Feb 26</c:v>
              </c:pt>
              <c:pt idx="26">
                <c:v>Mar 26</c:v>
              </c:pt>
              <c:pt idx="27">
                <c:v>Apr 26</c:v>
              </c:pt>
              <c:pt idx="28">
                <c:v>May 26</c:v>
              </c:pt>
              <c:pt idx="29">
                <c:v>Jun 26</c:v>
              </c:pt>
              <c:pt idx="30">
                <c:v>Jul 26</c:v>
              </c:pt>
              <c:pt idx="31">
                <c:v>Aug 26</c:v>
              </c:pt>
              <c:pt idx="32">
                <c:v>Sep 26</c:v>
              </c:pt>
              <c:pt idx="33">
                <c:v>Oct 26</c:v>
              </c:pt>
              <c:pt idx="34">
                <c:v>Nov 26</c:v>
              </c:pt>
              <c:pt idx="35">
                <c:v>Dec 26</c:v>
              </c:pt>
            </c:strLit>
          </c:cat>
          <c:val>
            <c:numLit>
              <c:formatCode>0.0</c:formatCode>
              <c:ptCount val="36"/>
              <c:pt idx="0">
                <c:v>52.97951582867783</c:v>
              </c:pt>
              <c:pt idx="1">
                <c:v>53.792502179598955</c:v>
              </c:pt>
              <c:pt idx="2">
                <c:v>54.52991452991453</c:v>
              </c:pt>
              <c:pt idx="3">
                <c:v>55.11744966442953</c:v>
              </c:pt>
              <c:pt idx="4">
                <c:v>55.42544886807181</c:v>
              </c:pt>
              <c:pt idx="5">
                <c:v>55.51053484602917</c:v>
              </c:pt>
              <c:pt idx="6">
                <c:v>55.24412296564195</c:v>
              </c:pt>
              <c:pt idx="7">
                <c:v>54.81023830538394</c:v>
              </c:pt>
              <c:pt idx="8">
                <c:v>54.16991426344505</c:v>
              </c:pt>
              <c:pt idx="9">
                <c:v>53.35849056603773</c:v>
              </c:pt>
              <c:pt idx="10">
                <c:v>52.5</c:v>
              </c:pt>
              <c:pt idx="11">
                <c:v>51.77304964539007</c:v>
              </c:pt>
              <c:pt idx="12">
                <c:v>51.08783239323127</c:v>
              </c:pt>
              <c:pt idx="13">
                <c:v>50.64620355411955</c:v>
              </c:pt>
              <c:pt idx="14">
                <c:v>50.505836575875485</c:v>
              </c:pt>
              <c:pt idx="15">
                <c:v>50.57636887608069</c:v>
              </c:pt>
              <c:pt idx="16">
                <c:v>50.966850828729285</c:v>
              </c:pt>
              <c:pt idx="17">
                <c:v>51.58371040723983</c:v>
              </c:pt>
              <c:pt idx="18">
                <c:v>52.296535052377116</c:v>
              </c:pt>
              <c:pt idx="19">
                <c:v>53.132075471698116</c:v>
              </c:pt>
              <c:pt idx="20">
                <c:v>53.90570021111893</c:v>
              </c:pt>
              <c:pt idx="21">
                <c:v>54.608938547486034</c:v>
              </c:pt>
              <c:pt idx="22">
                <c:v>55.13585155732274</c:v>
              </c:pt>
              <c:pt idx="23">
                <c:v>55.45286506469501</c:v>
              </c:pt>
              <c:pt idx="24">
                <c:v>55.43885971492873</c:v>
              </c:pt>
              <c:pt idx="25">
                <c:v>55.231689088191324</c:v>
              </c:pt>
              <c:pt idx="26">
                <c:v>54.72467709041469</c:v>
              </c:pt>
              <c:pt idx="27">
                <c:v>54.01412973667309</c:v>
              </c:pt>
              <c:pt idx="28">
                <c:v>53.229974160206716</c:v>
              </c:pt>
              <c:pt idx="29">
                <c:v>52.42984257357974</c:v>
              </c:pt>
              <c:pt idx="30">
                <c:v>51.608391608391614</c:v>
              </c:pt>
              <c:pt idx="31">
                <c:v>51.06237148732008</c:v>
              </c:pt>
              <c:pt idx="32">
                <c:v>50.625411454904544</c:v>
              </c:pt>
              <c:pt idx="33">
                <c:v>50.49751243781094</c:v>
              </c:pt>
              <c:pt idx="34">
                <c:v>50.668993600930776</c:v>
              </c:pt>
              <c:pt idx="35">
                <c:v>51.04934770277936</c:v>
              </c:pt>
            </c:numLit>
          </c:val>
        </c:ser>
        <c:ser>
          <c:idx val="1"/>
          <c:order val="1"/>
          <c:tx>
            <c:v>Opportunity Conversion %</c:v>
          </c:tx>
          <c:spPr>
            <a:ln xmlns:a="http://schemas.openxmlformats.org/drawingml/2006/main" w="28575">
              <a:solidFill>
                <a:srgbClr val="A78BFA"/>
              </a:solidFill>
              <a:prstDash val="solid"/>
            </a:ln>
          </c:spPr>
          <c:marker>
            <c:symbol val="none"/>
            <c:size val="6"/>
          </c:marker>
          <c:cat>
            <c:strLit>
              <c:ptCount val="36"/>
              <c:pt idx="0">
                <c:v>Jan 24</c:v>
              </c:pt>
              <c:pt idx="1">
                <c:v>Feb 24</c:v>
              </c:pt>
              <c:pt idx="2">
                <c:v>Mar 24</c:v>
              </c:pt>
              <c:pt idx="3">
                <c:v>Apr 24</c:v>
              </c:pt>
              <c:pt idx="4">
                <c:v>May 24</c:v>
              </c:pt>
              <c:pt idx="5">
                <c:v>Jun 24</c:v>
              </c:pt>
              <c:pt idx="6">
                <c:v>Jul 24</c:v>
              </c:pt>
              <c:pt idx="7">
                <c:v>Aug 24</c:v>
              </c:pt>
              <c:pt idx="8">
                <c:v>Sep 24</c:v>
              </c:pt>
              <c:pt idx="9">
                <c:v>Oct 24</c:v>
              </c:pt>
              <c:pt idx="10">
                <c:v>Nov 24</c:v>
              </c:pt>
              <c:pt idx="11">
                <c:v>Dec 24</c:v>
              </c:pt>
              <c:pt idx="12">
                <c:v>Jan 25</c:v>
              </c:pt>
              <c:pt idx="13">
                <c:v>Feb 25</c:v>
              </c:pt>
              <c:pt idx="14">
                <c:v>Mar 25</c:v>
              </c:pt>
              <c:pt idx="15">
                <c:v>Apr 25</c:v>
              </c:pt>
              <c:pt idx="16">
                <c:v>May 25</c:v>
              </c:pt>
              <c:pt idx="17">
                <c:v>Jun 25</c:v>
              </c:pt>
              <c:pt idx="18">
                <c:v>Jul 25</c:v>
              </c:pt>
              <c:pt idx="19">
                <c:v>Aug 25</c:v>
              </c:pt>
              <c:pt idx="20">
                <c:v>Sep 25</c:v>
              </c:pt>
              <c:pt idx="21">
                <c:v>Oct 25</c:v>
              </c:pt>
              <c:pt idx="22">
                <c:v>Nov 25</c:v>
              </c:pt>
              <c:pt idx="23">
                <c:v>Dec 25</c:v>
              </c:pt>
              <c:pt idx="24">
                <c:v>Jan 26</c:v>
              </c:pt>
              <c:pt idx="25">
                <c:v>Feb 26</c:v>
              </c:pt>
              <c:pt idx="26">
                <c:v>Mar 26</c:v>
              </c:pt>
              <c:pt idx="27">
                <c:v>Apr 26</c:v>
              </c:pt>
              <c:pt idx="28">
                <c:v>May 26</c:v>
              </c:pt>
              <c:pt idx="29">
                <c:v>Jun 26</c:v>
              </c:pt>
              <c:pt idx="30">
                <c:v>Jul 26</c:v>
              </c:pt>
              <c:pt idx="31">
                <c:v>Aug 26</c:v>
              </c:pt>
              <c:pt idx="32">
                <c:v>Sep 26</c:v>
              </c:pt>
              <c:pt idx="33">
                <c:v>Oct 26</c:v>
              </c:pt>
              <c:pt idx="34">
                <c:v>Nov 26</c:v>
              </c:pt>
              <c:pt idx="35">
                <c:v>Dec 26</c:v>
              </c:pt>
            </c:strLit>
          </c:cat>
          <c:val>
            <c:numLit>
              <c:formatCode>0.0</c:formatCode>
              <c:ptCount val="36"/>
              <c:pt idx="0">
                <c:v>47.97891036906854</c:v>
              </c:pt>
              <c:pt idx="1">
                <c:v>47.9740680713128</c:v>
              </c:pt>
              <c:pt idx="2">
                <c:v>47.80564263322884</c:v>
              </c:pt>
              <c:pt idx="3">
                <c:v>47.48858447488584</c:v>
              </c:pt>
              <c:pt idx="4">
                <c:v>47.04225352112676</c:v>
              </c:pt>
              <c:pt idx="5">
                <c:v>46.56934306569343</c:v>
              </c:pt>
              <c:pt idx="6">
                <c:v>46.15384615384615</c:v>
              </c:pt>
              <c:pt idx="7">
                <c:v>45.571658615136876</c:v>
              </c:pt>
              <c:pt idx="8">
                <c:v>45.17985611510792</c:v>
              </c:pt>
              <c:pt idx="9">
                <c:v>44.6958981612447</c:v>
              </c:pt>
              <c:pt idx="10">
                <c:v>44.44444444444444</c:v>
              </c:pt>
              <c:pt idx="11">
                <c:v>44.109589041095894</c:v>
              </c:pt>
              <c:pt idx="12">
                <c:v>44.00630914826498</c:v>
              </c:pt>
              <c:pt idx="13">
                <c:v>44.01913875598086</c:v>
              </c:pt>
              <c:pt idx="14">
                <c:v>44.06779661016949</c:v>
              </c:pt>
              <c:pt idx="15">
                <c:v>44.3019943019943</c:v>
              </c:pt>
              <c:pt idx="16">
                <c:v>44.71544715447154</c:v>
              </c:pt>
              <c:pt idx="17">
                <c:v>45.17543859649123</c:v>
              </c:pt>
              <c:pt idx="18">
                <c:v>45.60862865947612</c:v>
              </c:pt>
              <c:pt idx="19">
                <c:v>46.02272727272727</c:v>
              </c:pt>
              <c:pt idx="20">
                <c:v>46.60574412532637</c:v>
              </c:pt>
              <c:pt idx="21">
                <c:v>47.05882352941176</c:v>
              </c:pt>
              <c:pt idx="22">
                <c:v>47.47596153846153</c:v>
              </c:pt>
              <c:pt idx="23">
                <c:v>47.77777777777778</c:v>
              </c:pt>
              <c:pt idx="24">
                <c:v>47.902571041948576</c:v>
              </c:pt>
              <c:pt idx="25">
                <c:v>48.03788903924222</c:v>
              </c:pt>
              <c:pt idx="26">
                <c:v>47.95031055900621</c:v>
              </c:pt>
              <c:pt idx="27">
                <c:v>47.80023781212842</c:v>
              </c:pt>
              <c:pt idx="28">
                <c:v>47.45145631067961</c:v>
              </c:pt>
              <c:pt idx="29">
                <c:v>47.127937336814625</c:v>
              </c:pt>
              <c:pt idx="30">
                <c:v>46.7479674796748</c:v>
              </c:pt>
              <c:pt idx="31">
                <c:v>46.1744966442953</c:v>
              </c:pt>
              <c:pt idx="32">
                <c:v>45.77373211963589</c:v>
              </c:pt>
              <c:pt idx="33">
                <c:v>45.19704433497537</c:v>
              </c:pt>
              <c:pt idx="34">
                <c:v>44.776119402985074</c:v>
              </c:pt>
              <c:pt idx="35">
                <c:v>44.44444444444444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53A5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1A7BE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60"/>
          <c:min val="35"/>
        </c:scaling>
        <c:delete val="0"/>
        <c:axPos val="l"/>
        <c:majorGridlines>
          <c:spPr>
            <a:ln xmlns:a="http://schemas.openxmlformats.org/drawingml/2006/main" w="9525">
              <a:solidFill>
                <a:srgbClr val="253A52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253A5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1A7BE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07111F"/>
        </a:solidFill>
        <a:ln xmlns:a="http://schemas.openxmlformats.org/drawingml/2006/main" w="0">
          <a:solidFill>
            <a:srgbClr val="07111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91A7BE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07111F"/>
    </a:solidFill>
    <a:ln xmlns:a="http://schemas.openxmlformats.org/drawingml/2006/main" w="0">
      <a:solidFill>
        <a:srgbClr val="07111F"/>
      </a:solidFill>
      <a:prstDash val="solid"/>
    </a:ln>
  </c:spPr>
</c:chartSpace>
</file>

<file path=ppt/slides/charts/chart4.xml><?xml version="1.0" encoding="utf-8"?>
<c:chartSpace xmlns:c="http://schemas.openxmlformats.org/drawingml/2006/chart">
  <c:lang val="en-US"/>
  <c:chart>
    <c:plotArea>
      <c:doughnutChart>
        <c:ser>
          <c:idx val="0"/>
          <c:order val="0"/>
          <c:tx>
            <c:v>Share</c:v>
          </c:tx>
          <c:dPt>
            <c:idx val="0"/>
            <c:spPr>
              <a:solidFill xmlns:a="http://schemas.openxmlformats.org/drawingml/2006/main">
                <a:srgbClr val="24C7D9"/>
              </a:solidFill>
            </c:spPr>
          </c:dPt>
          <c:dPt>
            <c:idx val="1"/>
            <c:spPr>
              <a:solidFill xmlns:a="http://schemas.openxmlformats.org/drawingml/2006/main">
                <a:srgbClr val="4F7CFF"/>
              </a:solidFill>
            </c:spPr>
          </c:dPt>
          <c:dPt>
            <c:idx val="2"/>
            <c:spPr>
              <a:solidFill xmlns:a="http://schemas.openxmlformats.org/drawingml/2006/main">
                <a:srgbClr val="39D98A"/>
              </a:solidFill>
            </c:spPr>
          </c:dPt>
          <c:dPt>
            <c:idx val="3"/>
            <c:spPr>
              <a:solidFill xmlns:a="http://schemas.openxmlformats.org/drawingml/2006/main">
                <a:srgbClr val="A78BFA"/>
              </a:solidFill>
            </c:spPr>
          </c:dPt>
          <c:dPt>
            <c:idx val="4"/>
            <c:spPr>
              <a:solidFill xmlns:a="http://schemas.openxmlformats.org/drawingml/2006/main">
                <a:srgbClr val="FFB547"/>
              </a:solidFill>
            </c:spPr>
          </c:dPt>
          <c:cat>
            <c:strLit>
              <c:ptCount val="5"/>
              <c:pt idx="0">
                <c:v>Organic Search</c:v>
              </c:pt>
              <c:pt idx="1">
                <c:v>Paid Ads</c:v>
              </c:pt>
              <c:pt idx="2">
                <c:v>Referral</c:v>
              </c:pt>
              <c:pt idx="3">
                <c:v>Outbound</c:v>
              </c:pt>
              <c:pt idx="4">
                <c:v>Events</c:v>
              </c:pt>
            </c:strLit>
          </c:cat>
          <c:val>
            <c:numLit>
              <c:formatCode>General</c:formatCode>
              <c:ptCount val="5"/>
              <c:pt idx="0">
                <c:v>5272</c:v>
              </c:pt>
              <c:pt idx="1">
                <c:v>4535</c:v>
              </c:pt>
              <c:pt idx="2">
                <c:v>3267</c:v>
              </c:pt>
              <c:pt idx="3">
                <c:v>2558</c:v>
              </c:pt>
              <c:pt idx="4">
                <c:v>2552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EAF2FF"/>
                  </a:solidFill>
                </a:defRPr>
              </a:pPr>
            </a:p>
          </c:txPr>
          <c:dLblPos val="outEnd"/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firstSliceAng val="270"/>
        <c:holeSize val="62"/>
      </c:doughnutChart>
      <c:spPr>
        <a:solidFill xmlns:a="http://schemas.openxmlformats.org/drawingml/2006/main">
          <a:srgbClr val="07111F"/>
        </a:solidFill>
        <a:ln xmlns:a="http://schemas.openxmlformats.org/drawingml/2006/main" w="0">
          <a:solidFill>
            <a:srgbClr val="07111F"/>
          </a:solidFill>
          <a:prstDash val="solid"/>
        </a:ln>
      </c:spPr>
    </c:plotArea>
    <c:legend>
      <c:legendPos val="r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91A7BE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07111F"/>
    </a:solidFill>
    <a:ln xmlns:a="http://schemas.openxmlformats.org/drawingml/2006/main" w="0">
      <a:solidFill>
        <a:srgbClr val="07111F"/>
      </a:solidFill>
      <a:prstDash val="solid"/>
    </a:ln>
  </c:spPr>
</c:chartSpace>
</file>

<file path=ppt/slides/charts/chart5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Qualification %</c:v>
          </c:tx>
          <c:spPr>
            <a:solidFill xmlns:a="http://schemas.openxmlformats.org/drawingml/2006/main">
              <a:srgbClr val="39D98A"/>
            </a:solidFill>
          </c:spPr>
          <c:cat>
            <c:strLit>
              <c:ptCount val="5"/>
              <c:pt idx="0">
                <c:v>Referral</c:v>
              </c:pt>
              <c:pt idx="1">
                <c:v>Organic</c:v>
              </c:pt>
              <c:pt idx="2">
                <c:v>Events</c:v>
              </c:pt>
              <c:pt idx="3">
                <c:v>Paid Ads</c:v>
              </c:pt>
              <c:pt idx="4">
                <c:v>Outbd.</c:v>
              </c:pt>
            </c:strLit>
          </c:cat>
          <c:val>
            <c:numLit>
              <c:formatCode>0.0</c:formatCode>
              <c:ptCount val="5"/>
              <c:pt idx="0">
                <c:v>67.03397612488521</c:v>
              </c:pt>
              <c:pt idx="1">
                <c:v>60.982549317147196</c:v>
              </c:pt>
              <c:pt idx="2">
                <c:v>55.01567398119123</c:v>
              </c:pt>
              <c:pt idx="3">
                <c:v>48.026460859977945</c:v>
              </c:pt>
              <c:pt idx="4">
                <c:v>38.97576231430806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EAF2F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253A52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253A5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1A7BE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0.0"/>
        <c:majorTickMark val="none"/>
        <c:minorTickMark val="none"/>
        <c:spPr>
          <a:ln xmlns:a="http://schemas.openxmlformats.org/drawingml/2006/main" w="9525">
            <a:solidFill>
              <a:srgbClr val="253A5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1A7BE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07111F"/>
        </a:solidFill>
        <a:ln xmlns:a="http://schemas.openxmlformats.org/drawingml/2006/main" w="0">
          <a:solidFill>
            <a:srgbClr val="07111F"/>
          </a:solidFill>
          <a:prstDash val="solid"/>
        </a:ln>
      </c:spPr>
    </c:plotArea>
    <c:plotVisOnly val="1"/>
  </c:chart>
  <c:spPr>
    <a:solidFill xmlns:a="http://schemas.openxmlformats.org/drawingml/2006/main">
      <a:srgbClr val="07111F"/>
    </a:solidFill>
    <a:ln xmlns:a="http://schemas.openxmlformats.org/drawingml/2006/main" w="0">
      <a:solidFill>
        <a:srgbClr val="07111F"/>
      </a:solidFill>
      <a:prstDash val="solid"/>
    </a:ln>
  </c:spPr>
</c:chartSpace>
</file>

<file path=ppt/slides/charts/chart6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Spend (TL K)</c:v>
          </c:tx>
          <c:spPr>
            <a:solidFill xmlns:a="http://schemas.openxmlformats.org/drawingml/2006/main">
              <a:srgbClr val="FFB547"/>
            </a:solidFill>
          </c:spPr>
          <c:cat>
            <c:strLit>
              <c:ptCount val="5"/>
              <c:pt idx="0">
                <c:v>Paid Ads</c:v>
              </c:pt>
              <c:pt idx="1">
                <c:v>Events</c:v>
              </c:pt>
              <c:pt idx="2">
                <c:v>Outbound</c:v>
              </c:pt>
              <c:pt idx="3">
                <c:v>Organic</c:v>
              </c:pt>
              <c:pt idx="4">
                <c:v>Referral</c:v>
              </c:pt>
            </c:strLit>
          </c:cat>
          <c:val>
            <c:numLit>
              <c:formatCode>0</c:formatCode>
              <c:ptCount val="5"/>
              <c:pt idx="0">
                <c:v>300.851</c:v>
              </c:pt>
              <c:pt idx="1">
                <c:v>202.068</c:v>
              </c:pt>
              <c:pt idx="2">
                <c:v>112.221</c:v>
              </c:pt>
              <c:pt idx="3">
                <c:v>101.539</c:v>
              </c:pt>
              <c:pt idx="4">
                <c:v>41.948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EAF2F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253A52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253A5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1A7BE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253A5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1A7BE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07111F"/>
        </a:solidFill>
        <a:ln xmlns:a="http://schemas.openxmlformats.org/drawingml/2006/main" w="0">
          <a:solidFill>
            <a:srgbClr val="07111F"/>
          </a:solidFill>
          <a:prstDash val="solid"/>
        </a:ln>
      </c:spPr>
    </c:plotArea>
    <c:plotVisOnly val="1"/>
  </c:chart>
  <c:spPr>
    <a:solidFill xmlns:a="http://schemas.openxmlformats.org/drawingml/2006/main">
      <a:srgbClr val="07111F"/>
    </a:solidFill>
    <a:ln xmlns:a="http://schemas.openxmlformats.org/drawingml/2006/main" w="0">
      <a:solidFill>
        <a:srgbClr val="07111F"/>
      </a:solidFill>
      <a:prstDash val="solid"/>
    </a:ln>
  </c:spPr>
</c:chartSpace>
</file>

<file path=ppt/slides/charts/chart7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December 2026</c:v>
          </c:tx>
          <c:spPr>
            <a:solidFill xmlns:a="http://schemas.openxmlformats.org/drawingml/2006/main">
              <a:srgbClr val="24C7D9"/>
            </a:solidFill>
          </c:spPr>
          <c:cat>
            <c:strLit>
              <c:ptCount val="4"/>
              <c:pt idx="0">
                <c:v>New Leads</c:v>
              </c:pt>
              <c:pt idx="1">
                <c:v>Qualified</c:v>
              </c:pt>
              <c:pt idx="2">
                <c:v>Opportunities</c:v>
              </c:pt>
              <c:pt idx="3">
                <c:v>Won Deals</c:v>
              </c:pt>
            </c:strLit>
          </c:cat>
          <c:val>
            <c:numLit>
              <c:formatCode>0</c:formatCode>
              <c:ptCount val="4"/>
              <c:pt idx="0">
                <c:v>1763</c:v>
              </c:pt>
              <c:pt idx="1">
                <c:v>900</c:v>
              </c:pt>
              <c:pt idx="2">
                <c:v>400</c:v>
              </c:pt>
              <c:pt idx="3">
                <c:v>129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EAF2F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253A52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253A5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1A7BE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253A5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1A7BE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07111F"/>
        </a:solidFill>
        <a:ln xmlns:a="http://schemas.openxmlformats.org/drawingml/2006/main" w="0">
          <a:solidFill>
            <a:srgbClr val="07111F"/>
          </a:solidFill>
          <a:prstDash val="solid"/>
        </a:ln>
      </c:spPr>
    </c:plotArea>
    <c:plotVisOnly val="1"/>
  </c:chart>
  <c:spPr>
    <a:solidFill xmlns:a="http://schemas.openxmlformats.org/drawingml/2006/main">
      <a:srgbClr val="07111F"/>
    </a:solidFill>
    <a:ln xmlns:a="http://schemas.openxmlformats.org/drawingml/2006/main" w="0">
      <a:solidFill>
        <a:srgbClr val="07111F"/>
      </a:solidFill>
      <a:prstDash val="solid"/>
    </a:ln>
  </c:spPr>
</c:chartSpace>
</file>

<file path=ppt/slides/charts/chart8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Win Rate %</c:v>
          </c:tx>
          <c:spPr>
            <a:ln xmlns:a="http://schemas.openxmlformats.org/drawingml/2006/main" w="38100">
              <a:solidFill>
                <a:srgbClr val="39D98A"/>
              </a:solidFill>
              <a:prstDash val="solid"/>
            </a:ln>
          </c:spPr>
          <c:marker>
            <c:symbol val="none"/>
            <c:size val="6"/>
          </c:marker>
          <c:cat>
            <c:strLit>
              <c:ptCount val="36"/>
              <c:pt idx="0">
                <c:v>Jan 24</c:v>
              </c:pt>
              <c:pt idx="1">
                <c:v>Feb 24</c:v>
              </c:pt>
              <c:pt idx="2">
                <c:v>Mar 24</c:v>
              </c:pt>
              <c:pt idx="3">
                <c:v>Apr 24</c:v>
              </c:pt>
              <c:pt idx="4">
                <c:v>May 24</c:v>
              </c:pt>
              <c:pt idx="5">
                <c:v>Jun 24</c:v>
              </c:pt>
              <c:pt idx="6">
                <c:v>Jul 24</c:v>
              </c:pt>
              <c:pt idx="7">
                <c:v>Aug 24</c:v>
              </c:pt>
              <c:pt idx="8">
                <c:v>Sep 24</c:v>
              </c:pt>
              <c:pt idx="9">
                <c:v>Oct 24</c:v>
              </c:pt>
              <c:pt idx="10">
                <c:v>Nov 24</c:v>
              </c:pt>
              <c:pt idx="11">
                <c:v>Dec 24</c:v>
              </c:pt>
              <c:pt idx="12">
                <c:v>Jan 25</c:v>
              </c:pt>
              <c:pt idx="13">
                <c:v>Feb 25</c:v>
              </c:pt>
              <c:pt idx="14">
                <c:v>Mar 25</c:v>
              </c:pt>
              <c:pt idx="15">
                <c:v>Apr 25</c:v>
              </c:pt>
              <c:pt idx="16">
                <c:v>May 25</c:v>
              </c:pt>
              <c:pt idx="17">
                <c:v>Jun 25</c:v>
              </c:pt>
              <c:pt idx="18">
                <c:v>Jul 25</c:v>
              </c:pt>
              <c:pt idx="19">
                <c:v>Aug 25</c:v>
              </c:pt>
              <c:pt idx="20">
                <c:v>Sep 25</c:v>
              </c:pt>
              <c:pt idx="21">
                <c:v>Oct 25</c:v>
              </c:pt>
              <c:pt idx="22">
                <c:v>Nov 25</c:v>
              </c:pt>
              <c:pt idx="23">
                <c:v>Dec 25</c:v>
              </c:pt>
              <c:pt idx="24">
                <c:v>Jan 26</c:v>
              </c:pt>
              <c:pt idx="25">
                <c:v>Feb 26</c:v>
              </c:pt>
              <c:pt idx="26">
                <c:v>Mar 26</c:v>
              </c:pt>
              <c:pt idx="27">
                <c:v>Apr 26</c:v>
              </c:pt>
              <c:pt idx="28">
                <c:v>May 26</c:v>
              </c:pt>
              <c:pt idx="29">
                <c:v>Jun 26</c:v>
              </c:pt>
              <c:pt idx="30">
                <c:v>Jul 26</c:v>
              </c:pt>
              <c:pt idx="31">
                <c:v>Aug 26</c:v>
              </c:pt>
              <c:pt idx="32">
                <c:v>Sep 26</c:v>
              </c:pt>
              <c:pt idx="33">
                <c:v>Oct 26</c:v>
              </c:pt>
              <c:pt idx="34">
                <c:v>Nov 26</c:v>
              </c:pt>
              <c:pt idx="35">
                <c:v>Dec 26</c:v>
              </c:pt>
            </c:strLit>
          </c:cat>
          <c:val>
            <c:numLit>
              <c:formatCode>0.0</c:formatCode>
              <c:ptCount val="36"/>
              <c:pt idx="0">
                <c:v>31.135531135531135</c:v>
              </c:pt>
              <c:pt idx="1">
                <c:v>31.41891891891892</c:v>
              </c:pt>
              <c:pt idx="2">
                <c:v>31.80327868852459</c:v>
              </c:pt>
              <c:pt idx="3">
                <c:v>32.05128205128205</c:v>
              </c:pt>
              <c:pt idx="4">
                <c:v>32.33532934131736</c:v>
              </c:pt>
              <c:pt idx="5">
                <c:v>32.60188087774294</c:v>
              </c:pt>
              <c:pt idx="6">
                <c:v>32.62411347517731</c:v>
              </c:pt>
              <c:pt idx="7">
                <c:v>32.86219081272085</c:v>
              </c:pt>
              <c:pt idx="8">
                <c:v>32.802547770700635</c:v>
              </c:pt>
              <c:pt idx="9">
                <c:v>32.594936708860764</c:v>
              </c:pt>
              <c:pt idx="10">
                <c:v>32.7922077922078</c:v>
              </c:pt>
              <c:pt idx="11">
                <c:v>32.608695652173914</c:v>
              </c:pt>
              <c:pt idx="12">
                <c:v>32.25806451612903</c:v>
              </c:pt>
              <c:pt idx="13">
                <c:v>31.88405797101449</c:v>
              </c:pt>
              <c:pt idx="14">
                <c:v>31.46853146853147</c:v>
              </c:pt>
              <c:pt idx="15">
                <c:v>31.189710610932476</c:v>
              </c:pt>
              <c:pt idx="16">
                <c:v>30.909090909090907</c:v>
              </c:pt>
              <c:pt idx="17">
                <c:v>30.42071197411003</c:v>
              </c:pt>
              <c:pt idx="18">
                <c:v>30.067567567567565</c:v>
              </c:pt>
              <c:pt idx="19">
                <c:v>29.938271604938272</c:v>
              </c:pt>
              <c:pt idx="20">
                <c:v>29.69187675070028</c:v>
              </c:pt>
              <c:pt idx="21">
                <c:v>29.347826086956523</c:v>
              </c:pt>
              <c:pt idx="22">
                <c:v>29.367088607594937</c:v>
              </c:pt>
              <c:pt idx="23">
                <c:v>29.30232558139535</c:v>
              </c:pt>
              <c:pt idx="24">
                <c:v>29.09604519774011</c:v>
              </c:pt>
              <c:pt idx="25">
                <c:v>29.295774647887324</c:v>
              </c:pt>
              <c:pt idx="26">
                <c:v>29.533678756476682</c:v>
              </c:pt>
              <c:pt idx="27">
                <c:v>29.601990049751244</c:v>
              </c:pt>
              <c:pt idx="28">
                <c:v>29.923273657289002</c:v>
              </c:pt>
              <c:pt idx="29">
                <c:v>30.193905817174517</c:v>
              </c:pt>
              <c:pt idx="30">
                <c:v>30.434782608695656</c:v>
              </c:pt>
              <c:pt idx="31">
                <c:v>30.813953488372093</c:v>
              </c:pt>
              <c:pt idx="32">
                <c:v>31.25</c:v>
              </c:pt>
              <c:pt idx="33">
                <c:v>31.607629427792915</c:v>
              </c:pt>
              <c:pt idx="34">
                <c:v>31.794871794871792</c:v>
              </c:pt>
              <c:pt idx="35">
                <c:v>32.25</c:v>
              </c:pt>
            </c:numLit>
          </c:val>
        </c:ser>
        <c:ser>
          <c:idx val="1"/>
          <c:order val="1"/>
          <c:tx>
            <c:v>32% benchmark</c:v>
          </c:tx>
          <c:spPr>
            <a:ln xmlns:a="http://schemas.openxmlformats.org/drawingml/2006/main" w="19050">
              <a:solidFill>
                <a:srgbClr val="FFB547"/>
              </a:solidFill>
              <a:prstDash val="dash"/>
            </a:ln>
          </c:spPr>
          <c:marker>
            <c:symbol val="none"/>
            <c:size val="6"/>
          </c:marker>
          <c:cat>
            <c:strLit>
              <c:ptCount val="36"/>
              <c:pt idx="0">
                <c:v>Jan 24</c:v>
              </c:pt>
              <c:pt idx="1">
                <c:v>Feb 24</c:v>
              </c:pt>
              <c:pt idx="2">
                <c:v>Mar 24</c:v>
              </c:pt>
              <c:pt idx="3">
                <c:v>Apr 24</c:v>
              </c:pt>
              <c:pt idx="4">
                <c:v>May 24</c:v>
              </c:pt>
              <c:pt idx="5">
                <c:v>Jun 24</c:v>
              </c:pt>
              <c:pt idx="6">
                <c:v>Jul 24</c:v>
              </c:pt>
              <c:pt idx="7">
                <c:v>Aug 24</c:v>
              </c:pt>
              <c:pt idx="8">
                <c:v>Sep 24</c:v>
              </c:pt>
              <c:pt idx="9">
                <c:v>Oct 24</c:v>
              </c:pt>
              <c:pt idx="10">
                <c:v>Nov 24</c:v>
              </c:pt>
              <c:pt idx="11">
                <c:v>Dec 24</c:v>
              </c:pt>
              <c:pt idx="12">
                <c:v>Jan 25</c:v>
              </c:pt>
              <c:pt idx="13">
                <c:v>Feb 25</c:v>
              </c:pt>
              <c:pt idx="14">
                <c:v>Mar 25</c:v>
              </c:pt>
              <c:pt idx="15">
                <c:v>Apr 25</c:v>
              </c:pt>
              <c:pt idx="16">
                <c:v>May 25</c:v>
              </c:pt>
              <c:pt idx="17">
                <c:v>Jun 25</c:v>
              </c:pt>
              <c:pt idx="18">
                <c:v>Jul 25</c:v>
              </c:pt>
              <c:pt idx="19">
                <c:v>Aug 25</c:v>
              </c:pt>
              <c:pt idx="20">
                <c:v>Sep 25</c:v>
              </c:pt>
              <c:pt idx="21">
                <c:v>Oct 25</c:v>
              </c:pt>
              <c:pt idx="22">
                <c:v>Nov 25</c:v>
              </c:pt>
              <c:pt idx="23">
                <c:v>Dec 25</c:v>
              </c:pt>
              <c:pt idx="24">
                <c:v>Jan 26</c:v>
              </c:pt>
              <c:pt idx="25">
                <c:v>Feb 26</c:v>
              </c:pt>
              <c:pt idx="26">
                <c:v>Mar 26</c:v>
              </c:pt>
              <c:pt idx="27">
                <c:v>Apr 26</c:v>
              </c:pt>
              <c:pt idx="28">
                <c:v>May 26</c:v>
              </c:pt>
              <c:pt idx="29">
                <c:v>Jun 26</c:v>
              </c:pt>
              <c:pt idx="30">
                <c:v>Jul 26</c:v>
              </c:pt>
              <c:pt idx="31">
                <c:v>Aug 26</c:v>
              </c:pt>
              <c:pt idx="32">
                <c:v>Sep 26</c:v>
              </c:pt>
              <c:pt idx="33">
                <c:v>Oct 26</c:v>
              </c:pt>
              <c:pt idx="34">
                <c:v>Nov 26</c:v>
              </c:pt>
              <c:pt idx="35">
                <c:v>Dec 26</c:v>
              </c:pt>
            </c:strLit>
          </c:cat>
          <c:val>
            <c:numLit>
              <c:formatCode>0.0</c:formatCode>
              <c:ptCount val="36"/>
              <c:pt idx="0">
                <c:v>32</c:v>
              </c:pt>
              <c:pt idx="1">
                <c:v>32</c:v>
              </c:pt>
              <c:pt idx="2">
                <c:v>32</c:v>
              </c:pt>
              <c:pt idx="3">
                <c:v>32</c:v>
              </c:pt>
              <c:pt idx="4">
                <c:v>32</c:v>
              </c:pt>
              <c:pt idx="5">
                <c:v>32</c:v>
              </c:pt>
              <c:pt idx="6">
                <c:v>32</c:v>
              </c:pt>
              <c:pt idx="7">
                <c:v>32</c:v>
              </c:pt>
              <c:pt idx="8">
                <c:v>32</c:v>
              </c:pt>
              <c:pt idx="9">
                <c:v>32</c:v>
              </c:pt>
              <c:pt idx="10">
                <c:v>32</c:v>
              </c:pt>
              <c:pt idx="11">
                <c:v>32</c:v>
              </c:pt>
              <c:pt idx="12">
                <c:v>32</c:v>
              </c:pt>
              <c:pt idx="13">
                <c:v>32</c:v>
              </c:pt>
              <c:pt idx="14">
                <c:v>32</c:v>
              </c:pt>
              <c:pt idx="15">
                <c:v>32</c:v>
              </c:pt>
              <c:pt idx="16">
                <c:v>32</c:v>
              </c:pt>
              <c:pt idx="17">
                <c:v>32</c:v>
              </c:pt>
              <c:pt idx="18">
                <c:v>32</c:v>
              </c:pt>
              <c:pt idx="19">
                <c:v>32</c:v>
              </c:pt>
              <c:pt idx="20">
                <c:v>32</c:v>
              </c:pt>
              <c:pt idx="21">
                <c:v>32</c:v>
              </c:pt>
              <c:pt idx="22">
                <c:v>32</c:v>
              </c:pt>
              <c:pt idx="23">
                <c:v>32</c:v>
              </c:pt>
              <c:pt idx="24">
                <c:v>32</c:v>
              </c:pt>
              <c:pt idx="25">
                <c:v>32</c:v>
              </c:pt>
              <c:pt idx="26">
                <c:v>32</c:v>
              </c:pt>
              <c:pt idx="27">
                <c:v>32</c:v>
              </c:pt>
              <c:pt idx="28">
                <c:v>32</c:v>
              </c:pt>
              <c:pt idx="29">
                <c:v>32</c:v>
              </c:pt>
              <c:pt idx="30">
                <c:v>32</c:v>
              </c:pt>
              <c:pt idx="31">
                <c:v>32</c:v>
              </c:pt>
              <c:pt idx="32">
                <c:v>32</c:v>
              </c:pt>
              <c:pt idx="33">
                <c:v>32</c:v>
              </c:pt>
              <c:pt idx="34">
                <c:v>32</c:v>
              </c:pt>
              <c:pt idx="35">
                <c:v>32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53A5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1A7BE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36"/>
          <c:min val="25"/>
        </c:scaling>
        <c:delete val="0"/>
        <c:axPos val="l"/>
        <c:majorGridlines>
          <c:spPr>
            <a:ln xmlns:a="http://schemas.openxmlformats.org/drawingml/2006/main" w="9525">
              <a:solidFill>
                <a:srgbClr val="253A52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253A5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1A7BE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07111F"/>
        </a:solidFill>
        <a:ln xmlns:a="http://schemas.openxmlformats.org/drawingml/2006/main" w="0">
          <a:solidFill>
            <a:srgbClr val="07111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91A7BE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07111F"/>
    </a:solidFill>
    <a:ln xmlns:a="http://schemas.openxmlformats.org/drawingml/2006/main" w="0">
      <a:solidFill>
        <a:srgbClr val="07111F"/>
      </a:solidFill>
      <a:prstDash val="solid"/>
    </a:ln>
  </c:spPr>
</c:chartSpace>
</file>

<file path=ppt/slides/charts/chart9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Revenue (TL M)</c:v>
          </c:tx>
          <c:spPr>
            <a:solidFill xmlns:a="http://schemas.openxmlformats.org/drawingml/2006/main">
              <a:srgbClr val="39D98A"/>
            </a:solidFill>
          </c:spPr>
          <c:cat>
            <c:numLit>
              <c:formatCode>General</c:formatCode>
              <c:ptCount val="3"/>
              <c:pt idx="0">
                <c:v>2024</c:v>
              </c:pt>
              <c:pt idx="1">
                <c:v>2025</c:v>
              </c:pt>
              <c:pt idx="2">
                <c:v>2026</c:v>
              </c:pt>
            </c:numLit>
          </c:cat>
          <c:val>
            <c:numLit>
              <c:formatCode>0.0</c:formatCode>
              <c:ptCount val="3"/>
              <c:pt idx="0">
                <c:v>21.0375</c:v>
              </c:pt>
              <c:pt idx="1">
                <c:v>23.0245</c:v>
              </c:pt>
              <c:pt idx="2">
                <c:v>27.7998</c:v>
              </c:pt>
            </c:numLit>
          </c:val>
        </c:ser>
        <c:ser>
          <c:idx val="1"/>
          <c:order val="1"/>
          <c:tx>
            <c:v>Target (TL M)</c:v>
          </c:tx>
          <c:spPr>
            <a:solidFill xmlns:a="http://schemas.openxmlformats.org/drawingml/2006/main">
              <a:srgbClr val="FFB547"/>
            </a:solidFill>
          </c:spPr>
          <c:cat>
            <c:numLit>
              <c:formatCode>General</c:formatCode>
              <c:ptCount val="3"/>
              <c:pt idx="0">
                <c:v>2024</c:v>
              </c:pt>
              <c:pt idx="1">
                <c:v>2025</c:v>
              </c:pt>
              <c:pt idx="2">
                <c:v>2026</c:v>
              </c:pt>
            </c:numLit>
          </c:cat>
          <c:val>
            <c:numLit>
              <c:formatCode>0.0</c:formatCode>
              <c:ptCount val="3"/>
              <c:pt idx="0">
                <c:v>21.045</c:v>
              </c:pt>
              <c:pt idx="1">
                <c:v>25.379</c:v>
              </c:pt>
              <c:pt idx="2">
                <c:v>30.091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EAF2F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53A5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1A7BE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253A52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253A5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1A7BE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07111F"/>
        </a:solidFill>
        <a:ln xmlns:a="http://schemas.openxmlformats.org/drawingml/2006/main" w="0">
          <a:solidFill>
            <a:srgbClr val="07111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91A7BE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07111F"/>
    </a:solidFill>
    <a:ln xmlns:a="http://schemas.openxmlformats.org/drawingml/2006/main" w="0">
      <a:solidFill>
        <a:srgbClr val="07111F"/>
      </a:solidFill>
      <a:prstDash val="solid"/>
    </a:ln>
  </c:spPr>
</c:chartSpace>
</file>

<file path=ppt/slides/charts/chart10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Actual (TL M)</c:v>
          </c:tx>
          <c:spPr>
            <a:ln xmlns:a="http://schemas.openxmlformats.org/drawingml/2006/main" w="38100">
              <a:solidFill>
                <a:srgbClr val="39D98A"/>
              </a:solidFill>
              <a:prstDash val="solid"/>
            </a:ln>
          </c:spPr>
          <c:marker>
            <c:symbol val="none"/>
            <c:size val="6"/>
          </c:marker>
          <c:cat>
            <c:strLit>
              <c:ptCount val="12"/>
              <c:pt idx="0">
                <c:v>Jan</c:v>
              </c:pt>
              <c:pt idx="1">
                <c:v>Feb</c:v>
              </c:pt>
              <c:pt idx="2">
                <c:v>Mar</c:v>
              </c:pt>
              <c:pt idx="3">
                <c:v>Apr</c:v>
              </c:pt>
              <c:pt idx="4">
                <c:v>May</c:v>
              </c:pt>
              <c:pt idx="5">
                <c:v>Jun</c:v>
              </c:pt>
              <c:pt idx="6">
                <c:v>Jul</c:v>
              </c:pt>
              <c:pt idx="7">
                <c:v>Aug</c:v>
              </c:pt>
              <c:pt idx="8">
                <c:v>Sep</c:v>
              </c:pt>
              <c:pt idx="9">
                <c:v>Oct</c:v>
              </c:pt>
              <c:pt idx="10">
                <c:v>Nov</c:v>
              </c:pt>
              <c:pt idx="11">
                <c:v>Dec</c:v>
              </c:pt>
            </c:strLit>
          </c:cat>
          <c:val>
            <c:numLit>
              <c:formatCode>0.0</c:formatCode>
              <c:ptCount val="12"/>
              <c:pt idx="0">
                <c:v>2.1527</c:v>
              </c:pt>
              <c:pt idx="1">
                <c:v>2.1736</c:v>
              </c:pt>
              <c:pt idx="2">
                <c:v>2.3826</c:v>
              </c:pt>
              <c:pt idx="3">
                <c:v>2.4752</c:v>
              </c:pt>
              <c:pt idx="4">
                <c:v>2.4102</c:v>
              </c:pt>
              <c:pt idx="5">
                <c:v>2.2127</c:v>
              </c:pt>
              <c:pt idx="6">
                <c:v>2.121</c:v>
              </c:pt>
              <c:pt idx="7">
                <c:v>2.1306</c:v>
              </c:pt>
              <c:pt idx="8">
                <c:v>2.211</c:v>
              </c:pt>
              <c:pt idx="9">
                <c:v>2.3432</c:v>
              </c:pt>
              <c:pt idx="10">
                <c:v>2.5296</c:v>
              </c:pt>
              <c:pt idx="11">
                <c:v>2.6574</c:v>
              </c:pt>
            </c:numLit>
          </c:val>
        </c:ser>
        <c:ser>
          <c:idx val="1"/>
          <c:order val="1"/>
          <c:tx>
            <c:v>Target (TL M)</c:v>
          </c:tx>
          <c:spPr>
            <a:ln xmlns:a="http://schemas.openxmlformats.org/drawingml/2006/main" w="28575">
              <a:solidFill>
                <a:srgbClr val="FFB547"/>
              </a:solidFill>
              <a:prstDash val="solid"/>
            </a:ln>
          </c:spPr>
          <c:marker>
            <c:symbol val="none"/>
            <c:size val="6"/>
          </c:marker>
          <c:cat>
            <c:strLit>
              <c:ptCount val="12"/>
              <c:pt idx="0">
                <c:v>Jan</c:v>
              </c:pt>
              <c:pt idx="1">
                <c:v>Feb</c:v>
              </c:pt>
              <c:pt idx="2">
                <c:v>Mar</c:v>
              </c:pt>
              <c:pt idx="3">
                <c:v>Apr</c:v>
              </c:pt>
              <c:pt idx="4">
                <c:v>May</c:v>
              </c:pt>
              <c:pt idx="5">
                <c:v>Jun</c:v>
              </c:pt>
              <c:pt idx="6">
                <c:v>Jul</c:v>
              </c:pt>
              <c:pt idx="7">
                <c:v>Aug</c:v>
              </c:pt>
              <c:pt idx="8">
                <c:v>Sep</c:v>
              </c:pt>
              <c:pt idx="9">
                <c:v>Oct</c:v>
              </c:pt>
              <c:pt idx="10">
                <c:v>Nov</c:v>
              </c:pt>
              <c:pt idx="11">
                <c:v>Dec</c:v>
              </c:pt>
            </c:strLit>
          </c:cat>
          <c:val>
            <c:numLit>
              <c:formatCode>0.0</c:formatCode>
              <c:ptCount val="12"/>
              <c:pt idx="0">
                <c:v>2.245</c:v>
              </c:pt>
              <c:pt idx="1">
                <c:v>2.319</c:v>
              </c:pt>
              <c:pt idx="2">
                <c:v>2.467</c:v>
              </c:pt>
              <c:pt idx="3">
                <c:v>2.553</c:v>
              </c:pt>
              <c:pt idx="4">
                <c:v>2.602</c:v>
              </c:pt>
              <c:pt idx="5">
                <c:v>2.444</c:v>
              </c:pt>
              <c:pt idx="6">
                <c:v>2.288</c:v>
              </c:pt>
              <c:pt idx="7">
                <c:v>2.326</c:v>
              </c:pt>
              <c:pt idx="8">
                <c:v>2.515</c:v>
              </c:pt>
              <c:pt idx="9">
                <c:v>2.646</c:v>
              </c:pt>
              <c:pt idx="10">
                <c:v>2.769</c:v>
              </c:pt>
              <c:pt idx="11">
                <c:v>2.917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53A5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1A7BE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253A52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253A5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1A7BE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07111F"/>
        </a:solidFill>
        <a:ln xmlns:a="http://schemas.openxmlformats.org/drawingml/2006/main" w="0">
          <a:solidFill>
            <a:srgbClr val="07111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91A7BE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07111F"/>
    </a:solidFill>
    <a:ln xmlns:a="http://schemas.openxmlformats.org/drawingml/2006/main" w="0">
      <a:solidFill>
        <a:srgbClr val="07111F"/>
      </a:solidFill>
      <a:prstDash val="solid"/>
    </a:ln>
  </c:spPr>
</c:chartSpace>
</file>

<file path=ppt/slides/charts/chart1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Variance (TL K)</c:v>
          </c:tx>
          <c:spPr>
            <a:solidFill xmlns:a="http://schemas.openxmlformats.org/drawingml/2006/main">
              <a:srgbClr val="FF667A"/>
            </a:solidFill>
          </c:spPr>
          <c:invertIfNegative val="0"/>
          <c:cat>
            <c:strLit>
              <c:ptCount val="12"/>
              <c:pt idx="0">
                <c:v>Jan</c:v>
              </c:pt>
              <c:pt idx="1">
                <c:v>Feb</c:v>
              </c:pt>
              <c:pt idx="2">
                <c:v>Mar</c:v>
              </c:pt>
              <c:pt idx="3">
                <c:v>Apr</c:v>
              </c:pt>
              <c:pt idx="4">
                <c:v>May</c:v>
              </c:pt>
              <c:pt idx="5">
                <c:v>Jun</c:v>
              </c:pt>
              <c:pt idx="6">
                <c:v>Jul</c:v>
              </c:pt>
              <c:pt idx="7">
                <c:v>Aug</c:v>
              </c:pt>
              <c:pt idx="8">
                <c:v>Sep</c:v>
              </c:pt>
              <c:pt idx="9">
                <c:v>Oct</c:v>
              </c:pt>
              <c:pt idx="10">
                <c:v>Nov</c:v>
              </c:pt>
              <c:pt idx="11">
                <c:v>Dec</c:v>
              </c:pt>
            </c:strLit>
          </c:cat>
          <c:val>
            <c:numLit>
              <c:formatCode>0</c:formatCode>
              <c:ptCount val="12"/>
              <c:pt idx="0">
                <c:v>-92.3</c:v>
              </c:pt>
              <c:pt idx="1">
                <c:v>-145.4</c:v>
              </c:pt>
              <c:pt idx="2">
                <c:v>-84.4</c:v>
              </c:pt>
              <c:pt idx="3">
                <c:v>-77.8</c:v>
              </c:pt>
              <c:pt idx="4">
                <c:v>-191.8</c:v>
              </c:pt>
              <c:pt idx="5">
                <c:v>-231.3</c:v>
              </c:pt>
              <c:pt idx="6">
                <c:v>-167</c:v>
              </c:pt>
              <c:pt idx="7">
                <c:v>-195.4</c:v>
              </c:pt>
              <c:pt idx="8">
                <c:v>-304</c:v>
              </c:pt>
              <c:pt idx="9">
                <c:v>-302.8</c:v>
              </c:pt>
              <c:pt idx="10">
                <c:v>-239.4</c:v>
              </c:pt>
              <c:pt idx="11">
                <c:v>-259.6</c:v>
              </c:pt>
            </c:numLit>
          </c:val>
        </c:ser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53A5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1A7BE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253A52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253A5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1A7BE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07111F"/>
        </a:solidFill>
        <a:ln xmlns:a="http://schemas.openxmlformats.org/drawingml/2006/main" w="0">
          <a:solidFill>
            <a:srgbClr val="07111F"/>
          </a:solidFill>
          <a:prstDash val="solid"/>
        </a:ln>
      </c:spPr>
    </c:plotArea>
    <c:plotVisOnly val="1"/>
  </c:chart>
  <c:spPr>
    <a:solidFill xmlns:a="http://schemas.openxmlformats.org/drawingml/2006/main">
      <a:srgbClr val="07111F"/>
    </a:solidFill>
    <a:ln xmlns:a="http://schemas.openxmlformats.org/drawingml/2006/main" w="0">
      <a:solidFill>
        <a:srgbClr val="07111F"/>
      </a:solidFill>
      <a:prstDash val="solid"/>
    </a:ln>
  </c:spPr>
</c:chartSpace>
</file>

<file path=ppt/slides/charts/chart12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Pipeline coverage (x)</c:v>
          </c:tx>
          <c:spPr>
            <a:ln xmlns:a="http://schemas.openxmlformats.org/drawingml/2006/main" w="38100">
              <a:solidFill>
                <a:srgbClr val="4F7CFF"/>
              </a:solidFill>
              <a:prstDash val="solid"/>
            </a:ln>
          </c:spPr>
          <c:marker>
            <c:symbol val="none"/>
            <c:size val="6"/>
          </c:marker>
          <c:cat>
            <c:strLit>
              <c:ptCount val="12"/>
              <c:pt idx="0">
                <c:v>Jan</c:v>
              </c:pt>
              <c:pt idx="1">
                <c:v>Feb</c:v>
              </c:pt>
              <c:pt idx="2">
                <c:v>Mar</c:v>
              </c:pt>
              <c:pt idx="3">
                <c:v>Apr</c:v>
              </c:pt>
              <c:pt idx="4">
                <c:v>May</c:v>
              </c:pt>
              <c:pt idx="5">
                <c:v>Jun</c:v>
              </c:pt>
              <c:pt idx="6">
                <c:v>Jul</c:v>
              </c:pt>
              <c:pt idx="7">
                <c:v>Aug</c:v>
              </c:pt>
              <c:pt idx="8">
                <c:v>Sep</c:v>
              </c:pt>
              <c:pt idx="9">
                <c:v>Oct</c:v>
              </c:pt>
              <c:pt idx="10">
                <c:v>Nov</c:v>
              </c:pt>
              <c:pt idx="11">
                <c:v>Dec</c:v>
              </c:pt>
            </c:strLit>
          </c:cat>
          <c:val>
            <c:numLit>
              <c:formatCode>0.0</c:formatCode>
              <c:ptCount val="12"/>
              <c:pt idx="0">
                <c:v>8.733184855233853</c:v>
              </c:pt>
              <c:pt idx="1">
                <c:v>8.478654592496765</c:v>
              </c:pt>
              <c:pt idx="2">
                <c:v>8.665991082286178</c:v>
              </c:pt>
              <c:pt idx="3">
                <c:v>8.679200940070505</c:v>
              </c:pt>
              <c:pt idx="4">
                <c:v>8.203305149884704</c:v>
              </c:pt>
              <c:pt idx="5">
                <c:v>7.945990180032733</c:v>
              </c:pt>
              <c:pt idx="6">
                <c:v>8.071678321678322</c:v>
              </c:pt>
              <c:pt idx="7">
                <c:v>7.877472055030094</c:v>
              </c:pt>
              <c:pt idx="8">
                <c:v>7.454870775347913</c:v>
              </c:pt>
              <c:pt idx="9">
                <c:v>7.424792139077853</c:v>
              </c:pt>
              <c:pt idx="10">
                <c:v>7.613940050559769</c:v>
              </c:pt>
              <c:pt idx="11">
                <c:v>7.485773054508056</c:v>
              </c:pt>
            </c:numLit>
          </c:val>
        </c:ser>
        <c:ser>
          <c:idx val="1"/>
          <c:order val="1"/>
          <c:tx>
            <c:v>4x reference</c:v>
          </c:tx>
          <c:spPr>
            <a:ln xmlns:a="http://schemas.openxmlformats.org/drawingml/2006/main" w="19050">
              <a:solidFill>
                <a:srgbClr val="FFB547"/>
              </a:solidFill>
              <a:prstDash val="dash"/>
            </a:ln>
          </c:spPr>
          <c:marker>
            <c:symbol val="none"/>
            <c:size val="6"/>
          </c:marker>
          <c:cat>
            <c:strLit>
              <c:ptCount val="12"/>
              <c:pt idx="0">
                <c:v>Jan</c:v>
              </c:pt>
              <c:pt idx="1">
                <c:v>Feb</c:v>
              </c:pt>
              <c:pt idx="2">
                <c:v>Mar</c:v>
              </c:pt>
              <c:pt idx="3">
                <c:v>Apr</c:v>
              </c:pt>
              <c:pt idx="4">
                <c:v>May</c:v>
              </c:pt>
              <c:pt idx="5">
                <c:v>Jun</c:v>
              </c:pt>
              <c:pt idx="6">
                <c:v>Jul</c:v>
              </c:pt>
              <c:pt idx="7">
                <c:v>Aug</c:v>
              </c:pt>
              <c:pt idx="8">
                <c:v>Sep</c:v>
              </c:pt>
              <c:pt idx="9">
                <c:v>Oct</c:v>
              </c:pt>
              <c:pt idx="10">
                <c:v>Nov</c:v>
              </c:pt>
              <c:pt idx="11">
                <c:v>Dec</c:v>
              </c:pt>
            </c:strLit>
          </c:cat>
          <c:val>
            <c:numLit>
              <c:formatCode>0.0</c:formatCode>
              <c:ptCount val="12"/>
              <c:pt idx="0">
                <c:v>4</c:v>
              </c:pt>
              <c:pt idx="1">
                <c:v>4</c:v>
              </c:pt>
              <c:pt idx="2">
                <c:v>4</c:v>
              </c:pt>
              <c:pt idx="3">
                <c:v>4</c:v>
              </c:pt>
              <c:pt idx="4">
                <c:v>4</c:v>
              </c:pt>
              <c:pt idx="5">
                <c:v>4</c:v>
              </c:pt>
              <c:pt idx="6">
                <c:v>4</c:v>
              </c:pt>
              <c:pt idx="7">
                <c:v>4</c:v>
              </c:pt>
              <c:pt idx="8">
                <c:v>4</c:v>
              </c:pt>
              <c:pt idx="9">
                <c:v>4</c:v>
              </c:pt>
              <c:pt idx="10">
                <c:v>4</c:v>
              </c:pt>
              <c:pt idx="11">
                <c:v>4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53A5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1A7BE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9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253A52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253A5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1A7BE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07111F"/>
        </a:solidFill>
        <a:ln xmlns:a="http://schemas.openxmlformats.org/drawingml/2006/main" w="0">
          <a:solidFill>
            <a:srgbClr val="07111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91A7BE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07111F"/>
    </a:solidFill>
    <a:ln xmlns:a="http://schemas.openxmlformats.org/drawingml/2006/main" w="0">
      <a:solidFill>
        <a:srgbClr val="07111F"/>
      </a:solidFill>
      <a:prstDash val="solid"/>
    </a:ln>
  </c:spPr>
</c:chartSpace>
</file>

<file path=ppt/slides/charts/chart13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Revenue (TL M)</c:v>
          </c:tx>
          <c:spPr>
            <a:solidFill xmlns:a="http://schemas.openxmlformats.org/drawingml/2006/main">
              <a:srgbClr val="24C7D9"/>
            </a:solidFill>
          </c:spPr>
          <c:cat>
            <c:strLit>
              <c:ptCount val="5"/>
              <c:pt idx="0">
                <c:v>Deniz</c:v>
              </c:pt>
              <c:pt idx="1">
                <c:v>Can</c:v>
              </c:pt>
              <c:pt idx="2">
                <c:v>Selin</c:v>
              </c:pt>
              <c:pt idx="3">
                <c:v>Emre</c:v>
              </c:pt>
              <c:pt idx="4">
                <c:v>Ayşe</c:v>
              </c:pt>
            </c:strLit>
          </c:cat>
          <c:val>
            <c:numLit>
              <c:formatCode>0.0</c:formatCode>
              <c:ptCount val="5"/>
              <c:pt idx="0">
                <c:v>6.673</c:v>
              </c:pt>
              <c:pt idx="1">
                <c:v>6.46</c:v>
              </c:pt>
              <c:pt idx="2">
                <c:v>5.813</c:v>
              </c:pt>
              <c:pt idx="3">
                <c:v>5.283</c:v>
              </c:pt>
              <c:pt idx="4">
                <c:v>5.115</c:v>
              </c:pt>
            </c:numLit>
          </c:val>
        </c:ser>
        <c:ser>
          <c:idx val="1"/>
          <c:order val="1"/>
          <c:tx>
            <c:v>Target (TL M)</c:v>
          </c:tx>
          <c:spPr>
            <a:solidFill xmlns:a="http://schemas.openxmlformats.org/drawingml/2006/main">
              <a:srgbClr val="FFB547"/>
            </a:solidFill>
          </c:spPr>
          <c:cat>
            <c:strLit>
              <c:ptCount val="5"/>
              <c:pt idx="0">
                <c:v>Deniz</c:v>
              </c:pt>
              <c:pt idx="1">
                <c:v>Can</c:v>
              </c:pt>
              <c:pt idx="2">
                <c:v>Selin</c:v>
              </c:pt>
              <c:pt idx="3">
                <c:v>Emre</c:v>
              </c:pt>
              <c:pt idx="4">
                <c:v>Ayşe</c:v>
              </c:pt>
            </c:strLit>
          </c:cat>
          <c:val>
            <c:numLit>
              <c:formatCode>0.0</c:formatCode>
              <c:ptCount val="5"/>
              <c:pt idx="0">
                <c:v>5.115</c:v>
              </c:pt>
              <c:pt idx="1">
                <c:v>5.718</c:v>
              </c:pt>
              <c:pt idx="2">
                <c:v>6.018</c:v>
              </c:pt>
              <c:pt idx="3">
                <c:v>6.317</c:v>
              </c:pt>
              <c:pt idx="4">
                <c:v>6.919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EAF2F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53A5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1A7BE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253A52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253A5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1A7BE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07111F"/>
        </a:solidFill>
        <a:ln xmlns:a="http://schemas.openxmlformats.org/drawingml/2006/main" w="0">
          <a:solidFill>
            <a:srgbClr val="07111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91A7BE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07111F"/>
    </a:solidFill>
    <a:ln xmlns:a="http://schemas.openxmlformats.org/drawingml/2006/main" w="0">
      <a:solidFill>
        <a:srgbClr val="07111F"/>
      </a:solidFill>
      <a:prstDash val="solid"/>
    </a:ln>
  </c:spPr>
</c:chartSpace>
</file>

<file path=ppt/slides/charts/chart14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Days</c:v>
          </c:tx>
          <c:spPr>
            <a:solidFill xmlns:a="http://schemas.openxmlformats.org/drawingml/2006/main">
              <a:srgbClr val="FFB547"/>
            </a:solidFill>
          </c:spPr>
          <c:cat>
            <c:strLit>
              <c:ptCount val="5"/>
              <c:pt idx="0">
                <c:v>Dnz.</c:v>
              </c:pt>
              <c:pt idx="1">
                <c:v>Can</c:v>
              </c:pt>
              <c:pt idx="2">
                <c:v>Selin</c:v>
              </c:pt>
              <c:pt idx="3">
                <c:v>Emre</c:v>
              </c:pt>
              <c:pt idx="4">
                <c:v>Ayşe</c:v>
              </c:pt>
            </c:strLit>
          </c:cat>
          <c:val>
            <c:numLit>
              <c:formatCode>0</c:formatCode>
              <c:ptCount val="5"/>
              <c:pt idx="0">
                <c:v>43</c:v>
              </c:pt>
              <c:pt idx="1">
                <c:v>45</c:v>
              </c:pt>
              <c:pt idx="2">
                <c:v>46</c:v>
              </c:pt>
              <c:pt idx="3">
                <c:v>48</c:v>
              </c:pt>
              <c:pt idx="4">
                <c:v>49.75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EAF2F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253A52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253A5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1A7BE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253A5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1A7BE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07111F"/>
        </a:solidFill>
        <a:ln xmlns:a="http://schemas.openxmlformats.org/drawingml/2006/main" w="0">
          <a:solidFill>
            <a:srgbClr val="07111F"/>
          </a:solidFill>
          <a:prstDash val="solid"/>
        </a:ln>
      </c:spPr>
    </c:plotArea>
    <c:plotVisOnly val="1"/>
  </c:chart>
  <c:spPr>
    <a:solidFill xmlns:a="http://schemas.openxmlformats.org/drawingml/2006/main">
      <a:srgbClr val="07111F"/>
    </a:solidFill>
    <a:ln xmlns:a="http://schemas.openxmlformats.org/drawingml/2006/main" w="0">
      <a:solidFill>
        <a:srgbClr val="07111F"/>
      </a:solidFill>
      <a:prstDash val="solid"/>
    </a:ln>
  </c:spPr>
</c:chartSpace>
</file>

<file path=ppt/slides/charts/chart15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Win Rate %</c:v>
          </c:tx>
          <c:spPr>
            <a:solidFill xmlns:a="http://schemas.openxmlformats.org/drawingml/2006/main">
              <a:srgbClr val="39D98A"/>
            </a:solidFill>
          </c:spPr>
          <c:cat>
            <c:strLit>
              <c:ptCount val="5"/>
              <c:pt idx="0">
                <c:v>Dnz.</c:v>
              </c:pt>
              <c:pt idx="1">
                <c:v>Can</c:v>
              </c:pt>
              <c:pt idx="2">
                <c:v>Selin</c:v>
              </c:pt>
              <c:pt idx="3">
                <c:v>Emre</c:v>
              </c:pt>
              <c:pt idx="4">
                <c:v>Ayşe</c:v>
              </c:pt>
            </c:strLit>
          </c:cat>
          <c:val>
            <c:numLit>
              <c:formatCode>0.0</c:formatCode>
              <c:ptCount val="5"/>
              <c:pt idx="0">
                <c:v>35.70566948130278</c:v>
              </c:pt>
              <c:pt idx="1">
                <c:v>33.40782122905028</c:v>
              </c:pt>
              <c:pt idx="2">
                <c:v>30.87912087912088</c:v>
              </c:pt>
              <c:pt idx="3">
                <c:v>28.771551724137932</c:v>
              </c:pt>
              <c:pt idx="4">
                <c:v>27.42914979757085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EAF2F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253A52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253A5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1A7BE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0.0"/>
        <c:majorTickMark val="none"/>
        <c:minorTickMark val="none"/>
        <c:spPr>
          <a:ln xmlns:a="http://schemas.openxmlformats.org/drawingml/2006/main" w="9525">
            <a:solidFill>
              <a:srgbClr val="253A5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1A7BE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07111F"/>
        </a:solidFill>
        <a:ln xmlns:a="http://schemas.openxmlformats.org/drawingml/2006/main" w="0">
          <a:solidFill>
            <a:srgbClr val="07111F"/>
          </a:solidFill>
          <a:prstDash val="solid"/>
        </a:ln>
      </c:spPr>
    </c:plotArea>
    <c:plotVisOnly val="1"/>
  </c:chart>
  <c:spPr>
    <a:solidFill xmlns:a="http://schemas.openxmlformats.org/drawingml/2006/main">
      <a:srgbClr val="07111F"/>
    </a:solidFill>
    <a:ln xmlns:a="http://schemas.openxmlformats.org/drawingml/2006/main" w="0">
      <a:solidFill>
        <a:srgbClr val="07111F"/>
      </a:solidFill>
      <a:prstDash val="solid"/>
    </a:ln>
  </c:spPr>
</c:chartSpace>
</file>

<file path=ppt/slides/charts/chart16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New customers</c:v>
          </c:tx>
          <c:spPr>
            <a:ln xmlns:a="http://schemas.openxmlformats.org/drawingml/2006/main" w="38100">
              <a:solidFill>
                <a:srgbClr val="39D98A"/>
              </a:solidFill>
              <a:prstDash val="solid"/>
            </a:ln>
          </c:spPr>
          <c:marker>
            <c:symbol val="none"/>
            <c:size val="6"/>
          </c:marker>
          <c:cat>
            <c:strLit>
              <c:ptCount val="12"/>
              <c:pt idx="0">
                <c:v>Jan</c:v>
              </c:pt>
              <c:pt idx="1">
                <c:v>Feb</c:v>
              </c:pt>
              <c:pt idx="2">
                <c:v>Mar</c:v>
              </c:pt>
              <c:pt idx="3">
                <c:v>Apr</c:v>
              </c:pt>
              <c:pt idx="4">
                <c:v>May</c:v>
              </c:pt>
              <c:pt idx="5">
                <c:v>Jun</c:v>
              </c:pt>
              <c:pt idx="6">
                <c:v>Jul</c:v>
              </c:pt>
              <c:pt idx="7">
                <c:v>Aug</c:v>
              </c:pt>
              <c:pt idx="8">
                <c:v>Sep</c:v>
              </c:pt>
              <c:pt idx="9">
                <c:v>Oct</c:v>
              </c:pt>
              <c:pt idx="10">
                <c:v>Nov</c:v>
              </c:pt>
              <c:pt idx="11">
                <c:v>Dec</c:v>
              </c:pt>
            </c:strLit>
          </c:cat>
          <c:val>
            <c:numLit>
              <c:formatCode>0</c:formatCode>
              <c:ptCount val="12"/>
              <c:pt idx="0">
                <c:v>103</c:v>
              </c:pt>
              <c:pt idx="1">
                <c:v>104</c:v>
              </c:pt>
              <c:pt idx="2">
                <c:v>114</c:v>
              </c:pt>
              <c:pt idx="3">
                <c:v>119</c:v>
              </c:pt>
              <c:pt idx="4">
                <c:v>117</c:v>
              </c:pt>
              <c:pt idx="5">
                <c:v>109</c:v>
              </c:pt>
              <c:pt idx="6">
                <c:v>105</c:v>
              </c:pt>
              <c:pt idx="7">
                <c:v>106</c:v>
              </c:pt>
              <c:pt idx="8">
                <c:v>110</c:v>
              </c:pt>
              <c:pt idx="9">
                <c:v>116</c:v>
              </c:pt>
              <c:pt idx="10">
                <c:v>124</c:v>
              </c:pt>
              <c:pt idx="11">
                <c:v>129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53A5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1A7BE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253A52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253A5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1A7BE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07111F"/>
        </a:solidFill>
        <a:ln xmlns:a="http://schemas.openxmlformats.org/drawingml/2006/main" w="0">
          <a:solidFill>
            <a:srgbClr val="07111F"/>
          </a:solidFill>
          <a:prstDash val="solid"/>
        </a:ln>
      </c:spPr>
    </c:plotArea>
    <c:plotVisOnly val="1"/>
  </c:chart>
  <c:spPr>
    <a:solidFill xmlns:a="http://schemas.openxmlformats.org/drawingml/2006/main">
      <a:srgbClr val="07111F"/>
    </a:solidFill>
    <a:ln xmlns:a="http://schemas.openxmlformats.org/drawingml/2006/main" w="0">
      <a:solidFill>
        <a:srgbClr val="07111F"/>
      </a:solidFill>
      <a:prstDash val="solid"/>
    </a:ln>
  </c:spPr>
</c:chartSpace>
</file>

<file path=ppt/slides/charts/chart17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Churn %</c:v>
          </c:tx>
          <c:spPr>
            <a:ln xmlns:a="http://schemas.openxmlformats.org/drawingml/2006/main" w="38100">
              <a:solidFill>
                <a:srgbClr val="FF667A"/>
              </a:solidFill>
              <a:prstDash val="solid"/>
            </a:ln>
          </c:spPr>
          <c:marker>
            <c:symbol val="none"/>
            <c:size val="6"/>
          </c:marker>
          <c:cat>
            <c:strLit>
              <c:ptCount val="12"/>
              <c:pt idx="0">
                <c:v>Jan</c:v>
              </c:pt>
              <c:pt idx="1">
                <c:v>Feb</c:v>
              </c:pt>
              <c:pt idx="2">
                <c:v>Mar</c:v>
              </c:pt>
              <c:pt idx="3">
                <c:v>Apr</c:v>
              </c:pt>
              <c:pt idx="4">
                <c:v>May</c:v>
              </c:pt>
              <c:pt idx="5">
                <c:v>Jun</c:v>
              </c:pt>
              <c:pt idx="6">
                <c:v>Jul</c:v>
              </c:pt>
              <c:pt idx="7">
                <c:v>Aug</c:v>
              </c:pt>
              <c:pt idx="8">
                <c:v>Sep</c:v>
              </c:pt>
              <c:pt idx="9">
                <c:v>Oct</c:v>
              </c:pt>
              <c:pt idx="10">
                <c:v>Nov</c:v>
              </c:pt>
              <c:pt idx="11">
                <c:v>Dec</c:v>
              </c:pt>
            </c:strLit>
          </c:cat>
          <c:val>
            <c:numLit>
              <c:formatCode>0.0</c:formatCode>
              <c:ptCount val="12"/>
              <c:pt idx="0">
                <c:v>2.5386541271340106</c:v>
              </c:pt>
              <c:pt idx="1">
                <c:v>2.4165878954308977</c:v>
              </c:pt>
              <c:pt idx="2">
                <c:v>2.2929148921012237</c:v>
              </c:pt>
              <c:pt idx="3">
                <c:v>2.1796145917895906</c:v>
              </c:pt>
              <c:pt idx="4">
                <c:v>2.0876617265577004</c:v>
              </c:pt>
              <c:pt idx="5">
                <c:v>2.0259632282976137</c:v>
              </c:pt>
              <c:pt idx="6">
                <c:v>2.000495466755494</c:v>
              </c:pt>
              <c:pt idx="7">
                <c:v>2.0137253538315525</c:v>
              </c:pt>
              <c:pt idx="8">
                <c:v>2.0643713883694192</c:v>
              </c:pt>
              <c:pt idx="9">
                <c:v>2.14752778761731</c:v>
              </c:pt>
              <c:pt idx="10">
                <c:v>2.2551396814782234</c:v>
              </c:pt>
              <c:pt idx="11">
                <c:v>2.376783340283947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53A5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1A7BE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3.5"/>
          <c:min val="1.5"/>
        </c:scaling>
        <c:delete val="0"/>
        <c:axPos val="l"/>
        <c:majorGridlines>
          <c:spPr>
            <a:ln xmlns:a="http://schemas.openxmlformats.org/drawingml/2006/main" w="9525">
              <a:solidFill>
                <a:srgbClr val="253A52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253A5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1A7BE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07111F"/>
        </a:solidFill>
        <a:ln xmlns:a="http://schemas.openxmlformats.org/drawingml/2006/main" w="0">
          <a:solidFill>
            <a:srgbClr val="07111F"/>
          </a:solidFill>
          <a:prstDash val="solid"/>
        </a:ln>
      </c:spPr>
    </c:plotArea>
    <c:plotVisOnly val="1"/>
  </c:chart>
  <c:spPr>
    <a:solidFill xmlns:a="http://schemas.openxmlformats.org/drawingml/2006/main">
      <a:srgbClr val="07111F"/>
    </a:solidFill>
    <a:ln xmlns:a="http://schemas.openxmlformats.org/drawingml/2006/main" w="0">
      <a:solidFill>
        <a:srgbClr val="07111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9F44D54-87CB-46F5-955F-2E9B46DA4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C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1E2A70-8F42-4CDF-9AF6-75B44C9D4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C7D9"/>
                </a:solidFill>
              </a:defRPr>
            </a:pPr>
            <a:r>
              <a:rPr sz="1125" b="1">
                <a:solidFill>
                  <a:srgbClr val="24C7D9"/>
                </a:solidFill>
              </a:rPr>
              <a:t>PORTFOLIO PROJECT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E2A834-A8CB-41CF-B960-F4C8F60BC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5810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EAF2FF"/>
                </a:solidFill>
              </a:defRPr>
            </a:pPr>
            <a:r>
              <a:rPr sz="3900" b="1">
                <a:solidFill>
                  <a:srgbClr val="EAF2FF"/>
                </a:solidFill>
              </a:rPr>
              <a:t>CRM Sales Analytics &amp; Business Intelligence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DA71FA-5392-4D65-85CC-D1805D75A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95625"/>
            <a:ext cx="561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91A7BE"/>
                </a:solidFill>
              </a:defRPr>
            </a:pPr>
            <a:r>
              <a:rPr sz="1725" b="0">
                <a:solidFill>
                  <a:srgbClr val="91A7BE"/>
                </a:solidFill>
              </a:rPr>
              <a:t>36-Month Performance Review | Power BI, Tableau &amp; Excel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BF9A9E-0E64-44AD-8367-12B75B8FD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24325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C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3B7940-E578-4E69-BBEA-1DB5E252B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AF2FF"/>
                </a:solidFill>
              </a:defRPr>
            </a:pPr>
            <a:r>
              <a:rPr sz="1800" b="1">
                <a:solidFill>
                  <a:srgbClr val="EAF2FF"/>
                </a:solidFill>
              </a:rPr>
              <a:t>Murat Miraç Gedik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358186-6E18-46F2-89E1-F15AA97AB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244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1A7BE"/>
                </a:solidFill>
              </a:defRPr>
            </a:pPr>
            <a:r>
              <a:rPr sz="1275" b="0">
                <a:solidFill>
                  <a:srgbClr val="91A7BE"/>
                </a:solidFill>
              </a:rPr>
              <a:t>July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0599D8-C5BE-4375-9ACF-F9F82479D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742950"/>
            <a:ext cx="4619625" cy="5372100"/>
          </a:xfrm>
          <a:prstGeom xmlns:a="http://schemas.openxmlformats.org/drawingml/2006/main" prst="roundRect">
            <a:avLst>
              <a:gd name="adj" fmla="val 2474"/>
            </a:avLst>
          </a:prstGeom>
          <a:solidFill xmlns:a="http://schemas.openxmlformats.org/drawingml/2006/main">
            <a:srgbClr val="101D2E"/>
          </a:solidFill>
          <a:ln xmlns:a="http://schemas.openxmlformats.org/drawingml/2006/main" w="9525">
            <a:solidFill>
              <a:srgbClr val="253A5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55457f2b9f435e"/>
          <a:stretch xmlns:a="http://schemas.openxmlformats.org/drawingml/2006/main"/>
        </p:blipFill>
        <p:spPr>
          <a:xfrm xmlns:a="http://schemas.openxmlformats.org/drawingml/2006/main">
            <a:off x="7194021" y="933450"/>
            <a:ext cx="4233333" cy="2381250"/>
          </a:xfrm>
          <a:prstGeom xmlns:a="http://schemas.openxmlformats.org/drawingml/2006/main" prst="roundRect">
            <a:avLst>
              <a:gd name="adj" fmla="val 4800"/>
            </a:avLst>
          </a:prstGeom>
        </p:spPr>
      </p:pic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09b28972b441f3"/>
          <a:stretch xmlns:a="http://schemas.openxmlformats.org/drawingml/2006/main"/>
        </p:blipFill>
        <p:spPr>
          <a:xfrm xmlns:a="http://schemas.openxmlformats.org/drawingml/2006/main">
            <a:off x="7194021" y="3524250"/>
            <a:ext cx="4233333" cy="2381250"/>
          </a:xfrm>
          <a:prstGeom xmlns:a="http://schemas.openxmlformats.org/drawingml/2006/main" prst="roundRect">
            <a:avLst>
              <a:gd name="adj" fmla="val 4800"/>
            </a:avLst>
          </a:prstGeom>
        </p:spPr>
      </p:pic>
    </p:spTree>
    <p:extLst>
      <p:ext uri="{BB962C8B-B14F-4D97-AF65-F5344CB8AC3E}">
        <p14:creationId xmlns:p14="http://schemas.microsoft.com/office/powerpoint/2010/main" val="14281901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64F0726-C9E6-4F1B-B5F1-1CA81178F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C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748BFB-251C-4D91-9D74-00EF242CB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AF2FF"/>
                </a:solidFill>
              </a:defRPr>
            </a:pPr>
            <a:r>
              <a:rPr sz="2700" b="1">
                <a:solidFill>
                  <a:srgbClr val="EAF2FF"/>
                </a:solidFill>
              </a:rPr>
              <a:t>Growth is strong, but target discipline is lagging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5B02FE-4E4A-4409-9B41-C8A402DD0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A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E46080-C95C-4765-9821-28631E4E9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1A7BE"/>
                </a:solidFill>
              </a:defRPr>
            </a:pPr>
            <a:r>
              <a:rPr sz="825" b="0">
                <a:solidFill>
                  <a:srgbClr val="91A7BE"/>
                </a:solidFill>
              </a:rPr>
              <a:t>CRM Sales Analytics | 36-month sample dataset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565074-369F-4435-B813-6BD8CF919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534150"/>
            <a:ext cx="2343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1A7BE"/>
                </a:solidFill>
              </a:defRPr>
            </a:pPr>
            <a:r>
              <a:rPr sz="825" b="0">
                <a:solidFill>
                  <a:srgbClr val="91A7BE"/>
                </a:solidFill>
              </a:rPr>
              <a:t>Murat Miraç Gedik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ADCD62-C6A1-4A84-A228-95AE10BEF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2333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AAB08B-F131-46A4-9BC6-DF7933340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38325"/>
            <a:ext cx="2333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1A7BE"/>
                </a:solidFill>
              </a:defRPr>
            </a:pPr>
            <a:r>
              <a:rPr sz="1050" b="1">
                <a:solidFill>
                  <a:srgbClr val="91A7BE"/>
                </a:solidFill>
              </a:rPr>
              <a:t>2026 REVENUE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A937B3-560C-43B6-B98D-B8B91D9F9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24075"/>
            <a:ext cx="2333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AF2FF"/>
                </a:solidFill>
              </a:defRPr>
            </a:pPr>
            <a:r>
              <a:rPr sz="2550" b="1">
                <a:solidFill>
                  <a:srgbClr val="EAF2FF"/>
                </a:solidFill>
              </a:rPr>
              <a:t>TL 27.8M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305C8E-D24F-45F4-A0DF-5B690EE6E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57475"/>
            <a:ext cx="2333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9D98A"/>
                </a:solidFill>
              </a:defRPr>
            </a:pPr>
            <a:r>
              <a:rPr sz="1200" b="1">
                <a:solidFill>
                  <a:srgbClr val="39D98A"/>
                </a:solidFill>
              </a:rPr>
              <a:t>+32.1% vs 2024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F3C7A3-25E2-4942-BE51-9CE51A419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1666875"/>
            <a:ext cx="2333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C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F5E9EC-2CD4-4877-9E13-C24A6999F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1838325"/>
            <a:ext cx="2333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1A7BE"/>
                </a:solidFill>
              </a:defRPr>
            </a:pPr>
            <a:r>
              <a:rPr sz="1050" b="1">
                <a:solidFill>
                  <a:srgbClr val="91A7BE"/>
                </a:solidFill>
              </a:rPr>
              <a:t>2026 LEADS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C6661B-7A9C-48D7-9EDC-FD42A2151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124075"/>
            <a:ext cx="2333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AF2FF"/>
                </a:solidFill>
              </a:defRPr>
            </a:pPr>
            <a:r>
              <a:rPr sz="2550" b="1">
                <a:solidFill>
                  <a:srgbClr val="EAF2FF"/>
                </a:solidFill>
              </a:rPr>
              <a:t>18,206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15192D-0C65-4001-84EC-55B849AE1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657475"/>
            <a:ext cx="2333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C7D9"/>
                </a:solidFill>
              </a:defRPr>
            </a:pPr>
            <a:r>
              <a:rPr sz="1200" b="1">
                <a:solidFill>
                  <a:srgbClr val="24C7D9"/>
                </a:solidFill>
              </a:rPr>
              <a:t>+24.1% vs 2024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ACD5AA-EEDD-4315-8E3E-B07215D4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666875"/>
            <a:ext cx="2333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5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029E68-E013-4C65-B355-E01FA76F0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38325"/>
            <a:ext cx="2333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1A7BE"/>
                </a:solidFill>
              </a:defRPr>
            </a:pPr>
            <a:r>
              <a:rPr sz="1050" b="1">
                <a:solidFill>
                  <a:srgbClr val="91A7BE"/>
                </a:solidFill>
              </a:rPr>
              <a:t>TARGET ATTAINMENT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C8B2D7-EA78-4E34-97E6-107B6D9BA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124075"/>
            <a:ext cx="2333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AF2FF"/>
                </a:solidFill>
              </a:defRPr>
            </a:pPr>
            <a:r>
              <a:rPr sz="2550" b="1">
                <a:solidFill>
                  <a:srgbClr val="EAF2FF"/>
                </a:solidFill>
              </a:rPr>
              <a:t>92.4%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55B9FA-2C9F-47F6-A0E6-3C2CD160D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657475"/>
            <a:ext cx="2333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B547"/>
                </a:solidFill>
              </a:defRPr>
            </a:pPr>
            <a:r>
              <a:rPr sz="1200" b="1">
                <a:solidFill>
                  <a:srgbClr val="FFB547"/>
                </a:solidFill>
              </a:rPr>
              <a:t>+1.7 pts vs 2025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4201B2-EA37-4A34-809D-195A08A33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666875"/>
            <a:ext cx="2333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A0C2B1-78C9-4F3E-B104-250E32277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838325"/>
            <a:ext cx="2333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1A7BE"/>
                </a:solidFill>
              </a:defRPr>
            </a:pPr>
            <a:r>
              <a:rPr sz="1050" b="1">
                <a:solidFill>
                  <a:srgbClr val="91A7BE"/>
                </a:solidFill>
              </a:rPr>
              <a:t>DECEMBER WIN RATE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A60EEE-C8A4-4BF9-9E69-7571C908D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124075"/>
            <a:ext cx="2333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AF2FF"/>
                </a:solidFill>
              </a:defRPr>
            </a:pPr>
            <a:r>
              <a:rPr sz="2550" b="1">
                <a:solidFill>
                  <a:srgbClr val="EAF2FF"/>
                </a:solidFill>
              </a:rPr>
              <a:t>32.3%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836C05-FD73-4F7C-9DFB-C869BC5E0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657475"/>
            <a:ext cx="2333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78BFA"/>
                </a:solidFill>
              </a:defRPr>
            </a:pPr>
            <a:r>
              <a:rPr sz="1200" b="1">
                <a:solidFill>
                  <a:srgbClr val="A78BFA"/>
                </a:solidFill>
              </a:rPr>
              <a:t>32% target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B3316D-69E3-4D12-9F11-CCDB2D652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6667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C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B5C0A8-8950-4A5C-AE57-C76389164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14750"/>
            <a:ext cx="10248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AF2FF"/>
                </a:solidFill>
              </a:defRPr>
            </a:pPr>
            <a:r>
              <a:rPr sz="1875" b="1">
                <a:solidFill>
                  <a:srgbClr val="EAF2FF"/>
                </a:solidFill>
              </a:rPr>
              <a:t>Management takeaway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7587CE-F19F-4540-BB9C-6961FC15A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81475"/>
            <a:ext cx="102108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1A7BE"/>
                </a:solidFill>
              </a:defRPr>
            </a:pPr>
            <a:r>
              <a:rPr sz="1350" b="0">
                <a:solidFill>
                  <a:srgbClr val="91A7BE"/>
                </a:solidFill>
              </a:rPr>
              <a:t>Demand and revenue are scaling. The priority is to convert that growth into more consistent target delivery and balanced team performance.</a:t>
            </a:r>
          </a:p>
        </p:txBody>
      </p:sp>
    </p:spTree>
    <p:extLst>
      <p:ext uri="{BB962C8B-B14F-4D97-AF65-F5344CB8AC3E}">
        <p14:creationId xmlns:p14="http://schemas.microsoft.com/office/powerpoint/2010/main" val="139390267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B26AACB-A97A-41B9-9EA9-29C244652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C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C8C77F-65F8-45D8-9F49-0CCF9F7A6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AF2FF"/>
                </a:solidFill>
              </a:defRPr>
            </a:pPr>
            <a:r>
              <a:rPr sz="2700" b="1">
                <a:solidFill>
                  <a:srgbClr val="EAF2FF"/>
                </a:solidFill>
              </a:rPr>
              <a:t>The analysis moves from data to management action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438DAF-E2A0-4D56-B1C1-DCF2CFB5A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A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2A62D0-ECD0-4BCE-A139-9333F8AA3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1A7BE"/>
                </a:solidFill>
              </a:defRPr>
            </a:pPr>
            <a:r>
              <a:rPr sz="825" b="0">
                <a:solidFill>
                  <a:srgbClr val="91A7BE"/>
                </a:solidFill>
              </a:rPr>
              <a:t>CRM Sales Analytics | 36-month sample dataset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854B6B-023C-42B9-840A-F2D8D6F74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534150"/>
            <a:ext cx="2343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1A7BE"/>
                </a:solidFill>
              </a:defRPr>
            </a:pPr>
            <a:r>
              <a:rPr sz="825" b="0">
                <a:solidFill>
                  <a:srgbClr val="91A7BE"/>
                </a:solidFill>
              </a:rPr>
              <a:t>Murat Miraç Gedik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5F14A3-8721-4970-B2EB-407B989D4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85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4C7D9"/>
                </a:solidFill>
              </a:defRPr>
            </a:pPr>
            <a:r>
              <a:rPr sz="2550" b="1">
                <a:solidFill>
                  <a:srgbClr val="24C7D9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432842-2E8F-47E3-849E-B6C7B397A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19350"/>
            <a:ext cx="1828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A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E1B5F4-082D-443A-9E97-5D0D1F0F7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57475"/>
            <a:ext cx="1857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AF2FF"/>
                </a:solidFill>
              </a:defRPr>
            </a:pPr>
            <a:r>
              <a:rPr sz="1650" b="1">
                <a:solidFill>
                  <a:srgbClr val="EAF2FF"/>
                </a:solidFill>
              </a:rPr>
              <a:t>Data foundation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065042-A761-464C-B10E-1F4382969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1857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1A7BE"/>
                </a:solidFill>
              </a:defRPr>
            </a:pPr>
            <a:r>
              <a:rPr sz="1275" b="0">
                <a:solidFill>
                  <a:srgbClr val="91A7BE"/>
                </a:solidFill>
              </a:rPr>
              <a:t>36-month CRM data model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A94ECF-16D2-4089-83A3-724B33898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57375"/>
            <a:ext cx="85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4C7D9"/>
                </a:solidFill>
              </a:defRPr>
            </a:pPr>
            <a:r>
              <a:rPr sz="2550" b="1">
                <a:solidFill>
                  <a:srgbClr val="24C7D9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DD43CB-5B5D-4FCF-9A82-301FF88FD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419350"/>
            <a:ext cx="1828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A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9FF436-A974-4280-8292-AC88E2127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657475"/>
            <a:ext cx="1857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AF2FF"/>
                </a:solidFill>
              </a:defRPr>
            </a:pPr>
            <a:r>
              <a:rPr sz="1650" b="1">
                <a:solidFill>
                  <a:srgbClr val="EAF2FF"/>
                </a:solidFill>
              </a:rPr>
              <a:t>Commercial growth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8CD906-8A3C-4C8D-B6D1-10C8C2891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133725"/>
            <a:ext cx="1857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1A7BE"/>
                </a:solidFill>
              </a:defRPr>
            </a:pPr>
            <a:r>
              <a:rPr sz="1275" b="0">
                <a:solidFill>
                  <a:srgbClr val="91A7BE"/>
                </a:solidFill>
              </a:rPr>
              <a:t>Lead, revenue and target trends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ED5CBF-4980-4854-8F45-62F590FEE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857375"/>
            <a:ext cx="85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4C7D9"/>
                </a:solidFill>
              </a:defRPr>
            </a:pPr>
            <a:r>
              <a:rPr sz="2550" b="1">
                <a:solidFill>
                  <a:srgbClr val="24C7D9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9E8825-7B2A-4930-9AD8-121E295C0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19350"/>
            <a:ext cx="1828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A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7A9665-801D-4E15-9C37-082A1547D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657475"/>
            <a:ext cx="1857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AF2FF"/>
                </a:solidFill>
              </a:defRPr>
            </a:pPr>
            <a:r>
              <a:rPr sz="1650" b="1">
                <a:solidFill>
                  <a:srgbClr val="EAF2FF"/>
                </a:solidFill>
              </a:rPr>
              <a:t>Conversion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170DC2-4797-4B96-A900-EB3DAC075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133725"/>
            <a:ext cx="1857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1A7BE"/>
                </a:solidFill>
              </a:defRPr>
            </a:pPr>
            <a:r>
              <a:rPr sz="1275" b="0">
                <a:solidFill>
                  <a:srgbClr val="91A7BE"/>
                </a:solidFill>
              </a:rPr>
              <a:t>Funnel and channel quality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1153AD-7827-4DC7-963D-406B9BCA3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857375"/>
            <a:ext cx="85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4C7D9"/>
                </a:solidFill>
              </a:defRPr>
            </a:pPr>
            <a:r>
              <a:rPr sz="2550" b="1">
                <a:solidFill>
                  <a:srgbClr val="24C7D9"/>
                </a:solidFill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93645B-154F-478D-9EEB-42D2DACDC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419350"/>
            <a:ext cx="1828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A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2E513F-148F-463C-9CFB-D2DC44831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657475"/>
            <a:ext cx="1857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AF2FF"/>
                </a:solidFill>
              </a:defRPr>
            </a:pPr>
            <a:r>
              <a:rPr sz="1650" b="1">
                <a:solidFill>
                  <a:srgbClr val="EAF2FF"/>
                </a:solidFill>
              </a:rPr>
              <a:t>Productivity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A05F20-4B30-4BBC-81CD-00BDF9B19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133725"/>
            <a:ext cx="1857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1A7BE"/>
                </a:solidFill>
              </a:defRPr>
            </a:pPr>
            <a:r>
              <a:rPr sz="1275" b="0">
                <a:solidFill>
                  <a:srgbClr val="91A7BE"/>
                </a:solidFill>
              </a:rPr>
              <a:t>Pipeline and rep performance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311A8E-9152-4016-81FA-695A0FF97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857375"/>
            <a:ext cx="85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9D98A"/>
                </a:solidFill>
              </a:defRPr>
            </a:pPr>
            <a:r>
              <a:rPr sz="2550" b="1">
                <a:solidFill>
                  <a:srgbClr val="39D98A"/>
                </a:solidFill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2657FB-8C8A-4D22-B3BA-52AC53F77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419350"/>
            <a:ext cx="1828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15A0B0-333F-46AA-9624-4FFE3E4D4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657475"/>
            <a:ext cx="1857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AF2FF"/>
                </a:solidFill>
              </a:defRPr>
            </a:pPr>
            <a:r>
              <a:rPr sz="1650" b="1">
                <a:solidFill>
                  <a:srgbClr val="EAF2FF"/>
                </a:solidFill>
              </a:rPr>
              <a:t>Action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80F35D-403B-4A48-931A-C913AB4B0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133725"/>
            <a:ext cx="1857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1A7BE"/>
                </a:solidFill>
              </a:defRPr>
            </a:pPr>
            <a:r>
              <a:rPr sz="1275" b="0">
                <a:solidFill>
                  <a:srgbClr val="91A7BE"/>
                </a:solidFill>
              </a:rPr>
              <a:t>Priorities and governance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6EE91E-1E6E-4FA7-AD93-5C57E2A08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05375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EAF2FF"/>
                </a:solidFill>
              </a:defRPr>
            </a:pPr>
            <a:r>
              <a:rPr sz="1950" b="1">
                <a:solidFill>
                  <a:srgbClr val="EAF2FF"/>
                </a:solidFill>
              </a:rPr>
              <a:t>Objective: not only to report results, but to improve decision quality.</a:t>
            </a:r>
          </a:p>
        </p:txBody>
      </p:sp>
    </p:spTree>
    <p:extLst>
      <p:ext uri="{BB962C8B-B14F-4D97-AF65-F5344CB8AC3E}">
        <p14:creationId xmlns:p14="http://schemas.microsoft.com/office/powerpoint/2010/main" val="12213159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4E60C1B-3C45-4670-897F-CA40E5CAB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C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1B81B6-661E-4331-96EC-1BB9E39D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AF2FF"/>
                </a:solidFill>
              </a:defRPr>
            </a:pPr>
            <a:r>
              <a:rPr sz="2700" b="1">
                <a:solidFill>
                  <a:srgbClr val="EAF2FF"/>
                </a:solidFill>
              </a:rPr>
              <a:t>The project covers the full CRM cycle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124E5F-5FAC-41A4-9FD1-D7DE492CB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A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890147-718F-4D45-AF0D-18717F6CE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1A7BE"/>
                </a:solidFill>
              </a:defRPr>
            </a:pPr>
            <a:r>
              <a:rPr sz="825" b="0">
                <a:solidFill>
                  <a:srgbClr val="91A7BE"/>
                </a:solidFill>
              </a:rPr>
              <a:t>CRM Sales Analytics | 36-month sample dataset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F07684-026B-4190-8217-A4A268AC9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534150"/>
            <a:ext cx="2343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1A7BE"/>
                </a:solidFill>
              </a:defRPr>
            </a:pPr>
            <a:r>
              <a:rPr sz="825" b="0">
                <a:solidFill>
                  <a:srgbClr val="91A7BE"/>
                </a:solidFill>
              </a:rPr>
              <a:t>Murat Miraç Gedik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46A29A-27D4-4D22-A0FC-8897A3115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0020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C7D9"/>
                </a:solidFill>
              </a:defRPr>
            </a:pPr>
            <a:r>
              <a:rPr sz="1800" b="1">
                <a:solidFill>
                  <a:srgbClr val="24C7D9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7C382E-0EA5-47BA-9CC9-FF54BC7B7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811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AF2FF"/>
                </a:solidFill>
              </a:defRPr>
            </a:pPr>
            <a:r>
              <a:rPr sz="1800" b="1">
                <a:solidFill>
                  <a:srgbClr val="EAF2FF"/>
                </a:solidFill>
              </a:rPr>
              <a:t>Demand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BE4429-6B95-413A-9B62-978097300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161925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1A7BE"/>
                </a:solidFill>
              </a:defRPr>
            </a:pPr>
            <a:r>
              <a:rPr sz="1350" b="0">
                <a:solidFill>
                  <a:srgbClr val="91A7BE"/>
                </a:solidFill>
              </a:rPr>
              <a:t>Lead generation and source mix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CDD848-6D3D-428E-943D-FB71D1EB8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85975"/>
            <a:ext cx="619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A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010575-6632-40D4-AC8B-8D0DE24D4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7650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C7D9"/>
                </a:solidFill>
              </a:defRPr>
            </a:pPr>
            <a:r>
              <a:rPr sz="1800" b="1">
                <a:solidFill>
                  <a:srgbClr val="24C7D9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8085C4-AF8A-4F84-90EE-617398CF0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4574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AF2FF"/>
                </a:solidFill>
              </a:defRPr>
            </a:pPr>
            <a:r>
              <a:rPr sz="1800" b="1">
                <a:solidFill>
                  <a:srgbClr val="EAF2FF"/>
                </a:solidFill>
              </a:rPr>
              <a:t>Quality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F1CF96-D244-4959-8CCD-8A4962652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49555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1A7BE"/>
                </a:solidFill>
              </a:defRPr>
            </a:pPr>
            <a:r>
              <a:rPr sz="1350" b="0">
                <a:solidFill>
                  <a:srgbClr val="91A7BE"/>
                </a:solidFill>
              </a:rPr>
              <a:t>Qualification and opportunity conversion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8E8556-BCEC-4C91-A2B3-016997600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962275"/>
            <a:ext cx="619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A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99C4CD-6381-49CD-9D6E-6552127AE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35280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C7D9"/>
                </a:solidFill>
              </a:defRPr>
            </a:pPr>
            <a:r>
              <a:rPr sz="1800" b="1">
                <a:solidFill>
                  <a:srgbClr val="24C7D9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FCF79E-34C7-48E5-873D-D9961668D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3337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AF2FF"/>
                </a:solidFill>
              </a:defRPr>
            </a:pPr>
            <a:r>
              <a:rPr sz="1800" b="1">
                <a:solidFill>
                  <a:srgbClr val="EAF2FF"/>
                </a:solidFill>
              </a:rPr>
              <a:t>Value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A77735-0190-4C1B-9176-42943A762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37185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1A7BE"/>
                </a:solidFill>
              </a:defRPr>
            </a:pPr>
            <a:r>
              <a:rPr sz="1350" b="0">
                <a:solidFill>
                  <a:srgbClr val="91A7BE"/>
                </a:solidFill>
              </a:rPr>
              <a:t>Revenue, target and pipeline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4D65E5-40B4-4BCC-9983-C622CD585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838575"/>
            <a:ext cx="619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A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3C491A-63A6-409B-B803-472B70D79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22910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C7D9"/>
                </a:solidFill>
              </a:defRPr>
            </a:pPr>
            <a:r>
              <a:rPr sz="1800" b="1">
                <a:solidFill>
                  <a:srgbClr val="24C7D9"/>
                </a:solidFill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515809-71CF-4E85-954C-2501EDCF6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2100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AF2FF"/>
                </a:solidFill>
              </a:defRPr>
            </a:pPr>
            <a:r>
              <a:rPr sz="1800" b="1">
                <a:solidFill>
                  <a:srgbClr val="EAF2FF"/>
                </a:solidFill>
              </a:rPr>
              <a:t>Productivity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C3D710-4C3B-4D0F-843C-98DBE617A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24815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1A7BE"/>
                </a:solidFill>
              </a:defRPr>
            </a:pPr>
            <a:r>
              <a:rPr sz="1350" b="0">
                <a:solidFill>
                  <a:srgbClr val="91A7BE"/>
                </a:solidFill>
              </a:rPr>
              <a:t>Win rate and sales cycle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5625BB-00D0-4A86-B7E5-D9C81B794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714875"/>
            <a:ext cx="619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A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3622C8-C99F-4347-A480-4811110E7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10540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C7D9"/>
                </a:solidFill>
              </a:defRPr>
            </a:pPr>
            <a:r>
              <a:rPr sz="1800" b="1">
                <a:solidFill>
                  <a:srgbClr val="24C7D9"/>
                </a:solidFill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528E38-0EB1-4B48-85C3-BC7805F45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0863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AF2FF"/>
                </a:solidFill>
              </a:defRPr>
            </a:pPr>
            <a:r>
              <a:rPr sz="1800" b="1">
                <a:solidFill>
                  <a:srgbClr val="EAF2FF"/>
                </a:solidFill>
              </a:rPr>
              <a:t>Customer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4AB37C-ABDB-4B35-809F-B2523B9BC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12445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1A7BE"/>
                </a:solidFill>
              </a:defRPr>
            </a:pPr>
            <a:r>
              <a:rPr sz="1350" b="0">
                <a:solidFill>
                  <a:srgbClr val="91A7BE"/>
                </a:solidFill>
              </a:rPr>
              <a:t>New customers and churn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18BB0F-872A-4F06-947B-ADB3E9C01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591175"/>
            <a:ext cx="619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A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8A34E2-944F-41A5-B055-F99B42CBF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771650"/>
            <a:ext cx="66675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612109-074B-4419-BA37-455EB359D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771650"/>
            <a:ext cx="2914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AF2FF"/>
                </a:solidFill>
              </a:defRPr>
            </a:pPr>
            <a:r>
              <a:rPr sz="1875" b="1">
                <a:solidFill>
                  <a:srgbClr val="EAF2FF"/>
                </a:solidFill>
              </a:rPr>
              <a:t>Delivery scope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A9AF38C-4A6E-4EB8-B0D9-E9ABCBC0A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238375"/>
            <a:ext cx="2876550" cy="2295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1A7BE"/>
                </a:solidFill>
              </a:defRPr>
            </a:pPr>
            <a:r>
              <a:rPr sz="1350" b="0">
                <a:solidFill>
                  <a:srgbClr val="91A7BE"/>
                </a:solidFill>
              </a:rPr>
              <a:t>Power BI PBIP project, Excel KPI dashboard, Tableau workbook and executive-grade 4K reporting output.</a:t>
            </a:r>
          </a:p>
        </p:txBody>
      </p:sp>
    </p:spTree>
    <p:extLst>
      <p:ext uri="{BB962C8B-B14F-4D97-AF65-F5344CB8AC3E}">
        <p14:creationId xmlns:p14="http://schemas.microsoft.com/office/powerpoint/2010/main" val="125495747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9BF7A6C-972B-473E-8D69-B8E5D7385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C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47E2C5-EF2D-4CC0-AACB-45A3ABAF6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AF2FF"/>
                </a:solidFill>
              </a:defRPr>
            </a:pPr>
            <a:r>
              <a:rPr sz="2700" b="1">
                <a:solidFill>
                  <a:srgbClr val="EAF2FF"/>
                </a:solidFill>
              </a:rPr>
              <a:t>The data foundation is compact and scalable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8B6750-8611-424F-92AB-372A82679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A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4F400A-7CBE-4DC6-B9C3-41CFE0635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1A7BE"/>
                </a:solidFill>
              </a:defRPr>
            </a:pPr>
            <a:r>
              <a:rPr sz="825" b="0">
                <a:solidFill>
                  <a:srgbClr val="91A7BE"/>
                </a:solidFill>
              </a:rPr>
              <a:t>CRM Sales Analytics | 36-month sample dataset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0CAFEF-3CB9-4F48-A62C-6DD8156B0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534150"/>
            <a:ext cx="2343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1A7BE"/>
                </a:solidFill>
              </a:defRPr>
            </a:pPr>
            <a:r>
              <a:rPr sz="825" b="0">
                <a:solidFill>
                  <a:srgbClr val="91A7BE"/>
                </a:solidFill>
              </a:rPr>
              <a:t>Murat Miraç Gedik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98A07B-92A7-4AD4-9C01-8B21B40E2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24C7D9"/>
                </a:solidFill>
              </a:defRPr>
            </a:pPr>
            <a:r>
              <a:rPr sz="3900" b="1">
                <a:solidFill>
                  <a:srgbClr val="24C7D9"/>
                </a:solidFill>
              </a:rPr>
              <a:t>36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9A9BBE-B4F6-4EF8-BE5F-786C35718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1A7BE"/>
                </a:solidFill>
              </a:defRPr>
            </a:pPr>
            <a:r>
              <a:rPr sz="1125" b="1">
                <a:solidFill>
                  <a:srgbClr val="91A7BE"/>
                </a:solidFill>
              </a:rPr>
              <a:t>MONTHS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9C3DFC-218E-4708-BD97-B9161DC3D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762125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39D98A"/>
                </a:solidFill>
              </a:defRPr>
            </a:pPr>
            <a:r>
              <a:rPr sz="3900" b="1">
                <a:solidFill>
                  <a:srgbClr val="39D98A"/>
                </a:solidFill>
              </a:rPr>
              <a:t>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58CAD7-9725-4706-9E9C-2FCE70E8A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4574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1A7BE"/>
                </a:solidFill>
              </a:defRPr>
            </a:pPr>
            <a:r>
              <a:rPr sz="1125" b="1">
                <a:solidFill>
                  <a:srgbClr val="91A7BE"/>
                </a:solidFill>
              </a:rPr>
              <a:t>FACT TABLES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5D08C5-2CA0-4D2F-8C64-909B5B4C7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762125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A78BFA"/>
                </a:solidFill>
              </a:defRPr>
            </a:pPr>
            <a:r>
              <a:rPr sz="3900" b="1">
                <a:solidFill>
                  <a:srgbClr val="A78BFA"/>
                </a:solidFill>
              </a:rPr>
              <a:t>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4E1E99-3B06-4254-A6EE-EDD867676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4574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1A7BE"/>
                </a:solidFill>
              </a:defRPr>
            </a:pPr>
            <a:r>
              <a:rPr sz="1125" b="1">
                <a:solidFill>
                  <a:srgbClr val="91A7BE"/>
                </a:solidFill>
              </a:rPr>
              <a:t>SALES REPS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6C2B57-3B24-4EA1-9A4F-4DF5D9D33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762125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B547"/>
                </a:solidFill>
              </a:defRPr>
            </a:pPr>
            <a:r>
              <a:rPr sz="3900" b="1">
                <a:solidFill>
                  <a:srgbClr val="FFB547"/>
                </a:solidFill>
              </a:rPr>
              <a:t>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0F3071-E330-45AF-9B65-A775C8F63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4574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1A7BE"/>
                </a:solidFill>
              </a:defRPr>
            </a:pPr>
            <a:r>
              <a:rPr sz="1125" b="1">
                <a:solidFill>
                  <a:srgbClr val="91A7BE"/>
                </a:solidFill>
              </a:rPr>
              <a:t>LEAD SOURCES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C9A9B6-DC0B-4DC0-909E-650DE545B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A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117A3D-1901-47A3-8E39-9FC189A2F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666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C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559D6E-A832-423D-91C7-1016096CA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76625"/>
            <a:ext cx="2914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AF2FF"/>
                </a:solidFill>
              </a:defRPr>
            </a:pPr>
            <a:r>
              <a:rPr sz="1875" b="1">
                <a:solidFill>
                  <a:srgbClr val="EAF2FF"/>
                </a:solidFill>
              </a:rPr>
              <a:t>Monthly performance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5A6576-F24C-49D4-A59F-BB098A188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43350"/>
            <a:ext cx="28765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1A7BE"/>
                </a:solidFill>
              </a:defRPr>
            </a:pPr>
            <a:r>
              <a:rPr sz="1350" b="0">
                <a:solidFill>
                  <a:srgbClr val="91A7BE"/>
                </a:solidFill>
              </a:rPr>
              <a:t>Lead, funnel, revenue, pipeline, customer and churn metrics.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22D35F-7199-486F-A3CC-E72A723B8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476625"/>
            <a:ext cx="666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75F6B4-4911-4E28-A103-D98B29B22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476625"/>
            <a:ext cx="2914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AF2FF"/>
                </a:solidFill>
              </a:defRPr>
            </a:pPr>
            <a:r>
              <a:rPr sz="1875" b="1">
                <a:solidFill>
                  <a:srgbClr val="EAF2FF"/>
                </a:solidFill>
              </a:rPr>
              <a:t>Rep performance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FA20D0-C595-4652-9C35-091C0ED2A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943350"/>
            <a:ext cx="28765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1A7BE"/>
                </a:solidFill>
              </a:defRPr>
            </a:pPr>
            <a:r>
              <a:rPr sz="1350" b="0">
                <a:solidFill>
                  <a:srgbClr val="91A7BE"/>
                </a:solidFill>
              </a:rPr>
              <a:t>Revenue, target, win rate, opportunities and sales cycle.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0F5869-C4ED-4C3B-BDA5-DADE82C42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476625"/>
            <a:ext cx="666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5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39D3E9-7995-4AF4-A8CB-03E49CB28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476625"/>
            <a:ext cx="2914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AF2FF"/>
                </a:solidFill>
              </a:defRPr>
            </a:pPr>
            <a:r>
              <a:rPr sz="1875" b="1">
                <a:solidFill>
                  <a:srgbClr val="EAF2FF"/>
                </a:solidFill>
              </a:rPr>
              <a:t>Lead sources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93C49B-5EF2-468E-A5CF-3114B01D4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943350"/>
            <a:ext cx="28765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1A7BE"/>
                </a:solidFill>
              </a:defRPr>
            </a:pPr>
            <a:r>
              <a:rPr sz="1350" b="0">
                <a:solidFill>
                  <a:srgbClr val="91A7BE"/>
                </a:solidFill>
              </a:rPr>
              <a:t>Volume, qualification rate and acquisition spend.</a:t>
            </a:r>
          </a:p>
        </p:txBody>
      </p:sp>
    </p:spTree>
    <p:extLst>
      <p:ext uri="{BB962C8B-B14F-4D97-AF65-F5344CB8AC3E}">
        <p14:creationId xmlns:p14="http://schemas.microsoft.com/office/powerpoint/2010/main" val="79932578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AF6C2E5-90DD-4951-A2A0-193E336FE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C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AEBE19-6B9F-4E19-8B7F-6161FFE27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AF2FF"/>
                </a:solidFill>
              </a:defRPr>
            </a:pPr>
            <a:r>
              <a:rPr sz="2700" b="1">
                <a:solidFill>
                  <a:srgbClr val="EAF2FF"/>
                </a:solidFill>
              </a:rPr>
              <a:t>Calendar provides a common time axis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8B84FD-2FD9-42CB-9C83-3088E165D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A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3D8311-2344-4EE8-B86B-9A223685D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1A7BE"/>
                </a:solidFill>
              </a:defRPr>
            </a:pPr>
            <a:r>
              <a:rPr sz="825" b="0">
                <a:solidFill>
                  <a:srgbClr val="91A7BE"/>
                </a:solidFill>
              </a:rPr>
              <a:t>CRM Sales Analytics | 36-month sample dataset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8CFA0C-1350-4C32-BC2D-441AC43BF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534150"/>
            <a:ext cx="2343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1A7BE"/>
                </a:solidFill>
              </a:defRPr>
            </a:pPr>
            <a:r>
              <a:rPr sz="825" b="0">
                <a:solidFill>
                  <a:srgbClr val="91A7BE"/>
                </a:solidFill>
              </a:rPr>
              <a:t>Murat Miraç Gedik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D0945B-6BFA-42F7-BB18-846A9D3DC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428875"/>
            <a:ext cx="142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C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1CECAC-61AE-4385-AA29-CA8F82DEA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476625"/>
            <a:ext cx="142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C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7B7946-EFAA-4208-A1CA-04EF87D2C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524375"/>
            <a:ext cx="142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C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365398-AD4A-4E99-93B7-209F222D4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67000"/>
            <a:ext cx="3524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5263B"/>
          </a:solidFill>
          <a:ln xmlns:a="http://schemas.openxmlformats.org/drawingml/2006/main" w="9525">
            <a:solidFill>
              <a:srgbClr val="24C7D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33EDED-AA35-44DF-97A7-D8998D6A0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0480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EAF2FF"/>
                </a:solidFill>
              </a:defRPr>
            </a:pPr>
            <a:r>
              <a:rPr sz="2250" b="1">
                <a:solidFill>
                  <a:srgbClr val="EAF2FF"/>
                </a:solidFill>
              </a:rPr>
              <a:t>Calendar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A06711-E460-49F2-96A1-C87304384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5623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91A7BE"/>
                </a:solidFill>
              </a:defRPr>
            </a:pPr>
            <a:r>
              <a:rPr sz="1200" b="0">
                <a:solidFill>
                  <a:srgbClr val="91A7BE"/>
                </a:solidFill>
              </a:rPr>
              <a:t>Date • Month • Year • Sort Keys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D5E76B-1539-44E8-8741-520ABDF58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4238625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01D2E"/>
          </a:solidFill>
          <a:ln xmlns:a="http://schemas.openxmlformats.org/drawingml/2006/main" w="9525">
            <a:solidFill>
              <a:srgbClr val="253A5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37DD01-428F-4A20-8C91-84BDB4561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9526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AF2FF"/>
                </a:solidFill>
              </a:defRPr>
            </a:pPr>
            <a:r>
              <a:rPr sz="1575" b="1">
                <a:solidFill>
                  <a:srgbClr val="EAF2FF"/>
                </a:solidFill>
              </a:rPr>
              <a:t>crm_monthly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EE124D-D866-4858-AC46-33115B779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2669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1A7BE"/>
                </a:solidFill>
              </a:defRPr>
            </a:pPr>
            <a:r>
              <a:rPr sz="1125" b="0">
                <a:solidFill>
                  <a:srgbClr val="91A7BE"/>
                </a:solidFill>
              </a:rPr>
              <a:t>Monthly KPIs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EA5482-43BE-40FC-A165-D0622D676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0669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24C7D9"/>
                </a:solidFill>
              </a:defRPr>
            </a:pPr>
            <a:r>
              <a:rPr sz="1200" b="1">
                <a:solidFill>
                  <a:srgbClr val="24C7D9"/>
                </a:solidFill>
              </a:rPr>
              <a:t>1 → *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5F4CA6-7329-43BD-B375-022C269CB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57500"/>
            <a:ext cx="4238625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01D2E"/>
          </a:solidFill>
          <a:ln xmlns:a="http://schemas.openxmlformats.org/drawingml/2006/main" w="9525">
            <a:solidFill>
              <a:srgbClr val="253A5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B99687-303D-40F3-A789-2E53CAC19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0003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AF2FF"/>
                </a:solidFill>
              </a:defRPr>
            </a:pPr>
            <a:r>
              <a:rPr sz="1575" b="1">
                <a:solidFill>
                  <a:srgbClr val="EAF2FF"/>
                </a:solidFill>
              </a:rPr>
              <a:t>crm_rep_performance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7009D9-82BC-4194-8300-9672951B3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3147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1A7BE"/>
                </a:solidFill>
              </a:defRPr>
            </a:pPr>
            <a:r>
              <a:rPr sz="1125" b="0">
                <a:solidFill>
                  <a:srgbClr val="91A7BE"/>
                </a:solidFill>
              </a:rPr>
              <a:t>Rep performance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14E477-36E1-4A31-8B7A-2DD70971D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11467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24C7D9"/>
                </a:solidFill>
              </a:defRPr>
            </a:pPr>
            <a:r>
              <a:rPr sz="1200" b="1">
                <a:solidFill>
                  <a:srgbClr val="24C7D9"/>
                </a:solidFill>
              </a:rPr>
              <a:t>1 → *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F332C5-54C3-4923-8EA7-6BB6E2D5E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05250"/>
            <a:ext cx="4238625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01D2E"/>
          </a:solidFill>
          <a:ln xmlns:a="http://schemas.openxmlformats.org/drawingml/2006/main" w="9525">
            <a:solidFill>
              <a:srgbClr val="253A5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D451B1-CE87-4EC4-A05B-F25B47F18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0481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AF2FF"/>
                </a:solidFill>
              </a:defRPr>
            </a:pPr>
            <a:r>
              <a:rPr sz="1575" b="1">
                <a:solidFill>
                  <a:srgbClr val="EAF2FF"/>
                </a:solidFill>
              </a:rPr>
              <a:t>crm_lead_sources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0A34EB-04A6-4E7E-AEEE-EE1F1A6AA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3624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1A7BE"/>
                </a:solidFill>
              </a:defRPr>
            </a:pPr>
            <a:r>
              <a:rPr sz="1125" b="0">
                <a:solidFill>
                  <a:srgbClr val="91A7BE"/>
                </a:solidFill>
              </a:rPr>
              <a:t>Channel performance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C26F29-49E0-4D09-8268-8112036BF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1624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24C7D9"/>
                </a:solidFill>
              </a:defRPr>
            </a:pPr>
            <a:r>
              <a:rPr sz="1200" b="1">
                <a:solidFill>
                  <a:srgbClr val="24C7D9"/>
                </a:solidFill>
              </a:rPr>
              <a:t>1 → *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0B0A55-4C4B-4274-AE94-A68C5D236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53000"/>
            <a:ext cx="9191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9D98A"/>
                </a:solidFill>
              </a:defRPr>
            </a:pPr>
            <a:r>
              <a:rPr sz="1650" b="1">
                <a:solidFill>
                  <a:srgbClr val="39D98A"/>
                </a:solidFill>
              </a:rPr>
              <a:t>Single-direction filtering supports consistent KPIs and reliable time intelligence.</a:t>
            </a:r>
          </a:p>
        </p:txBody>
      </p:sp>
    </p:spTree>
    <p:extLst>
      <p:ext uri="{BB962C8B-B14F-4D97-AF65-F5344CB8AC3E}">
        <p14:creationId xmlns:p14="http://schemas.microsoft.com/office/powerpoint/2010/main" val="42636031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A337047-CA22-467A-BC5C-FD964AC89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C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7470BB-25DB-4B2F-874E-14881E657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AF2FF"/>
                </a:solidFill>
              </a:defRPr>
            </a:pPr>
            <a:r>
              <a:rPr sz="2700" b="1">
                <a:solidFill>
                  <a:srgbClr val="EAF2FF"/>
                </a:solidFill>
              </a:rPr>
              <a:t>The KPI system answers four management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F1E16E-9BCA-4CA4-8A90-4999DDD04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A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E14991-2CE5-46BA-BE12-557E76D73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1A7BE"/>
                </a:solidFill>
              </a:defRPr>
            </a:pPr>
            <a:r>
              <a:rPr sz="825" b="0">
                <a:solidFill>
                  <a:srgbClr val="91A7BE"/>
                </a:solidFill>
              </a:rPr>
              <a:t>CRM Sales Analytics | 36-month sample dataset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EA74AE-8DCA-4593-A17F-7DCBFB4AD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534150"/>
            <a:ext cx="2343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1A7BE"/>
                </a:solidFill>
              </a:defRPr>
            </a:pPr>
            <a:r>
              <a:rPr sz="825" b="0">
                <a:solidFill>
                  <a:srgbClr val="91A7BE"/>
                </a:solidFill>
              </a:rPr>
              <a:t>Murat Miraç Gedik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D1764D-49D7-4268-BA26-FF15814EE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762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C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71C1D8-5EB2-4E37-B3E9-4ACB9CEAE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71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C7D9"/>
                </a:solidFill>
              </a:defRPr>
            </a:pPr>
            <a:r>
              <a:rPr sz="1500" b="1">
                <a:solidFill>
                  <a:srgbClr val="24C7D9"/>
                </a:solidFill>
              </a:rPr>
              <a:t>DEMAND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F5A025-36D9-4E26-9D56-91DC1B31B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71625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AF2FF"/>
                </a:solidFill>
              </a:defRPr>
            </a:pPr>
            <a:r>
              <a:rPr sz="1800" b="1">
                <a:solidFill>
                  <a:srgbClr val="EAF2FF"/>
                </a:solidFill>
              </a:rPr>
              <a:t>How much interest do we create?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476D4F-E714-48A6-B514-57AABAC20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590675"/>
            <a:ext cx="4000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1A7BE"/>
                </a:solidFill>
              </a:defRPr>
            </a:pPr>
            <a:r>
              <a:rPr sz="1275" b="0">
                <a:solidFill>
                  <a:srgbClr val="91A7BE"/>
                </a:solidFill>
              </a:rPr>
              <a:t>New Leads • Lead Target • Source Share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6403E8-4F42-4251-8AAA-CB93647A1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14575"/>
            <a:ext cx="10239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A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09D2FF-AC33-4A03-BD11-E9BCB5B39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38425"/>
            <a:ext cx="762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9CE3E1-67C4-452E-83C0-28452E83D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384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78BFA"/>
                </a:solidFill>
              </a:defRPr>
            </a:pPr>
            <a:r>
              <a:rPr sz="1500" b="1">
                <a:solidFill>
                  <a:srgbClr val="A78BFA"/>
                </a:solidFill>
              </a:rPr>
              <a:t>CONVERSION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4ED4F4-1395-4AA3-9C51-4FDA89EF5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38425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AF2FF"/>
                </a:solidFill>
              </a:defRPr>
            </a:pPr>
            <a:r>
              <a:rPr sz="1800" b="1">
                <a:solidFill>
                  <a:srgbClr val="EAF2FF"/>
                </a:solidFill>
              </a:rPr>
              <a:t>How efficiently do leads progress?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CD82FB-9D7D-4CF8-9656-C21D368FD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57475"/>
            <a:ext cx="4000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1A7BE"/>
                </a:solidFill>
              </a:defRPr>
            </a:pPr>
            <a:r>
              <a:rPr sz="1275" b="0">
                <a:solidFill>
                  <a:srgbClr val="91A7BE"/>
                </a:solidFill>
              </a:rPr>
              <a:t>Qualification • Opportunity • Win Rate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F00CA9-32FE-4CDA-B9FC-A3A1E0D13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381375"/>
            <a:ext cx="10239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A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D8FD08-8E5C-481C-92C7-CF6B00A18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05225"/>
            <a:ext cx="762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47907A-9326-4913-94D7-FE70AB870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052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9D98A"/>
                </a:solidFill>
              </a:defRPr>
            </a:pPr>
            <a:r>
              <a:rPr sz="1500" b="1">
                <a:solidFill>
                  <a:srgbClr val="39D98A"/>
                </a:solidFill>
              </a:rPr>
              <a:t>VALUE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E5A204-579E-4D6F-B182-B6B8A36C2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705225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AF2FF"/>
                </a:solidFill>
              </a:defRPr>
            </a:pPr>
            <a:r>
              <a:rPr sz="1800" b="1">
                <a:solidFill>
                  <a:srgbClr val="EAF2FF"/>
                </a:solidFill>
              </a:rPr>
              <a:t>How much revenue does conversion create?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DB3A0F-D80F-4116-AEB2-D9A1B2C75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24275"/>
            <a:ext cx="4000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1A7BE"/>
                </a:solidFill>
              </a:defRPr>
            </a:pPr>
            <a:r>
              <a:rPr sz="1275" b="0">
                <a:solidFill>
                  <a:srgbClr val="91A7BE"/>
                </a:solidFill>
              </a:rPr>
              <a:t>Won Revenue • Pipeline • Avg Deal Size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E9B153-E741-4E6B-8187-99FC55964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448175"/>
            <a:ext cx="10239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A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D02BD5-3188-4828-A02E-410F2D9C7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72025"/>
            <a:ext cx="762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5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0AB749-7E4E-4CF4-B9B8-3B9A8D71D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720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B547"/>
                </a:solidFill>
              </a:defRPr>
            </a:pPr>
            <a:r>
              <a:rPr sz="1500" b="1">
                <a:solidFill>
                  <a:srgbClr val="FFB547"/>
                </a:solidFill>
              </a:rPr>
              <a:t>VELOCITY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3FE52A-D9B3-496A-8F9F-2979C316A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772025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AF2FF"/>
                </a:solidFill>
              </a:defRPr>
            </a:pPr>
            <a:r>
              <a:rPr sz="1800" b="1">
                <a:solidFill>
                  <a:srgbClr val="EAF2FF"/>
                </a:solidFill>
              </a:rPr>
              <a:t>How quickly do we reach revenue?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53DB6B-4519-433B-82EB-81964F21F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791075"/>
            <a:ext cx="4000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1A7BE"/>
                </a:solidFill>
              </a:defRPr>
            </a:pPr>
            <a:r>
              <a:rPr sz="1275" b="0">
                <a:solidFill>
                  <a:srgbClr val="91A7BE"/>
                </a:solidFill>
              </a:rPr>
              <a:t>Sales Cycle • Churn • Target Attainment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02E260-414D-4F4B-9E0E-7AB1EFCB6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514975"/>
            <a:ext cx="10239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A52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52577800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866B6E7-7586-4223-AC2E-5482DC1D8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C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3FF672-A5D7-45B8-9823-903E73908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AF2FF"/>
                </a:solidFill>
              </a:defRPr>
            </a:pPr>
            <a:r>
              <a:rPr sz="2700" b="1">
                <a:solidFill>
                  <a:srgbClr val="EAF2FF"/>
                </a:solidFill>
              </a:rPr>
              <a:t>Data flows from source to executive reporting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025F04-89F5-4AF0-A3B7-45C5E0471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A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B0DE04-DF86-407D-83B7-BD852442B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1A7BE"/>
                </a:solidFill>
              </a:defRPr>
            </a:pPr>
            <a:r>
              <a:rPr sz="825" b="0">
                <a:solidFill>
                  <a:srgbClr val="91A7BE"/>
                </a:solidFill>
              </a:rPr>
              <a:t>CRM Sales Analytics | 36-month sample dataset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6B9CA7-7571-4ACF-8ACD-EFF607D7B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534150"/>
            <a:ext cx="2343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1A7BE"/>
                </a:solidFill>
              </a:defRPr>
            </a:pPr>
            <a:r>
              <a:rPr sz="825" b="0">
                <a:solidFill>
                  <a:srgbClr val="91A7BE"/>
                </a:solidFill>
              </a:rPr>
              <a:t>Murat Miraç Gedik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C79AD4-2589-4394-AF32-81B9337B6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781300"/>
            <a:ext cx="590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A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2836FB-F67E-4778-961D-D61055C12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6212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C7D9"/>
                </a:solidFill>
              </a:defRPr>
            </a:pPr>
            <a:r>
              <a:rPr sz="1350" b="1">
                <a:solidFill>
                  <a:srgbClr val="24C7D9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7E5EEF-1AA5-45BD-B60C-B1BB630D9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90750"/>
            <a:ext cx="17335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01D2E"/>
          </a:solidFill>
          <a:ln xmlns:a="http://schemas.openxmlformats.org/drawingml/2006/main" w="9525">
            <a:solidFill>
              <a:srgbClr val="253A5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8E60DA-D0E5-4875-AE11-F8DCAB16C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28875"/>
            <a:ext cx="1447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AF2FF"/>
                </a:solidFill>
              </a:defRPr>
            </a:pPr>
            <a:r>
              <a:rPr sz="1650" b="1">
                <a:solidFill>
                  <a:srgbClr val="EAF2FF"/>
                </a:solidFill>
              </a:rPr>
              <a:t>Excel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ABC669-2397-4047-8E92-745E69C52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914650"/>
            <a:ext cx="142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91A7BE"/>
                </a:solidFill>
              </a:defRPr>
            </a:pPr>
            <a:r>
              <a:rPr sz="1050" b="0">
                <a:solidFill>
                  <a:srgbClr val="91A7BE"/>
                </a:solidFill>
              </a:rPr>
              <a:t>Data preparation and quality control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27003C-5C96-4E13-81A1-97E26FEA6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781300"/>
            <a:ext cx="590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A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211A6D-F59D-47A1-A09D-06FEF156C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76212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C7D9"/>
                </a:solidFill>
              </a:defRPr>
            </a:pPr>
            <a:r>
              <a:rPr sz="1350" b="1">
                <a:solidFill>
                  <a:srgbClr val="24C7D9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43F8A4-4D36-44AE-8FC8-F21AFC7F2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190750"/>
            <a:ext cx="17335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01D2E"/>
          </a:solidFill>
          <a:ln xmlns:a="http://schemas.openxmlformats.org/drawingml/2006/main" w="9525">
            <a:solidFill>
              <a:srgbClr val="253A5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68B1E3-2F17-4F1B-B250-EF14A18AA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428875"/>
            <a:ext cx="1447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AF2FF"/>
                </a:solidFill>
              </a:defRPr>
            </a:pPr>
            <a:r>
              <a:rPr sz="1650" b="1">
                <a:solidFill>
                  <a:srgbClr val="EAF2FF"/>
                </a:solidFill>
              </a:rPr>
              <a:t>Power Query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908FDB-D88D-49FC-AD8A-ADF5577D8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914650"/>
            <a:ext cx="142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91A7BE"/>
                </a:solidFill>
              </a:defRPr>
            </a:pPr>
            <a:r>
              <a:rPr sz="1050" b="0">
                <a:solidFill>
                  <a:srgbClr val="91A7BE"/>
                </a:solidFill>
              </a:rPr>
              <a:t>Transformation and standardization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147570-1126-4DAA-943F-9E09A83B9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781300"/>
            <a:ext cx="590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A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8EEEBA-62C0-416F-B60B-5EBF327EA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176212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C7D9"/>
                </a:solidFill>
              </a:defRPr>
            </a:pPr>
            <a:r>
              <a:rPr sz="1350" b="1">
                <a:solidFill>
                  <a:srgbClr val="24C7D9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829658-9C2A-4B7E-851B-D75F59A7A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2190750"/>
            <a:ext cx="17335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01D2E"/>
          </a:solidFill>
          <a:ln xmlns:a="http://schemas.openxmlformats.org/drawingml/2006/main" w="9525">
            <a:solidFill>
              <a:srgbClr val="39D98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E5D6CA-7236-4B87-B906-5B861ACA3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428875"/>
            <a:ext cx="1447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9D98A"/>
                </a:solidFill>
              </a:defRPr>
            </a:pPr>
            <a:r>
              <a:rPr sz="1650" b="1">
                <a:solidFill>
                  <a:srgbClr val="39D98A"/>
                </a:solidFill>
              </a:rPr>
              <a:t>Power BI + DAX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BF52CE-D356-4544-9284-4C8A72FD9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914650"/>
            <a:ext cx="142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91A7BE"/>
                </a:solidFill>
              </a:defRPr>
            </a:pPr>
            <a:r>
              <a:rPr sz="1050" b="0">
                <a:solidFill>
                  <a:srgbClr val="91A7BE"/>
                </a:solidFill>
              </a:rPr>
              <a:t>Model, KPIs and interactive analysis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DF3322-6F63-42C5-ABC9-D59AC23DE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781300"/>
            <a:ext cx="590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A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7D38D1-2153-4765-A746-CF6B4BBDD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176212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C7D9"/>
                </a:solidFill>
              </a:defRPr>
            </a:pPr>
            <a:r>
              <a:rPr sz="1350" b="1">
                <a:solidFill>
                  <a:srgbClr val="24C7D9"/>
                </a:solidFill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3CA401-39CB-4B49-B504-B80CDC6EC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190750"/>
            <a:ext cx="17335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01D2E"/>
          </a:solidFill>
          <a:ln xmlns:a="http://schemas.openxmlformats.org/drawingml/2006/main" w="9525">
            <a:solidFill>
              <a:srgbClr val="253A5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82E235-4F6B-4E4D-80ED-4447E8792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2428875"/>
            <a:ext cx="1447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AF2FF"/>
                </a:solidFill>
              </a:defRPr>
            </a:pPr>
            <a:r>
              <a:rPr sz="1650" b="1">
                <a:solidFill>
                  <a:srgbClr val="EAF2FF"/>
                </a:solidFill>
              </a:rPr>
              <a:t>Tableau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69A893-01D3-4D11-AA24-E8BE23869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914650"/>
            <a:ext cx="142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91A7BE"/>
                </a:solidFill>
              </a:defRPr>
            </a:pPr>
            <a:r>
              <a:rPr sz="1050" b="0">
                <a:solidFill>
                  <a:srgbClr val="91A7BE"/>
                </a:solidFill>
              </a:rPr>
              <a:t>Cross-platform visualization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DA90E9B-2D76-4A13-9B0D-9FD0E3623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176212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C7D9"/>
                </a:solidFill>
              </a:defRPr>
            </a:pPr>
            <a:r>
              <a:rPr sz="1350" b="1">
                <a:solidFill>
                  <a:srgbClr val="24C7D9"/>
                </a:solidFill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FCB7BBA-D424-42DE-8A85-787D9BAD2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2190750"/>
            <a:ext cx="17335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01D2E"/>
          </a:solidFill>
          <a:ln xmlns:a="http://schemas.openxmlformats.org/drawingml/2006/main" w="9525">
            <a:solidFill>
              <a:srgbClr val="253A5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BBF0830-52D9-448A-B0EE-396C06351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428875"/>
            <a:ext cx="1447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AF2FF"/>
                </a:solidFill>
              </a:defRPr>
            </a:pPr>
            <a:r>
              <a:rPr sz="1650" b="1">
                <a:solidFill>
                  <a:srgbClr val="EAF2FF"/>
                </a:solidFill>
              </a:rPr>
              <a:t>PowerPoint + PDF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9519CC4-760C-42D3-B7FA-C0F9E1857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914650"/>
            <a:ext cx="142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91A7BE"/>
                </a:solidFill>
              </a:defRPr>
            </a:pPr>
            <a:r>
              <a:rPr sz="1050" b="0">
                <a:solidFill>
                  <a:srgbClr val="91A7BE"/>
                </a:solidFill>
              </a:rPr>
              <a:t>Executive communication and sharing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6CBB2E6-1454-48BD-929C-EDEE2738D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333875"/>
            <a:ext cx="666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F1CD5AE-858D-41BE-8D71-89AD1F179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333875"/>
            <a:ext cx="7200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AF2FF"/>
                </a:solidFill>
              </a:defRPr>
            </a:pPr>
            <a:r>
              <a:rPr sz="1875" b="1">
                <a:solidFill>
                  <a:srgbClr val="EAF2FF"/>
                </a:solidFill>
              </a:rPr>
              <a:t>One source, multiple outputs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9FA8237-6224-4305-95E6-E39A03F64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800600"/>
            <a:ext cx="716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1A7BE"/>
                </a:solidFill>
              </a:defRPr>
            </a:pPr>
            <a:r>
              <a:rPr sz="1350" b="0">
                <a:solidFill>
                  <a:srgbClr val="91A7BE"/>
                </a:solidFill>
              </a:rPr>
              <a:t>The same metric definitions produce consistent outcomes across platforms.</a:t>
            </a:r>
          </a:p>
        </p:txBody>
      </p:sp>
    </p:spTree>
    <p:extLst>
      <p:ext uri="{BB962C8B-B14F-4D97-AF65-F5344CB8AC3E}">
        <p14:creationId xmlns:p14="http://schemas.microsoft.com/office/powerpoint/2010/main" val="163909985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3C0BEBD-64EB-430C-9ED0-A1761CDC5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C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CBA04E-7A21-406C-95DB-88B2B2140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AF2FF"/>
                </a:solidFill>
              </a:defRPr>
            </a:pPr>
            <a:r>
              <a:rPr sz="2700" b="1">
                <a:solidFill>
                  <a:srgbClr val="EAF2FF"/>
                </a:solidFill>
              </a:rPr>
              <a:t>One business logic across three BI environments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774AF8-953D-46AA-91A1-4CDAC1551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A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2CE40E-A43E-4E4D-9B8D-80F798FB7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1A7BE"/>
                </a:solidFill>
              </a:defRPr>
            </a:pPr>
            <a:r>
              <a:rPr sz="825" b="0">
                <a:solidFill>
                  <a:srgbClr val="91A7BE"/>
                </a:solidFill>
              </a:rPr>
              <a:t>CRM Sales Analytics | 36-month sample dataset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E384F3-F2D5-4DFA-8EB1-B9EA8CA96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534150"/>
            <a:ext cx="2343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1A7BE"/>
                </a:solidFill>
              </a:defRPr>
            </a:pPr>
            <a:r>
              <a:rPr sz="825" b="0">
                <a:solidFill>
                  <a:srgbClr val="91A7BE"/>
                </a:solidFill>
              </a:rPr>
              <a:t>Murat Miraç Gedik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44300D-1DB6-4CAD-A57F-C1D813C5D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76375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4C7D9"/>
                </a:solidFill>
              </a:defRPr>
            </a:pPr>
            <a:r>
              <a:rPr sz="1650" b="1">
                <a:solidFill>
                  <a:srgbClr val="24C7D9"/>
                </a:solidFill>
              </a:rPr>
              <a:t>Power BI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71789f79f240a8"/>
          <a:stretch xmlns:a="http://schemas.openxmlformats.org/drawingml/2006/main"/>
        </p:blipFill>
        <p:spPr>
          <a:xfrm xmlns:a="http://schemas.openxmlformats.org/drawingml/2006/main">
            <a:off x="652463" y="1857375"/>
            <a:ext cx="5181600" cy="2914650"/>
          </a:xfrm>
          <a:prstGeom xmlns:a="http://schemas.openxmlformats.org/drawingml/2006/main" prst="roundRect">
            <a:avLst>
              <a:gd name="adj" fmla="val 3922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E17ACB-3E4F-4837-B5C3-4FE6F8F34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14900"/>
            <a:ext cx="519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1A7BE"/>
                </a:solidFill>
              </a:defRPr>
            </a:pPr>
            <a:r>
              <a:rPr sz="1200" b="0">
                <a:solidFill>
                  <a:srgbClr val="91A7BE"/>
                </a:solidFill>
              </a:rPr>
              <a:t>Interactive analysis and DAX-based KPI model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B6BA33-B788-4FED-AF82-A8B7B8998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76375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9D98A"/>
                </a:solidFill>
              </a:defRPr>
            </a:pPr>
            <a:r>
              <a:rPr sz="1650" b="1">
                <a:solidFill>
                  <a:srgbClr val="39D98A"/>
                </a:solidFill>
              </a:rPr>
              <a:t>Excel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47ca571e334ec1"/>
          <a:stretch xmlns:a="http://schemas.openxmlformats.org/drawingml/2006/main"/>
        </p:blipFill>
        <p:spPr>
          <a:xfrm xmlns:a="http://schemas.openxmlformats.org/drawingml/2006/main">
            <a:off x="7011465" y="1857375"/>
            <a:ext cx="3931696" cy="2914650"/>
          </a:xfrm>
          <a:prstGeom xmlns:a="http://schemas.openxmlformats.org/drawingml/2006/main" prst="roundRect">
            <a:avLst>
              <a:gd name="adj" fmla="val 3922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1BAC9F-826F-48E2-AE0D-C83663043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914900"/>
            <a:ext cx="519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1A7BE"/>
                </a:solidFill>
              </a:defRPr>
            </a:pPr>
            <a:r>
              <a:rPr sz="1200" b="0">
                <a:solidFill>
                  <a:srgbClr val="91A7BE"/>
                </a:solidFill>
              </a:rPr>
              <a:t>Auditable data foundation and executive dashboard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5E97EA-825D-4EAB-A71F-6C8E87C1C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619750"/>
            <a:ext cx="876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B547"/>
                </a:solidFill>
              </a:defRPr>
            </a:pPr>
            <a:r>
              <a:rPr sz="1650" b="1">
                <a:solidFill>
                  <a:srgbClr val="FFB547"/>
                </a:solidFill>
              </a:rPr>
              <a:t>The Tableau output validates portability using the same source tables.</a:t>
            </a:r>
          </a:p>
        </p:txBody>
      </p:sp>
    </p:spTree>
    <p:extLst>
      <p:ext uri="{BB962C8B-B14F-4D97-AF65-F5344CB8AC3E}">
        <p14:creationId xmlns:p14="http://schemas.microsoft.com/office/powerpoint/2010/main" val="170551224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8157F74-E027-4D4B-89E1-E85D8574D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C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AC7D1C-AD67-4ED5-911E-04FD60FA7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AF2FF"/>
                </a:solidFill>
              </a:defRPr>
            </a:pPr>
            <a:r>
              <a:rPr sz="2700" b="1">
                <a:solidFill>
                  <a:srgbClr val="EAF2FF"/>
                </a:solidFill>
              </a:rPr>
              <a:t>Revenue grew 32% while lead volume expanded 24%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D6331F-D0C2-44FB-AA9F-9C5751A60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A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6B5B70-913E-4276-BA13-EA666EA02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1A7BE"/>
                </a:solidFill>
              </a:defRPr>
            </a:pPr>
            <a:r>
              <a:rPr sz="825" b="0">
                <a:solidFill>
                  <a:srgbClr val="91A7BE"/>
                </a:solidFill>
              </a:rPr>
              <a:t>CRM Sales Analytics | 36-month sample dataset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AB50E3-E2DC-4F6B-9679-6C018C9B2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534150"/>
            <a:ext cx="2343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1A7BE"/>
                </a:solidFill>
              </a:defRPr>
            </a:pPr>
            <a:r>
              <a:rPr sz="825" b="0">
                <a:solidFill>
                  <a:srgbClr val="91A7BE"/>
                </a:solidFill>
              </a:rPr>
              <a:t>Murat Miraç Gedik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647700" y="1571625"/>
          <a:ext xmlns:a="http://schemas.openxmlformats.org/drawingml/2006/main" cx="78105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4f47a5099e34ea5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D95CB1-853B-4E94-81EE-226614703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952625"/>
            <a:ext cx="666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96FB17-758A-45CD-8A83-A8303C5EF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952625"/>
            <a:ext cx="2247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AF2FF"/>
                </a:solidFill>
              </a:defRPr>
            </a:pPr>
            <a:r>
              <a:rPr sz="1875" b="1">
                <a:solidFill>
                  <a:srgbClr val="EAF2FF"/>
                </a:solidFill>
              </a:rPr>
              <a:t>Revenue scale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4F09DE-D789-4E42-ADDC-AEDD4D9AF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419350"/>
            <a:ext cx="22098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1A7BE"/>
                </a:solidFill>
              </a:defRPr>
            </a:pPr>
            <a:r>
              <a:rPr sz="1350" b="0">
                <a:solidFill>
                  <a:srgbClr val="91A7BE"/>
                </a:solidFill>
              </a:rPr>
              <a:t>2024: TL 21.0M</a:t>
            </a:r>
          </a:p>
          <a:p xmlns:a="http://schemas.openxmlformats.org/drawingml/2006/main">
            <a:pPr algn="l">
              <a:defRPr sz="1350" b="0">
                <a:solidFill>
                  <a:srgbClr val="91A7BE"/>
                </a:solidFill>
              </a:defRPr>
            </a:pPr>
            <a:r>
              <a:rPr sz="1350" b="0">
                <a:solidFill>
                  <a:srgbClr val="91A7BE"/>
                </a:solidFill>
              </a:rPr>
              <a:t>2026: TL 27.8M</a:t>
            </a:r>
          </a:p>
          <a:p xmlns:a="http://schemas.openxmlformats.org/drawingml/2006/main">
            <a:pPr algn="l">
              <a:defRPr sz="1350" b="0">
                <a:solidFill>
                  <a:srgbClr val="91A7BE"/>
                </a:solidFill>
              </a:defRPr>
            </a:pPr>
            <a:r>
              <a:rPr sz="1350" b="0">
                <a:solidFill>
                  <a:srgbClr val="91A7BE"/>
                </a:solidFill>
              </a:rPr>
              <a:t>Growth: +32.1%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9491DD-80DF-4372-A6FE-75767C7AD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905250"/>
            <a:ext cx="666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C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C7695F-7EA3-4F1D-A053-A970FDE10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905250"/>
            <a:ext cx="2247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AF2FF"/>
                </a:solidFill>
              </a:defRPr>
            </a:pPr>
            <a:r>
              <a:rPr sz="1875" b="1">
                <a:solidFill>
                  <a:srgbClr val="EAF2FF"/>
                </a:solidFill>
              </a:rPr>
              <a:t>Demand scale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ADADD4-436F-4BDC-8104-1EA40980D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371975"/>
            <a:ext cx="22098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1A7BE"/>
                </a:solidFill>
              </a:defRPr>
            </a:pPr>
            <a:r>
              <a:rPr sz="1350" b="0">
                <a:solidFill>
                  <a:srgbClr val="91A7BE"/>
                </a:solidFill>
              </a:rPr>
              <a:t>2024: 14,675 leads</a:t>
            </a:r>
          </a:p>
          <a:p xmlns:a="http://schemas.openxmlformats.org/drawingml/2006/main">
            <a:pPr algn="l">
              <a:defRPr sz="1350" b="0">
                <a:solidFill>
                  <a:srgbClr val="91A7BE"/>
                </a:solidFill>
              </a:defRPr>
            </a:pPr>
            <a:r>
              <a:rPr sz="1350" b="0">
                <a:solidFill>
                  <a:srgbClr val="91A7BE"/>
                </a:solidFill>
              </a:rPr>
              <a:t>2026: 18,206 leads</a:t>
            </a:r>
          </a:p>
          <a:p xmlns:a="http://schemas.openxmlformats.org/drawingml/2006/main">
            <a:pPr algn="l">
              <a:defRPr sz="1350" b="0">
                <a:solidFill>
                  <a:srgbClr val="91A7BE"/>
                </a:solidFill>
              </a:defRPr>
            </a:pPr>
            <a:r>
              <a:rPr sz="1350" b="0">
                <a:solidFill>
                  <a:srgbClr val="91A7BE"/>
                </a:solidFill>
              </a:rPr>
              <a:t>Growth: +24.1%</a:t>
            </a:r>
          </a:p>
        </p:txBody>
      </p:sp>
    </p:spTree>
    <p:extLst>
      <p:ext uri="{BB962C8B-B14F-4D97-AF65-F5344CB8AC3E}">
        <p14:creationId xmlns:p14="http://schemas.microsoft.com/office/powerpoint/2010/main" val="122429148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0A920C1-A142-4F31-8182-D69CD19F1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C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FD4A81-2E77-4B49-827E-4A4618567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AF2FF"/>
                </a:solidFill>
              </a:defRPr>
            </a:pPr>
            <a:r>
              <a:rPr sz="2700" b="1">
                <a:solidFill>
                  <a:srgbClr val="EAF2FF"/>
                </a:solidFill>
              </a:rPr>
              <a:t>2026 growth partially recovered the 2025 target gap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0D2D3C-E05B-4B6A-8022-899FBE15D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A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0A893C-1C12-4422-88EF-4EF856A45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1A7BE"/>
                </a:solidFill>
              </a:defRPr>
            </a:pPr>
            <a:r>
              <a:rPr sz="825" b="0">
                <a:solidFill>
                  <a:srgbClr val="91A7BE"/>
                </a:solidFill>
              </a:rPr>
              <a:t>CRM Sales Analytics | 36-month sample dataset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983E10-2B53-48B3-B232-B39B7F396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534150"/>
            <a:ext cx="2343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1A7BE"/>
                </a:solidFill>
              </a:defRPr>
            </a:pPr>
            <a:r>
              <a:rPr sz="825" b="0">
                <a:solidFill>
                  <a:srgbClr val="91A7BE"/>
                </a:solidFill>
              </a:rPr>
              <a:t>Murat Miraç Gedik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85800" y="1809750"/>
          <a:ext xmlns:a="http://schemas.openxmlformats.org/drawingml/2006/main" cx="10820400" cy="2286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147618"/>
                <a:gridCol w="1803400"/>
                <a:gridCol w="1967345"/>
                <a:gridCol w="1967345"/>
                <a:gridCol w="1967345"/>
                <a:gridCol w="1967345"/>
              </a:tblGrid>
              <a:tr h="5715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EAF2FF"/>
                          </a:solidFill>
                        </a:rPr>
                        <a:t>Year</a:t>
                      </a:r>
                    </a:p>
                  </a:txBody>
                  <a:tcPr marL="95250" marR="95250" marT="66675" marB="66675">
                    <a:solidFill>
                      <a:srgbClr val="1526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EAF2FF"/>
                          </a:solidFill>
                        </a:rPr>
                        <a:t>Leads</a:t>
                      </a:r>
                    </a:p>
                  </a:txBody>
                  <a:tcPr marL="95250" marR="95250" marT="66675" marB="66675">
                    <a:solidFill>
                      <a:srgbClr val="1526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EAF2FF"/>
                          </a:solidFill>
                        </a:rPr>
                        <a:t>Revenue</a:t>
                      </a:r>
                    </a:p>
                  </a:txBody>
                  <a:tcPr marL="95250" marR="95250" marT="66675" marB="66675">
                    <a:solidFill>
                      <a:srgbClr val="1526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EAF2FF"/>
                          </a:solidFill>
                        </a:rPr>
                        <a:t>Target</a:t>
                      </a:r>
                    </a:p>
                  </a:txBody>
                  <a:tcPr marL="95250" marR="95250" marT="66675" marB="66675">
                    <a:solidFill>
                      <a:srgbClr val="1526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EAF2FF"/>
                          </a:solidFill>
                        </a:rPr>
                        <a:t>Attainment</a:t>
                      </a:r>
                    </a:p>
                  </a:txBody>
                  <a:tcPr marL="95250" marR="95250" marT="66675" marB="66675">
                    <a:solidFill>
                      <a:srgbClr val="1526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EAF2FF"/>
                          </a:solidFill>
                        </a:rPr>
                        <a:t>Won Deals</a:t>
                      </a:r>
                    </a:p>
                  </a:txBody>
                  <a:tcPr marL="95250" marR="95250" marT="66675" marB="66675">
                    <a:solidFill>
                      <a:srgbClr val="15263B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AF2FF"/>
                          </a:solidFill>
                        </a:rPr>
                        <a:t>2024</a:t>
                      </a:r>
                    </a:p>
                  </a:txBody>
                  <a:tcPr marL="95250" marR="95250" marT="66675" marB="66675">
                    <a:solidFill>
                      <a:srgbClr val="10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AF2FF"/>
                          </a:solidFill>
                        </a:rPr>
                        <a:t>14,675</a:t>
                      </a:r>
                    </a:p>
                  </a:txBody>
                  <a:tcPr marL="95250" marR="95250" marT="66675" marB="66675">
                    <a:solidFill>
                      <a:srgbClr val="10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AF2FF"/>
                          </a:solidFill>
                        </a:rPr>
                        <a:t>TL 21.0M</a:t>
                      </a:r>
                    </a:p>
                  </a:txBody>
                  <a:tcPr marL="95250" marR="95250" marT="66675" marB="66675">
                    <a:solidFill>
                      <a:srgbClr val="10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AF2FF"/>
                          </a:solidFill>
                        </a:rPr>
                        <a:t>TL 21.0M</a:t>
                      </a:r>
                    </a:p>
                  </a:txBody>
                  <a:tcPr marL="95250" marR="95250" marT="66675" marB="66675">
                    <a:solidFill>
                      <a:srgbClr val="10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39D98A"/>
                          </a:solidFill>
                        </a:rPr>
                        <a:t>100.0%</a:t>
                      </a:r>
                    </a:p>
                  </a:txBody>
                  <a:tcPr marL="95250" marR="95250" marT="66675" marB="66675">
                    <a:solidFill>
                      <a:srgbClr val="0B17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AF2FF"/>
                          </a:solidFill>
                        </a:rPr>
                        <a:t>1,184</a:t>
                      </a:r>
                    </a:p>
                  </a:txBody>
                  <a:tcPr marL="95250" marR="95250" marT="66675" marB="66675">
                    <a:solidFill>
                      <a:srgbClr val="101D2E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AF2FF"/>
                          </a:solidFill>
                        </a:rPr>
                        <a:t>2025</a:t>
                      </a:r>
                    </a:p>
                  </a:txBody>
                  <a:tcPr marL="95250" marR="95250" marT="66675" marB="66675">
                    <a:solidFill>
                      <a:srgbClr val="10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AF2FF"/>
                          </a:solidFill>
                        </a:rPr>
                        <a:t>16,477</a:t>
                      </a:r>
                    </a:p>
                  </a:txBody>
                  <a:tcPr marL="95250" marR="95250" marT="66675" marB="66675">
                    <a:solidFill>
                      <a:srgbClr val="10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AF2FF"/>
                          </a:solidFill>
                        </a:rPr>
                        <a:t>TL 23.0M</a:t>
                      </a:r>
                    </a:p>
                  </a:txBody>
                  <a:tcPr marL="95250" marR="95250" marT="66675" marB="66675">
                    <a:solidFill>
                      <a:srgbClr val="10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AF2FF"/>
                          </a:solidFill>
                        </a:rPr>
                        <a:t>TL 25.4M</a:t>
                      </a:r>
                    </a:p>
                  </a:txBody>
                  <a:tcPr marL="95250" marR="95250" marT="66675" marB="66675">
                    <a:solidFill>
                      <a:srgbClr val="10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39D98A"/>
                          </a:solidFill>
                        </a:rPr>
                        <a:t>90.7%</a:t>
                      </a:r>
                    </a:p>
                  </a:txBody>
                  <a:tcPr marL="95250" marR="95250" marT="66675" marB="66675">
                    <a:solidFill>
                      <a:srgbClr val="0B17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AF2FF"/>
                          </a:solidFill>
                        </a:rPr>
                        <a:t>1,203</a:t>
                      </a:r>
                    </a:p>
                  </a:txBody>
                  <a:tcPr marL="95250" marR="95250" marT="66675" marB="66675">
                    <a:solidFill>
                      <a:srgbClr val="101D2E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AF2FF"/>
                          </a:solidFill>
                        </a:rPr>
                        <a:t>2026</a:t>
                      </a:r>
                    </a:p>
                  </a:txBody>
                  <a:tcPr marL="95250" marR="95250" marT="66675" marB="66675">
                    <a:solidFill>
                      <a:srgbClr val="10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AF2FF"/>
                          </a:solidFill>
                        </a:rPr>
                        <a:t>18,206</a:t>
                      </a:r>
                    </a:p>
                  </a:txBody>
                  <a:tcPr marL="95250" marR="95250" marT="66675" marB="66675">
                    <a:solidFill>
                      <a:srgbClr val="10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AF2FF"/>
                          </a:solidFill>
                        </a:rPr>
                        <a:t>TL 27.8M</a:t>
                      </a:r>
                    </a:p>
                  </a:txBody>
                  <a:tcPr marL="95250" marR="95250" marT="66675" marB="66675">
                    <a:solidFill>
                      <a:srgbClr val="10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AF2FF"/>
                          </a:solidFill>
                        </a:rPr>
                        <a:t>TL 30.1M</a:t>
                      </a:r>
                    </a:p>
                  </a:txBody>
                  <a:tcPr marL="95250" marR="95250" marT="66675" marB="66675">
                    <a:solidFill>
                      <a:srgbClr val="10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39D98A"/>
                          </a:solidFill>
                        </a:rPr>
                        <a:t>92.4%</a:t>
                      </a:r>
                    </a:p>
                  </a:txBody>
                  <a:tcPr marL="95250" marR="95250" marT="66675" marB="66675">
                    <a:solidFill>
                      <a:srgbClr val="0B17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AF2FF"/>
                          </a:solidFill>
                        </a:rPr>
                        <a:t>1,356</a:t>
                      </a:r>
                    </a:p>
                  </a:txBody>
                  <a:tcPr marL="95250" marR="95250" marT="66675" marB="66675">
                    <a:solidFill>
                      <a:srgbClr val="101D2E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D9B08C-DFD3-4F03-91EC-65D55C908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24375"/>
            <a:ext cx="666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5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97A4B1-7BBE-4765-976F-A6434C4EA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524375"/>
            <a:ext cx="910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AF2FF"/>
                </a:solidFill>
              </a:defRPr>
            </a:pPr>
            <a:r>
              <a:rPr sz="1875" b="1">
                <a:solidFill>
                  <a:srgbClr val="EAF2FF"/>
                </a:solidFill>
              </a:rPr>
              <a:t>Critical interpretation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565C10-9385-48CD-A0D9-89DE8653A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991100"/>
            <a:ext cx="9067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1A7BE"/>
                </a:solidFill>
              </a:defRPr>
            </a:pPr>
            <a:r>
              <a:rPr sz="1350" b="0">
                <a:solidFill>
                  <a:srgbClr val="91A7BE"/>
                </a:solidFill>
              </a:rPr>
              <a:t>2024 was almost exactly on target. In 2025, targets rose faster than growth; revenue recovered in 2026, but annual attainment remained at 92.4%.</a:t>
            </a:r>
          </a:p>
        </p:txBody>
      </p:sp>
    </p:spTree>
    <p:extLst>
      <p:ext uri="{BB962C8B-B14F-4D97-AF65-F5344CB8AC3E}">
        <p14:creationId xmlns:p14="http://schemas.microsoft.com/office/powerpoint/2010/main" val="18009121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37E626C-6E37-4B64-B5C1-5BDDD9BFD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C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6C0D50-5CF1-48FE-AE5E-F9DE8349C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AF2FF"/>
                </a:solidFill>
              </a:defRPr>
            </a:pPr>
            <a:r>
              <a:rPr sz="2700" b="1">
                <a:solidFill>
                  <a:srgbClr val="EAF2FF"/>
                </a:solidFill>
              </a:rPr>
              <a:t>December conversion held; revenue missed plan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EB4425-FDB6-41A6-A7DE-F9EE02013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A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9E9C50-666E-414A-B26B-719E50379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1A7BE"/>
                </a:solidFill>
              </a:defRPr>
            </a:pPr>
            <a:r>
              <a:rPr sz="825" b="0">
                <a:solidFill>
                  <a:srgbClr val="91A7BE"/>
                </a:solidFill>
              </a:rPr>
              <a:t>CRM Sales Analytics | 36-month sample dataset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A0DA07-57C5-4FEB-A26C-BC80F691E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534150"/>
            <a:ext cx="2343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1A7BE"/>
                </a:solidFill>
              </a:defRPr>
            </a:pPr>
            <a:r>
              <a:rPr sz="825" b="0">
                <a:solidFill>
                  <a:srgbClr val="91A7BE"/>
                </a:solidFill>
              </a:rPr>
              <a:t>Murat Miraç Gedik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61AD1F-6587-4987-B478-ECE297103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2333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C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E655E2-75ED-4539-8406-D80155DF9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2333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1A7BE"/>
                </a:solidFill>
              </a:defRPr>
            </a:pPr>
            <a:r>
              <a:rPr sz="1050" b="1">
                <a:solidFill>
                  <a:srgbClr val="91A7BE"/>
                </a:solidFill>
              </a:rPr>
              <a:t>NEW LEADS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4EDEC7-1791-45D1-BFE8-193ECAEC6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2333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AF2FF"/>
                </a:solidFill>
              </a:defRPr>
            </a:pPr>
            <a:r>
              <a:rPr sz="2550" b="1">
                <a:solidFill>
                  <a:srgbClr val="EAF2FF"/>
                </a:solidFill>
              </a:rPr>
              <a:t>1,763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EB22FD-6A13-4E18-93C9-034A6BC92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2333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C7D9"/>
                </a:solidFill>
              </a:defRPr>
            </a:pPr>
            <a:r>
              <a:rPr sz="1200" b="1">
                <a:solidFill>
                  <a:srgbClr val="24C7D9"/>
                </a:solidFill>
              </a:rPr>
              <a:t>97.1% of target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24962A-72DD-4742-8631-BD1D87591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1714500"/>
            <a:ext cx="2333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6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969CAA-7364-41FF-A6A5-CF61E1AA1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1885950"/>
            <a:ext cx="2333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1A7BE"/>
                </a:solidFill>
              </a:defRPr>
            </a:pPr>
            <a:r>
              <a:rPr sz="1050" b="1">
                <a:solidFill>
                  <a:srgbClr val="91A7BE"/>
                </a:solidFill>
              </a:rPr>
              <a:t>WON REVENUE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C1DAD1-5D94-4E29-8075-8E2FAA89A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171700"/>
            <a:ext cx="2333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AF2FF"/>
                </a:solidFill>
              </a:defRPr>
            </a:pPr>
            <a:r>
              <a:rPr sz="2550" b="1">
                <a:solidFill>
                  <a:srgbClr val="EAF2FF"/>
                </a:solidFill>
              </a:rPr>
              <a:t>TL 2.7M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122BE2-1FDB-49FD-A63F-B98430769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705100"/>
            <a:ext cx="2333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67A"/>
                </a:solidFill>
              </a:defRPr>
            </a:pPr>
            <a:r>
              <a:rPr sz="1200" b="1">
                <a:solidFill>
                  <a:srgbClr val="FF667A"/>
                </a:solidFill>
              </a:rPr>
              <a:t>TL -260K variance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F2ED35-B821-430B-A562-DFACF1158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714500"/>
            <a:ext cx="2333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FC258F-0EE0-4BAE-A6CF-65863C7A4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85950"/>
            <a:ext cx="2333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1A7BE"/>
                </a:solidFill>
              </a:defRPr>
            </a:pPr>
            <a:r>
              <a:rPr sz="1050" b="1">
                <a:solidFill>
                  <a:srgbClr val="91A7BE"/>
                </a:solidFill>
              </a:rPr>
              <a:t>PIPELINE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EC2FFF-BAB2-4676-99BC-34A5AD697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171700"/>
            <a:ext cx="2333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AF2FF"/>
                </a:solidFill>
              </a:defRPr>
            </a:pPr>
            <a:r>
              <a:rPr sz="2550" b="1">
                <a:solidFill>
                  <a:srgbClr val="EAF2FF"/>
                </a:solidFill>
              </a:rPr>
              <a:t>TL 21.8M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7D1BD8-7E27-48DE-93F7-B7BB6CFD4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705100"/>
            <a:ext cx="2333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F7CFF"/>
                </a:solidFill>
              </a:defRPr>
            </a:pPr>
            <a:r>
              <a:rPr sz="1200" b="1">
                <a:solidFill>
                  <a:srgbClr val="4F7CFF"/>
                </a:solidFill>
              </a:rPr>
              <a:t>7.5x coverage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5EC868-6A34-438A-8E50-EFD05DB7B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714500"/>
            <a:ext cx="2333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5EE607-5803-443C-A07D-443ECBEFC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885950"/>
            <a:ext cx="2333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1A7BE"/>
                </a:solidFill>
              </a:defRPr>
            </a:pPr>
            <a:r>
              <a:rPr sz="1050" b="1">
                <a:solidFill>
                  <a:srgbClr val="91A7BE"/>
                </a:solidFill>
              </a:rPr>
              <a:t>WIN RATE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1797A0-6C2D-4655-8C85-68D4E1494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171700"/>
            <a:ext cx="2333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AF2FF"/>
                </a:solidFill>
              </a:defRPr>
            </a:pPr>
            <a:r>
              <a:rPr sz="2550" b="1">
                <a:solidFill>
                  <a:srgbClr val="EAF2FF"/>
                </a:solidFill>
              </a:rPr>
              <a:t>32.3%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32A44C-2158-4C9E-922B-390A2786A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705100"/>
            <a:ext cx="2333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9D98A"/>
                </a:solidFill>
              </a:defRPr>
            </a:pPr>
            <a:r>
              <a:rPr sz="1200" b="1">
                <a:solidFill>
                  <a:srgbClr val="39D98A"/>
                </a:solidFill>
              </a:rPr>
              <a:t>+10.1% YoY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A8C5EF-A42C-4FEA-8E15-075A33F41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666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6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C73602-AFF3-4758-BCFF-A960027C3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05250"/>
            <a:ext cx="10248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AF2FF"/>
                </a:solidFill>
              </a:defRPr>
            </a:pPr>
            <a:r>
              <a:rPr sz="1875" b="1">
                <a:solidFill>
                  <a:srgbClr val="EAF2FF"/>
                </a:solidFill>
              </a:rPr>
              <a:t>Balance issue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AD9957-D248-48E4-8B17-372C122F6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71975"/>
            <a:ext cx="10210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1A7BE"/>
                </a:solidFill>
              </a:defRPr>
            </a:pPr>
            <a:r>
              <a:rPr sz="1350" b="0">
                <a:solidFill>
                  <a:srgbClr val="91A7BE"/>
                </a:solidFill>
              </a:rPr>
              <a:t>The final funnel stage looks healthy, yet revenue misses target. The issue is not win rate alone; target allocation, deal mix and rep contribution must be managed together.</a:t>
            </a:r>
          </a:p>
        </p:txBody>
      </p:sp>
    </p:spTree>
    <p:extLst>
      <p:ext uri="{BB962C8B-B14F-4D97-AF65-F5344CB8AC3E}">
        <p14:creationId xmlns:p14="http://schemas.microsoft.com/office/powerpoint/2010/main" val="3696601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4D6C2AB-AF7A-4186-8C46-757A5EDE0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C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DEE33B-C4BB-4340-A2A8-569833D56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AF2FF"/>
                </a:solidFill>
              </a:defRPr>
            </a:pPr>
            <a:r>
              <a:rPr sz="2700" b="1">
                <a:solidFill>
                  <a:srgbClr val="EAF2FF"/>
                </a:solidFill>
              </a:rPr>
              <a:t>Lead volume reached a new high at year-end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09F828-FA4F-4512-ABA3-70519693F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A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F0451B-2432-4891-B0D0-26F9F97D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1A7BE"/>
                </a:solidFill>
              </a:defRPr>
            </a:pPr>
            <a:r>
              <a:rPr sz="825" b="0">
                <a:solidFill>
                  <a:srgbClr val="91A7BE"/>
                </a:solidFill>
              </a:rPr>
              <a:t>CRM Sales Analytics | 36-month sample dataset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47E5A0-8154-479B-ABB1-FF5265F79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534150"/>
            <a:ext cx="2343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1A7BE"/>
                </a:solidFill>
              </a:defRPr>
            </a:pPr>
            <a:r>
              <a:rPr sz="825" b="0">
                <a:solidFill>
                  <a:srgbClr val="91A7BE"/>
                </a:solidFill>
              </a:rPr>
              <a:t>Murat Miraç Gedik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647700" y="1571625"/>
          <a:ext xmlns:a="http://schemas.openxmlformats.org/drawingml/2006/main" cx="8096250" cy="4048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5d2d510746f4094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55BDF1-F262-46FD-A618-01FACB7B3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000250"/>
            <a:ext cx="666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C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494296-BBD0-494A-A933-D189240AE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2000250"/>
            <a:ext cx="1962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AF2FF"/>
                </a:solidFill>
              </a:defRPr>
            </a:pPr>
            <a:r>
              <a:rPr sz="1875" b="1">
                <a:solidFill>
                  <a:srgbClr val="EAF2FF"/>
                </a:solidFill>
              </a:rPr>
              <a:t>December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EAC376-5D63-43B7-A712-29DA8A8B4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2466975"/>
            <a:ext cx="19240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1A7BE"/>
                </a:solidFill>
              </a:defRPr>
            </a:pPr>
            <a:r>
              <a:rPr sz="1350" b="0">
                <a:solidFill>
                  <a:srgbClr val="91A7BE"/>
                </a:solidFill>
              </a:rPr>
              <a:t>1,763 / 1,815</a:t>
            </a:r>
          </a:p>
          <a:p xmlns:a="http://schemas.openxmlformats.org/drawingml/2006/main">
            <a:pPr algn="l">
              <a:defRPr sz="1350" b="0">
                <a:solidFill>
                  <a:srgbClr val="91A7BE"/>
                </a:solidFill>
              </a:defRPr>
            </a:pPr>
            <a:r>
              <a:rPr sz="1350" b="0">
                <a:solidFill>
                  <a:srgbClr val="91A7BE"/>
                </a:solidFill>
              </a:rPr>
              <a:t>97.1% attainment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916BBC-146B-4BCC-AD61-7FA2A4B2A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857625"/>
            <a:ext cx="666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5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0309F1-C7FC-49C4-B9C9-2D324C5C2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3857625"/>
            <a:ext cx="1962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AF2FF"/>
                </a:solidFill>
              </a:defRPr>
            </a:pPr>
            <a:r>
              <a:rPr sz="1875" b="1">
                <a:solidFill>
                  <a:srgbClr val="EAF2FF"/>
                </a:solidFill>
              </a:rPr>
              <a:t>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3E65D7-7297-4B1F-8490-3AD41C28C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4324350"/>
            <a:ext cx="19240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1A7BE"/>
                </a:solidFill>
              </a:defRPr>
            </a:pPr>
            <a:r>
              <a:rPr sz="1350" b="0">
                <a:solidFill>
                  <a:srgbClr val="91A7BE"/>
                </a:solidFill>
              </a:rPr>
              <a:t>Volume is expanding; source-level qualification must be monitored to protect growth quality.</a:t>
            </a:r>
          </a:p>
        </p:txBody>
      </p:sp>
    </p:spTree>
    <p:extLst>
      <p:ext uri="{BB962C8B-B14F-4D97-AF65-F5344CB8AC3E}">
        <p14:creationId xmlns:p14="http://schemas.microsoft.com/office/powerpoint/2010/main" val="98467133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0D9DAF2-C57B-4F32-806A-D012C2671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C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C1DA08-934B-4940-83CF-5F24981C7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AF2FF"/>
                </a:solidFill>
              </a:defRPr>
            </a:pPr>
            <a:r>
              <a:rPr sz="2700" b="1">
                <a:solidFill>
                  <a:srgbClr val="EAF2FF"/>
                </a:solidFill>
              </a:rPr>
              <a:t>Lead growth did not improve qualification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D0E0BC-19B4-47F8-BF24-B3651E76D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A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DB0C45-C359-4B27-A3EB-270D3D10D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1A7BE"/>
                </a:solidFill>
              </a:defRPr>
            </a:pPr>
            <a:r>
              <a:rPr sz="825" b="0">
                <a:solidFill>
                  <a:srgbClr val="91A7BE"/>
                </a:solidFill>
              </a:rPr>
              <a:t>CRM Sales Analytics | 36-month sample dataset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64376B-3CCD-40CB-A13D-F89411719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534150"/>
            <a:ext cx="2343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1A7BE"/>
                </a:solidFill>
              </a:defRPr>
            </a:pPr>
            <a:r>
              <a:rPr sz="825" b="0">
                <a:solidFill>
                  <a:srgbClr val="91A7BE"/>
                </a:solidFill>
              </a:rPr>
              <a:t>Murat Miraç Gedik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647700" y="1571625"/>
          <a:ext xmlns:a="http://schemas.openxmlformats.org/drawingml/2006/main" cx="8096250" cy="4048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1e7f0402ea542c4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0CA510-8AA6-4F19-B966-AC3BC2FBD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047875"/>
            <a:ext cx="666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C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013F78-9B3F-4614-82A4-5053E573F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2047875"/>
            <a:ext cx="1962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AF2FF"/>
                </a:solidFill>
              </a:defRPr>
            </a:pPr>
            <a:r>
              <a:rPr sz="1875" b="1">
                <a:solidFill>
                  <a:srgbClr val="EAF2FF"/>
                </a:solidFill>
              </a:rPr>
              <a:t>December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C90B07-6DDC-4452-A749-09AA8A823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2514600"/>
            <a:ext cx="19240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1A7BE"/>
                </a:solidFill>
              </a:defRPr>
            </a:pPr>
            <a:r>
              <a:rPr sz="1350" b="0">
                <a:solidFill>
                  <a:srgbClr val="91A7BE"/>
                </a:solidFill>
              </a:rPr>
              <a:t>Qualification: 51.0%</a:t>
            </a:r>
          </a:p>
          <a:p xmlns:a="http://schemas.openxmlformats.org/drawingml/2006/main">
            <a:pPr algn="l">
              <a:defRPr sz="1350" b="0">
                <a:solidFill>
                  <a:srgbClr val="91A7BE"/>
                </a:solidFill>
              </a:defRPr>
            </a:pPr>
            <a:r>
              <a:rPr sz="1350" b="0">
                <a:solidFill>
                  <a:srgbClr val="91A7BE"/>
                </a:solidFill>
              </a:rPr>
              <a:t>Opportunity: 44.4%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EABC8B-8D09-4E07-B70F-58690B180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952875"/>
            <a:ext cx="666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2B2C88-1DCD-4DCE-A9E7-68A5B2335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3952875"/>
            <a:ext cx="1962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AF2FF"/>
                </a:solidFill>
              </a:defRPr>
            </a:pPr>
            <a:r>
              <a:rPr sz="1875" b="1">
                <a:solidFill>
                  <a:srgbClr val="EAF2FF"/>
                </a:solidFill>
              </a:rPr>
              <a:t>Opportunity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9AC73A-8F12-4666-9651-B58F98B73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4419600"/>
            <a:ext cx="19240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1A7BE"/>
                </a:solidFill>
              </a:defRPr>
            </a:pPr>
            <a:r>
              <a:rPr sz="1350" b="0">
                <a:solidFill>
                  <a:srgbClr val="91A7BE"/>
                </a:solidFill>
              </a:rPr>
              <a:t>Optimize source mix using quality and acquisition cost, not volume alone.</a:t>
            </a:r>
          </a:p>
        </p:txBody>
      </p:sp>
    </p:spTree>
    <p:extLst>
      <p:ext uri="{BB962C8B-B14F-4D97-AF65-F5344CB8AC3E}">
        <p14:creationId xmlns:p14="http://schemas.microsoft.com/office/powerpoint/2010/main" val="186195703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156E229-DE5F-4E84-AEBF-8E408B65E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C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7CF6EA-7137-4A0B-892E-590F9D55C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AF2FF"/>
                </a:solidFill>
              </a:defRPr>
            </a:pPr>
            <a:r>
              <a:rPr sz="2700" b="1">
                <a:solidFill>
                  <a:srgbClr val="EAF2FF"/>
                </a:solidFill>
              </a:rPr>
              <a:t>Organic search generated 29% of 2026 lead volume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63108F-522F-4892-97FE-C57CF6815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A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CB04AF-2D6F-4A99-BB30-0B2204D02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1A7BE"/>
                </a:solidFill>
              </a:defRPr>
            </a:pPr>
            <a:r>
              <a:rPr sz="825" b="0">
                <a:solidFill>
                  <a:srgbClr val="91A7BE"/>
                </a:solidFill>
              </a:rPr>
              <a:t>CRM Sales Analytics | 36-month sample dataset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D19D42-1746-4C53-AF7B-B20F22A5B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534150"/>
            <a:ext cx="2343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1A7BE"/>
                </a:solidFill>
              </a:defRPr>
            </a:pPr>
            <a:r>
              <a:rPr sz="825" b="0">
                <a:solidFill>
                  <a:srgbClr val="91A7BE"/>
                </a:solidFill>
              </a:rPr>
              <a:t>Murat Miraç Gedik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666750" y="1524000"/>
          <a:ext xmlns:a="http://schemas.openxmlformats.org/drawingml/2006/main" cx="6858000" cy="4333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2db7e9710014023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CE2244-A402-4D98-9087-C23F18599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809750"/>
            <a:ext cx="6667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C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130D32-A755-41DC-AA17-209EEDA31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1809750"/>
            <a:ext cx="2628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AF2FF"/>
                </a:solidFill>
              </a:defRPr>
            </a:pPr>
            <a:r>
              <a:rPr sz="1875" b="1">
                <a:solidFill>
                  <a:srgbClr val="EAF2FF"/>
                </a:solidFill>
              </a:rPr>
              <a:t>Largest 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D1B39D-7361-446D-A4C1-CA14AC427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276475"/>
            <a:ext cx="25908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1A7BE"/>
                </a:solidFill>
              </a:defRPr>
            </a:pPr>
            <a:r>
              <a:rPr sz="1350" b="0">
                <a:solidFill>
                  <a:srgbClr val="91A7BE"/>
                </a:solidFill>
              </a:rPr>
              <a:t>Organic Search</a:t>
            </a:r>
          </a:p>
          <a:p xmlns:a="http://schemas.openxmlformats.org/drawingml/2006/main">
            <a:pPr algn="l">
              <a:defRPr sz="1350" b="0">
                <a:solidFill>
                  <a:srgbClr val="91A7BE"/>
                </a:solidFill>
              </a:defRPr>
            </a:pPr>
            <a:r>
              <a:rPr sz="1350" b="0">
                <a:solidFill>
                  <a:srgbClr val="91A7BE"/>
                </a:solidFill>
              </a:rPr>
              <a:t>5,272 leads</a:t>
            </a:r>
          </a:p>
          <a:p xmlns:a="http://schemas.openxmlformats.org/drawingml/2006/main">
            <a:pPr algn="l">
              <a:defRPr sz="1350" b="0">
                <a:solidFill>
                  <a:srgbClr val="91A7BE"/>
                </a:solidFill>
              </a:defRPr>
            </a:pPr>
            <a:r>
              <a:rPr sz="1350" b="0">
                <a:solidFill>
                  <a:srgbClr val="91A7BE"/>
                </a:solidFill>
              </a:rPr>
              <a:t>29.0% share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EB90B1-6105-46F1-A676-2415D2320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857625"/>
            <a:ext cx="6667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5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69BA0A-46C5-4169-9C8C-5C3961DEC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857625"/>
            <a:ext cx="2628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AF2FF"/>
                </a:solidFill>
              </a:defRPr>
            </a:pPr>
            <a:r>
              <a:rPr sz="1875" b="1">
                <a:solidFill>
                  <a:srgbClr val="EAF2FF"/>
                </a:solidFill>
              </a:rPr>
              <a:t>Portfolio risk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9E4D5B-EC2F-4660-9B88-260A8C958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324350"/>
            <a:ext cx="25908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1A7BE"/>
                </a:solidFill>
              </a:defRPr>
            </a:pPr>
            <a:r>
              <a:rPr sz="1350" b="0">
                <a:solidFill>
                  <a:srgbClr val="91A7BE"/>
                </a:solidFill>
              </a:rPr>
              <a:t>The top two channels carry more than half of total volume. Channel concentration should be monitored through quality and cost.</a:t>
            </a:r>
          </a:p>
        </p:txBody>
      </p:sp>
    </p:spTree>
    <p:extLst>
      <p:ext uri="{BB962C8B-B14F-4D97-AF65-F5344CB8AC3E}">
        <p14:creationId xmlns:p14="http://schemas.microsoft.com/office/powerpoint/2010/main" val="150906165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3B0BBBC-F866-4201-B8EE-051FCB20E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C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DFCC27-1A23-42B8-9DF5-5374A88BB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AF2FF"/>
                </a:solidFill>
              </a:defRPr>
            </a:pPr>
            <a:r>
              <a:rPr sz="2700" b="1">
                <a:solidFill>
                  <a:srgbClr val="EAF2FF"/>
                </a:solidFill>
              </a:rPr>
              <a:t>Referral has the top qualification rate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E0D3BB-615A-4C6F-A07F-231F2F92B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A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CAF8EC-1E87-4E7C-980A-7118FACC6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1A7BE"/>
                </a:solidFill>
              </a:defRPr>
            </a:pPr>
            <a:r>
              <a:rPr sz="825" b="0">
                <a:solidFill>
                  <a:srgbClr val="91A7BE"/>
                </a:solidFill>
              </a:rPr>
              <a:t>CRM Sales Analytics | 36-month sample dataset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CD03E9-6C10-4EC0-B218-816155425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534150"/>
            <a:ext cx="2343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1A7BE"/>
                </a:solidFill>
              </a:defRPr>
            </a:pPr>
            <a:r>
              <a:rPr sz="825" b="0">
                <a:solidFill>
                  <a:srgbClr val="91A7BE"/>
                </a:solidFill>
              </a:rPr>
              <a:t>Murat Miraç Gedik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647700" y="1619250"/>
          <a:ext xmlns:a="http://schemas.openxmlformats.org/drawingml/2006/main" cx="7620000" cy="4048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05c45b067b24bfa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EE16B0-E74A-490C-BCAC-499DD9C20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52625"/>
            <a:ext cx="666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D1075D-B8FE-41A2-BBAF-4B391232B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952625"/>
            <a:ext cx="2247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AF2FF"/>
                </a:solidFill>
              </a:defRPr>
            </a:pPr>
            <a:r>
              <a:rPr sz="1875" b="1">
                <a:solidFill>
                  <a:srgbClr val="EAF2FF"/>
                </a:solidFill>
              </a:rPr>
              <a:t>Quality leader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9FE20C-0819-4566-846C-EAE1C3091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419350"/>
            <a:ext cx="22098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1A7BE"/>
                </a:solidFill>
              </a:defRPr>
            </a:pPr>
            <a:r>
              <a:rPr sz="1350" b="0">
                <a:solidFill>
                  <a:srgbClr val="91A7BE"/>
                </a:solidFill>
              </a:rPr>
              <a:t>Referral</a:t>
            </a:r>
          </a:p>
          <a:p xmlns:a="http://schemas.openxmlformats.org/drawingml/2006/main">
            <a:pPr algn="l">
              <a:defRPr sz="1350" b="0">
                <a:solidFill>
                  <a:srgbClr val="91A7BE"/>
                </a:solidFill>
              </a:defRPr>
            </a:pPr>
            <a:r>
              <a:rPr sz="1350" b="0">
                <a:solidFill>
                  <a:srgbClr val="91A7BE"/>
                </a:solidFill>
              </a:rPr>
              <a:t>67.0% qualification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0FDAD3-D29A-48C2-B8E0-51288C51A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762375"/>
            <a:ext cx="666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6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5D8076-B613-47FA-833C-61F4AC2CD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762375"/>
            <a:ext cx="2247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AF2FF"/>
                </a:solidFill>
              </a:defRPr>
            </a:pPr>
            <a:r>
              <a:rPr sz="1875" b="1">
                <a:solidFill>
                  <a:srgbClr val="EAF2FF"/>
                </a:solidFill>
              </a:rPr>
              <a:t>Improvement area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54AC6E-969E-42A2-81FE-81521E5B6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229100"/>
            <a:ext cx="22098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1A7BE"/>
                </a:solidFill>
              </a:defRPr>
            </a:pPr>
            <a:r>
              <a:rPr sz="1350" b="0">
                <a:solidFill>
                  <a:srgbClr val="91A7BE"/>
                </a:solidFill>
              </a:rPr>
              <a:t>Outbound</a:t>
            </a:r>
          </a:p>
          <a:p xmlns:a="http://schemas.openxmlformats.org/drawingml/2006/main">
            <a:pPr algn="l">
              <a:defRPr sz="1350" b="0">
                <a:solidFill>
                  <a:srgbClr val="91A7BE"/>
                </a:solidFill>
              </a:defRPr>
            </a:pPr>
            <a:r>
              <a:rPr sz="1350" b="0">
                <a:solidFill>
                  <a:srgbClr val="91A7BE"/>
                </a:solidFill>
              </a:rPr>
              <a:t>39.0% qualification</a:t>
            </a:r>
          </a:p>
        </p:txBody>
      </p:sp>
    </p:spTree>
    <p:extLst>
      <p:ext uri="{BB962C8B-B14F-4D97-AF65-F5344CB8AC3E}">
        <p14:creationId xmlns:p14="http://schemas.microsoft.com/office/powerpoint/2010/main" val="99348917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129664A-B520-4842-BCE9-C856B643B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C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F4B5F4-58E7-44D5-9C47-C84D21949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AF2FF"/>
                </a:solidFill>
              </a:defRPr>
            </a:pPr>
            <a:r>
              <a:rPr sz="2700" b="1">
                <a:solidFill>
                  <a:srgbClr val="EAF2FF"/>
                </a:solidFill>
              </a:rPr>
              <a:t>Paid Ads carries the highest acquisition spend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276346-5586-4CFB-A81C-B8925E15C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A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D812FF-E7D6-420C-BD95-06870907C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1A7BE"/>
                </a:solidFill>
              </a:defRPr>
            </a:pPr>
            <a:r>
              <a:rPr sz="825" b="0">
                <a:solidFill>
                  <a:srgbClr val="91A7BE"/>
                </a:solidFill>
              </a:rPr>
              <a:t>CRM Sales Analytics | 36-month sample dataset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0DB76A-F9BE-4233-A791-2E385DA93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534150"/>
            <a:ext cx="2343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1A7BE"/>
                </a:solidFill>
              </a:defRPr>
            </a:pPr>
            <a:r>
              <a:rPr sz="825" b="0">
                <a:solidFill>
                  <a:srgbClr val="91A7BE"/>
                </a:solidFill>
              </a:rPr>
              <a:t>Murat Miraç Gedik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647700" y="1619250"/>
          <a:ext xmlns:a="http://schemas.openxmlformats.org/drawingml/2006/main" cx="7620000" cy="4048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20c83e30b294f4f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E9D861-7CC2-41BB-8B8A-FC1C1B5F1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52625"/>
            <a:ext cx="666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5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CBF325-B9A5-461F-85D9-5D3E0717A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952625"/>
            <a:ext cx="2247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AF2FF"/>
                </a:solidFill>
              </a:defRPr>
            </a:pPr>
            <a:r>
              <a:rPr sz="1875" b="1">
                <a:solidFill>
                  <a:srgbClr val="EAF2FF"/>
                </a:solidFill>
              </a:rPr>
              <a:t>Paid Ads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63E1AB-7C3C-4D17-8BD3-C98EB56B9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419350"/>
            <a:ext cx="22098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1A7BE"/>
                </a:solidFill>
              </a:defRPr>
            </a:pPr>
            <a:r>
              <a:rPr sz="1350" b="0">
                <a:solidFill>
                  <a:srgbClr val="91A7BE"/>
                </a:solidFill>
              </a:rPr>
              <a:t>TL 301K</a:t>
            </a:r>
          </a:p>
          <a:p xmlns:a="http://schemas.openxmlformats.org/drawingml/2006/main">
            <a:pPr algn="l">
              <a:defRPr sz="1350" b="0">
                <a:solidFill>
                  <a:srgbClr val="91A7BE"/>
                </a:solidFill>
              </a:defRPr>
            </a:pPr>
            <a:r>
              <a:rPr sz="1350" b="0">
                <a:solidFill>
                  <a:srgbClr val="91A7BE"/>
                </a:solidFill>
              </a:rPr>
              <a:t>48.0% qualification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1E71D4-5FCF-414A-BA92-955DBF5D9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762375"/>
            <a:ext cx="666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EF0C6A-A3C6-4A77-AE17-44B53FB26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762375"/>
            <a:ext cx="2247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AF2FF"/>
                </a:solidFill>
              </a:defRPr>
            </a:pPr>
            <a:r>
              <a:rPr sz="1875" b="1">
                <a:solidFill>
                  <a:srgbClr val="EAF2FF"/>
                </a:solidFill>
              </a:rPr>
              <a:t>Referral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330635-3EBC-4768-86E0-AF414D94F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229100"/>
            <a:ext cx="22098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1A7BE"/>
                </a:solidFill>
              </a:defRPr>
            </a:pPr>
            <a:r>
              <a:rPr sz="1350" b="0">
                <a:solidFill>
                  <a:srgbClr val="91A7BE"/>
                </a:solidFill>
              </a:rPr>
              <a:t>TL 42K</a:t>
            </a:r>
          </a:p>
          <a:p xmlns:a="http://schemas.openxmlformats.org/drawingml/2006/main">
            <a:pPr algn="l">
              <a:defRPr sz="1350" b="0">
                <a:solidFill>
                  <a:srgbClr val="91A7BE"/>
                </a:solidFill>
              </a:defRPr>
            </a:pPr>
            <a:r>
              <a:rPr sz="1350" b="0">
                <a:solidFill>
                  <a:srgbClr val="91A7BE"/>
                </a:solidFill>
              </a:rPr>
              <a:t>67.0% qualification</a:t>
            </a:r>
          </a:p>
        </p:txBody>
      </p:sp>
    </p:spTree>
    <p:extLst>
      <p:ext uri="{BB962C8B-B14F-4D97-AF65-F5344CB8AC3E}">
        <p14:creationId xmlns:p14="http://schemas.microsoft.com/office/powerpoint/2010/main" val="120288186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BF588ED-3902-42E5-B892-7E778BB8D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C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5DD585-76EB-44B7-918B-0A332B2C8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AF2FF"/>
                </a:solidFill>
              </a:defRPr>
            </a:pPr>
            <a:r>
              <a:rPr sz="2700" b="1">
                <a:solidFill>
                  <a:srgbClr val="EAF2FF"/>
                </a:solidFill>
              </a:rPr>
              <a:t>Largest funnel loss occurs before opportunity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4BEF3D-4A7B-4866-B182-BC8947956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A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762883-7B49-451F-B3C4-F50CFF6A7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1A7BE"/>
                </a:solidFill>
              </a:defRPr>
            </a:pPr>
            <a:r>
              <a:rPr sz="825" b="0">
                <a:solidFill>
                  <a:srgbClr val="91A7BE"/>
                </a:solidFill>
              </a:rPr>
              <a:t>CRM Sales Analytics | 36-month sample dataset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3A04A1-501E-43FE-A50B-9190AD64A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534150"/>
            <a:ext cx="2343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1A7BE"/>
                </a:solidFill>
              </a:defRPr>
            </a:pPr>
            <a:r>
              <a:rPr sz="825" b="0">
                <a:solidFill>
                  <a:srgbClr val="91A7BE"/>
                </a:solidFill>
              </a:rPr>
              <a:t>Murat Miraç Gedik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809625" y="1619250"/>
          <a:ext xmlns:a="http://schemas.openxmlformats.org/drawingml/2006/main" cx="657225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4cc29a9e3b94da0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10713B-407E-42F2-8AD1-E34CCA17F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62125"/>
            <a:ext cx="6667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C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492466-1340-465F-AE37-D5899F961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762125"/>
            <a:ext cx="2914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AF2FF"/>
                </a:solidFill>
              </a:defRPr>
            </a:pPr>
            <a:r>
              <a:rPr sz="1875" b="1">
                <a:solidFill>
                  <a:srgbClr val="EAF2FF"/>
                </a:solidFill>
              </a:rPr>
              <a:t>Lead → Qualified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47BB05-6EC0-46C7-B05E-A89C9F58F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228850"/>
            <a:ext cx="2876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1A7BE"/>
                </a:solidFill>
              </a:defRPr>
            </a:pPr>
            <a:r>
              <a:rPr sz="1350" b="0">
                <a:solidFill>
                  <a:srgbClr val="91A7BE"/>
                </a:solidFill>
              </a:rPr>
              <a:t>51.0%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F6EA46-0980-4A76-AD7E-9F8E9E29B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95625"/>
            <a:ext cx="6667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89001A-DE5B-40C8-89C2-47579A012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095625"/>
            <a:ext cx="2914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AF2FF"/>
                </a:solidFill>
              </a:defRPr>
            </a:pPr>
            <a:r>
              <a:rPr sz="1875" b="1">
                <a:solidFill>
                  <a:srgbClr val="EAF2FF"/>
                </a:solidFill>
              </a:rPr>
              <a:t>Qualified → Opp.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973DD2-D6BD-46C6-8CB7-B9F858605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562350"/>
            <a:ext cx="2876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1A7BE"/>
                </a:solidFill>
              </a:defRPr>
            </a:pPr>
            <a:r>
              <a:rPr sz="1350" b="0">
                <a:solidFill>
                  <a:srgbClr val="91A7BE"/>
                </a:solidFill>
              </a:rPr>
              <a:t>44.4%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C2E109-86A5-402F-B568-90E8C4B54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29125"/>
            <a:ext cx="6667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AB637C-0814-4DFE-B356-B958AC421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429125"/>
            <a:ext cx="2914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AF2FF"/>
                </a:solidFill>
              </a:defRPr>
            </a:pPr>
            <a:r>
              <a:rPr sz="1875" b="1">
                <a:solidFill>
                  <a:srgbClr val="EAF2FF"/>
                </a:solidFill>
              </a:rPr>
              <a:t>Opportunity → Won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5382C8-DC9E-4F82-9008-827031C15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895850"/>
            <a:ext cx="2876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1A7BE"/>
                </a:solidFill>
              </a:defRPr>
            </a:pPr>
            <a:r>
              <a:rPr sz="1350" b="0">
                <a:solidFill>
                  <a:srgbClr val="91A7BE"/>
                </a:solidFill>
              </a:rPr>
              <a:t>32.3%</a:t>
            </a:r>
          </a:p>
        </p:txBody>
      </p:sp>
    </p:spTree>
    <p:extLst>
      <p:ext uri="{BB962C8B-B14F-4D97-AF65-F5344CB8AC3E}">
        <p14:creationId xmlns:p14="http://schemas.microsoft.com/office/powerpoint/2010/main" val="40262063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6A2B793-F362-4E9E-8E4A-E1F34031F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C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1A3CE5-B57E-4B4E-85FE-82899D538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AF2FF"/>
                </a:solidFill>
              </a:defRPr>
            </a:pPr>
            <a:r>
              <a:rPr sz="2700" b="1">
                <a:solidFill>
                  <a:srgbClr val="EAF2FF"/>
                </a:solidFill>
              </a:rPr>
              <a:t>Win rate ended the year above the 32% benchmark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3B023A-1EB4-4ECE-AF8A-2B0BE486D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A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996DE0-814F-4F4B-BA36-7103340A0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1A7BE"/>
                </a:solidFill>
              </a:defRPr>
            </a:pPr>
            <a:r>
              <a:rPr sz="825" b="0">
                <a:solidFill>
                  <a:srgbClr val="91A7BE"/>
                </a:solidFill>
              </a:rPr>
              <a:t>CRM Sales Analytics | 36-month sample dataset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A288E4-5F46-4943-8699-1F83DBFD2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534150"/>
            <a:ext cx="2343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1A7BE"/>
                </a:solidFill>
              </a:defRPr>
            </a:pPr>
            <a:r>
              <a:rPr sz="825" b="0">
                <a:solidFill>
                  <a:srgbClr val="91A7BE"/>
                </a:solidFill>
              </a:rPr>
              <a:t>Murat Miraç Gedik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647700" y="1619250"/>
          <a:ext xmlns:a="http://schemas.openxmlformats.org/drawingml/2006/main" cx="8048625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6c0c7de1a714749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ED788E-D5B2-4B4A-8513-1260C36DB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000250"/>
            <a:ext cx="666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5E32AA-ABB9-422A-8478-B02AC5C80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000250"/>
            <a:ext cx="1962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AF2FF"/>
                </a:solidFill>
              </a:defRPr>
            </a:pPr>
            <a:r>
              <a:rPr sz="1875" b="1">
                <a:solidFill>
                  <a:srgbClr val="EAF2FF"/>
                </a:solidFill>
              </a:rPr>
              <a:t>December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E80EE4-D6CC-4596-A564-FD881399B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466975"/>
            <a:ext cx="19240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1A7BE"/>
                </a:solidFill>
              </a:defRPr>
            </a:pPr>
            <a:r>
              <a:rPr sz="1350" b="0">
                <a:solidFill>
                  <a:srgbClr val="91A7BE"/>
                </a:solidFill>
              </a:rPr>
              <a:t>32.3%</a:t>
            </a:r>
          </a:p>
          <a:p xmlns:a="http://schemas.openxmlformats.org/drawingml/2006/main">
            <a:pPr algn="l">
              <a:defRPr sz="1350" b="0">
                <a:solidFill>
                  <a:srgbClr val="91A7BE"/>
                </a:solidFill>
              </a:defRPr>
            </a:pPr>
            <a:r>
              <a:rPr sz="1350" b="0">
                <a:solidFill>
                  <a:srgbClr val="91A7BE"/>
                </a:solidFill>
              </a:rPr>
              <a:t>+10.1% YoY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86B37C-E371-402B-A948-EE7B7D3E2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905250"/>
            <a:ext cx="666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5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BF9691-D193-4CA9-B6F4-C95433162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905250"/>
            <a:ext cx="1962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AF2FF"/>
                </a:solidFill>
              </a:defRPr>
            </a:pPr>
            <a:r>
              <a:rPr sz="1875" b="1">
                <a:solidFill>
                  <a:srgbClr val="EAF2FF"/>
                </a:solidFill>
              </a:rPr>
              <a:t>Limit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138711-40A7-4B17-9B27-F78A84326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371975"/>
            <a:ext cx="19240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1A7BE"/>
                </a:solidFill>
              </a:defRPr>
            </a:pPr>
            <a:r>
              <a:rPr sz="1350" b="0">
                <a:solidFill>
                  <a:srgbClr val="91A7BE"/>
                </a:solidFill>
              </a:rPr>
              <a:t>Win rate improvement alone did not close the revenue target gap.</a:t>
            </a:r>
          </a:p>
        </p:txBody>
      </p:sp>
    </p:spTree>
    <p:extLst>
      <p:ext uri="{BB962C8B-B14F-4D97-AF65-F5344CB8AC3E}">
        <p14:creationId xmlns:p14="http://schemas.microsoft.com/office/powerpoint/2010/main" val="36378458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47E4354-1BC8-461C-9AD7-3B3C980DF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C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5D1231-5B92-4E91-A6AC-790061606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AF2FF"/>
                </a:solidFill>
              </a:defRPr>
            </a:pPr>
            <a:r>
              <a:rPr sz="2700" b="1">
                <a:solidFill>
                  <a:srgbClr val="EAF2FF"/>
                </a:solidFill>
              </a:rPr>
              <a:t>Revenue growth reaccelerated in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C9F759-5300-4A06-8EEA-9BE7F6200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A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5AC511-4619-42D8-8BDA-0A8637931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1A7BE"/>
                </a:solidFill>
              </a:defRPr>
            </a:pPr>
            <a:r>
              <a:rPr sz="825" b="0">
                <a:solidFill>
                  <a:srgbClr val="91A7BE"/>
                </a:solidFill>
              </a:rPr>
              <a:t>CRM Sales Analytics | 36-month sample dataset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CA9E1A-826B-4FA5-9CCC-22BA3888F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534150"/>
            <a:ext cx="2343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1A7BE"/>
                </a:solidFill>
              </a:defRPr>
            </a:pPr>
            <a:r>
              <a:rPr sz="825" b="0">
                <a:solidFill>
                  <a:srgbClr val="91A7BE"/>
                </a:solidFill>
              </a:rPr>
              <a:t>Murat Miraç Gedik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685800" y="1714500"/>
          <a:ext xmlns:a="http://schemas.openxmlformats.org/drawingml/2006/main" cx="7239000" cy="3762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5267a584ed842e6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586E78-047A-4C93-9540-0416B8391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52625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73EDDF-D130-4775-9AC3-EDC575DA4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952625"/>
            <a:ext cx="2438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AF2FF"/>
                </a:solidFill>
              </a:defRPr>
            </a:pPr>
            <a:r>
              <a:rPr sz="1875" b="1">
                <a:solidFill>
                  <a:srgbClr val="EAF2FF"/>
                </a:solidFill>
              </a:rPr>
              <a:t>2024 →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9704E8-3F86-412D-AF84-9940EFA5F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419350"/>
            <a:ext cx="240030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1A7BE"/>
                </a:solidFill>
              </a:defRPr>
            </a:pPr>
            <a:r>
              <a:rPr sz="1350" b="0">
                <a:solidFill>
                  <a:srgbClr val="91A7BE"/>
                </a:solidFill>
              </a:rPr>
              <a:t>TL 21.0M → TL 27.8M</a:t>
            </a:r>
          </a:p>
          <a:p xmlns:a="http://schemas.openxmlformats.org/drawingml/2006/main">
            <a:pPr algn="l">
              <a:defRPr sz="1350" b="0">
                <a:solidFill>
                  <a:srgbClr val="91A7BE"/>
                </a:solidFill>
              </a:defRPr>
            </a:pPr>
            <a:r>
              <a:rPr sz="1350" b="0">
                <a:solidFill>
                  <a:srgbClr val="91A7BE"/>
                </a:solidFill>
              </a:rPr>
              <a:t>+32.1% growth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CB72C6-8C44-416E-B64B-25C9AA977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90525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6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3996DD-7A37-42E9-A963-3900A5DD5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905250"/>
            <a:ext cx="2438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AF2FF"/>
                </a:solidFill>
              </a:defRPr>
            </a:pPr>
            <a:r>
              <a:rPr sz="1875" b="1">
                <a:solidFill>
                  <a:srgbClr val="EAF2FF"/>
                </a:solidFill>
              </a:rPr>
              <a:t>2026 target gap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0D45BB-FCCF-4302-AEE9-DE5144001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371975"/>
            <a:ext cx="240030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1A7BE"/>
                </a:solidFill>
              </a:defRPr>
            </a:pPr>
            <a:r>
              <a:rPr sz="1350" b="0">
                <a:solidFill>
                  <a:srgbClr val="91A7BE"/>
                </a:solidFill>
              </a:rPr>
              <a:t>TL -2.3M</a:t>
            </a:r>
          </a:p>
          <a:p xmlns:a="http://schemas.openxmlformats.org/drawingml/2006/main">
            <a:pPr algn="l">
              <a:defRPr sz="1350" b="0">
                <a:solidFill>
                  <a:srgbClr val="91A7BE"/>
                </a:solidFill>
              </a:defRPr>
            </a:pPr>
            <a:r>
              <a:rPr sz="1350" b="0">
                <a:solidFill>
                  <a:srgbClr val="91A7BE"/>
                </a:solidFill>
              </a:rPr>
              <a:t>92.4% attainment</a:t>
            </a:r>
          </a:p>
        </p:txBody>
      </p:sp>
    </p:spTree>
    <p:extLst>
      <p:ext uri="{BB962C8B-B14F-4D97-AF65-F5344CB8AC3E}">
        <p14:creationId xmlns:p14="http://schemas.microsoft.com/office/powerpoint/2010/main" val="132363253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917DE31-C0AA-4961-A5CD-3AF485FE4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C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753336-4BF8-4AC9-8782-1A515517A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AF2FF"/>
                </a:solidFill>
              </a:defRPr>
            </a:pPr>
            <a:r>
              <a:rPr sz="2700" b="1">
                <a:solidFill>
                  <a:srgbClr val="EAF2FF"/>
                </a:solidFill>
              </a:rPr>
              <a:t>The monthly revenue gap persisted throughout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77ECA9-E3D0-47AA-994C-092FF785D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A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C9540B-0447-4919-98E7-DEA4DA14D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1A7BE"/>
                </a:solidFill>
              </a:defRPr>
            </a:pPr>
            <a:r>
              <a:rPr sz="825" b="0">
                <a:solidFill>
                  <a:srgbClr val="91A7BE"/>
                </a:solidFill>
              </a:rPr>
              <a:t>CRM Sales Analytics | 36-month sample dataset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38ED51-EBEB-46A4-BDAB-858DC1D63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534150"/>
            <a:ext cx="2343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1A7BE"/>
                </a:solidFill>
              </a:defRPr>
            </a:pPr>
            <a:r>
              <a:rPr sz="825" b="0">
                <a:solidFill>
                  <a:srgbClr val="91A7BE"/>
                </a:solidFill>
              </a:rPr>
              <a:t>Murat Miraç Gedik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647700" y="1571625"/>
          <a:ext xmlns:a="http://schemas.openxmlformats.org/drawingml/2006/main" cx="809625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4430113b6f14343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F5ADBA-62C7-4447-9967-4505AD019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000250"/>
            <a:ext cx="666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6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896FA0-E61C-45E9-B24A-6A71CB3B3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2000250"/>
            <a:ext cx="1962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AF2FF"/>
                </a:solidFill>
              </a:defRPr>
            </a:pPr>
            <a:r>
              <a:rPr sz="1875" b="1">
                <a:solidFill>
                  <a:srgbClr val="EAF2FF"/>
                </a:solidFill>
              </a:rPr>
              <a:t>Annual gap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64204C-26A6-4400-905D-4059E798D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2466975"/>
            <a:ext cx="19240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1A7BE"/>
                </a:solidFill>
              </a:defRPr>
            </a:pPr>
            <a:r>
              <a:rPr sz="1350" b="0">
                <a:solidFill>
                  <a:srgbClr val="91A7BE"/>
                </a:solidFill>
              </a:rPr>
              <a:t>TL -2.3M</a:t>
            </a:r>
          </a:p>
          <a:p xmlns:a="http://schemas.openxmlformats.org/drawingml/2006/main">
            <a:pPr algn="l">
              <a:defRPr sz="1350" b="0">
                <a:solidFill>
                  <a:srgbClr val="91A7BE"/>
                </a:solidFill>
              </a:defRPr>
            </a:pPr>
            <a:r>
              <a:rPr sz="1350" b="0">
                <a:solidFill>
                  <a:srgbClr val="91A7BE"/>
                </a:solidFill>
              </a:rPr>
              <a:t>92.4% attainment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1C0A7C-2980-41F3-946E-0E419032A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90525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5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E412CA-6382-401C-9797-BD5EA574A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3905250"/>
            <a:ext cx="1962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AF2FF"/>
                </a:solidFill>
              </a:defRPr>
            </a:pPr>
            <a:r>
              <a:rPr sz="1875" b="1">
                <a:solidFill>
                  <a:srgbClr val="EAF2FF"/>
                </a:solidFill>
              </a:rPr>
              <a:t>Priority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652EBB-8A67-4F3E-A938-BA3AB4DC7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4371975"/>
            <a:ext cx="19240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1A7BE"/>
                </a:solidFill>
              </a:defRPr>
            </a:pPr>
            <a:r>
              <a:rPr sz="1350" b="0">
                <a:solidFill>
                  <a:srgbClr val="91A7BE"/>
                </a:solidFill>
              </a:rPr>
              <a:t>Decompose targets into rep, channel and deal-mix drivers.</a:t>
            </a:r>
          </a:p>
        </p:txBody>
      </p:sp>
    </p:spTree>
    <p:extLst>
      <p:ext uri="{BB962C8B-B14F-4D97-AF65-F5344CB8AC3E}">
        <p14:creationId xmlns:p14="http://schemas.microsoft.com/office/powerpoint/2010/main" val="1301752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87D9937-0903-4E68-B7AA-620F5D207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C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EA016C-C681-4B4D-B1BD-FAEDF13E6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AF2FF"/>
                </a:solidFill>
              </a:defRPr>
            </a:pPr>
            <a:r>
              <a:rPr sz="2700" b="1">
                <a:solidFill>
                  <a:srgbClr val="EAF2FF"/>
                </a:solidFill>
              </a:rPr>
              <a:t>December revenue gap: TL 260K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832937-2FC3-4E24-BDB2-C771C004B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A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2D1128-1774-431C-BB35-09B45F816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1A7BE"/>
                </a:solidFill>
              </a:defRPr>
            </a:pPr>
            <a:r>
              <a:rPr sz="825" b="0">
                <a:solidFill>
                  <a:srgbClr val="91A7BE"/>
                </a:solidFill>
              </a:rPr>
              <a:t>CRM Sales Analytics | 36-month sample dataset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94FE90-410B-4635-BB65-674FA5ADE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534150"/>
            <a:ext cx="2343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1A7BE"/>
                </a:solidFill>
              </a:defRPr>
            </a:pPr>
            <a:r>
              <a:rPr sz="825" b="0">
                <a:solidFill>
                  <a:srgbClr val="91A7BE"/>
                </a:solidFill>
              </a:rPr>
              <a:t>Murat Miraç Gedik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666750" y="1666875"/>
          <a:ext xmlns:a="http://schemas.openxmlformats.org/drawingml/2006/main" cx="809625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74a96a61ca8449c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E62050-1B28-428B-B65E-80695150C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000250"/>
            <a:ext cx="666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6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8A3865-133D-4972-8E55-F8B2BB1E3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2000250"/>
            <a:ext cx="1962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AF2FF"/>
                </a:solidFill>
              </a:defRPr>
            </a:pPr>
            <a:r>
              <a:rPr sz="1875" b="1">
                <a:solidFill>
                  <a:srgbClr val="EAF2FF"/>
                </a:solidFill>
              </a:rPr>
              <a:t>December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B82135-0781-410C-9ADB-B23D8DD83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2466975"/>
            <a:ext cx="19240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1A7BE"/>
                </a:solidFill>
              </a:defRPr>
            </a:pPr>
            <a:r>
              <a:rPr sz="1350" b="0">
                <a:solidFill>
                  <a:srgbClr val="91A7BE"/>
                </a:solidFill>
              </a:rPr>
              <a:t>TL -260K</a:t>
            </a:r>
          </a:p>
          <a:p xmlns:a="http://schemas.openxmlformats.org/drawingml/2006/main">
            <a:pPr algn="l">
              <a:defRPr sz="1350" b="0">
                <a:solidFill>
                  <a:srgbClr val="91A7BE"/>
                </a:solidFill>
              </a:defRPr>
            </a:pPr>
            <a:r>
              <a:rPr sz="1350" b="0">
                <a:solidFill>
                  <a:srgbClr val="91A7BE"/>
                </a:solidFill>
              </a:rPr>
              <a:t>91.1%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574F89-0BE7-4C57-B22C-02A852A60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90525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5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81AEBA-1009-4E16-8F8E-CED1D5CDA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3905250"/>
            <a:ext cx="1962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AF2FF"/>
                </a:solidFill>
              </a:defRPr>
            </a:pPr>
            <a:r>
              <a:rPr sz="1875" b="1">
                <a:solidFill>
                  <a:srgbClr val="EAF2FF"/>
                </a:solidFill>
              </a:rPr>
              <a:t>Interpretation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9EEE32-B388-4B84-843D-1CB22A3F6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4371975"/>
            <a:ext cx="19240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1A7BE"/>
                </a:solidFill>
              </a:defRPr>
            </a:pPr>
            <a:r>
              <a:rPr sz="1350" b="0">
                <a:solidFill>
                  <a:srgbClr val="91A7BE"/>
                </a:solidFill>
              </a:rPr>
              <a:t>The gap is not a one-off event; it is a structural target issue repeated across most months.</a:t>
            </a:r>
          </a:p>
        </p:txBody>
      </p:sp>
    </p:spTree>
    <p:extLst>
      <p:ext uri="{BB962C8B-B14F-4D97-AF65-F5344CB8AC3E}">
        <p14:creationId xmlns:p14="http://schemas.microsoft.com/office/powerpoint/2010/main" val="120393499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9DB5876-0A61-47C5-AB86-034F783AB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C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B340D2-C824-4E5D-A68A-3C4007553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AF2FF"/>
                </a:solidFill>
              </a:defRPr>
            </a:pPr>
            <a:r>
              <a:rPr sz="2700" b="1">
                <a:solidFill>
                  <a:srgbClr val="EAF2FF"/>
                </a:solidFill>
              </a:rPr>
              <a:t>Pipeline provides more than 7x average target coverage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C17011-A2E2-478B-8E35-7FA6D7D3D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A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34660D-953A-4F4C-9DA2-402DD81DE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1A7BE"/>
                </a:solidFill>
              </a:defRPr>
            </a:pPr>
            <a:r>
              <a:rPr sz="825" b="0">
                <a:solidFill>
                  <a:srgbClr val="91A7BE"/>
                </a:solidFill>
              </a:rPr>
              <a:t>CRM Sales Analytics | 36-month sample dataset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15E5F0-4055-45D5-87ED-E7D35F610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534150"/>
            <a:ext cx="2343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1A7BE"/>
                </a:solidFill>
              </a:defRPr>
            </a:pPr>
            <a:r>
              <a:rPr sz="825" b="0">
                <a:solidFill>
                  <a:srgbClr val="91A7BE"/>
                </a:solidFill>
              </a:rPr>
              <a:t>Murat Miraç Gedik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647700" y="1619250"/>
          <a:ext xmlns:a="http://schemas.openxmlformats.org/drawingml/2006/main" cx="8048625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6d7d0e24d77406b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C86D82-24DF-495F-BE39-E6E53360C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000250"/>
            <a:ext cx="666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C89F95-58DE-43BC-BB2C-218238FB4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000250"/>
            <a:ext cx="1962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AF2FF"/>
                </a:solidFill>
              </a:defRPr>
            </a:pPr>
            <a:r>
              <a:rPr sz="1875" b="1">
                <a:solidFill>
                  <a:srgbClr val="EAF2FF"/>
                </a:solidFill>
              </a:rPr>
              <a:t>December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599D4B-B17A-44BB-9A1B-C7DF2B2A4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466975"/>
            <a:ext cx="19240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1A7BE"/>
                </a:solidFill>
              </a:defRPr>
            </a:pPr>
            <a:r>
              <a:rPr sz="1350" b="0">
                <a:solidFill>
                  <a:srgbClr val="91A7BE"/>
                </a:solidFill>
              </a:rPr>
              <a:t>7.5x</a:t>
            </a:r>
          </a:p>
          <a:p xmlns:a="http://schemas.openxmlformats.org/drawingml/2006/main">
            <a:pPr algn="l">
              <a:defRPr sz="1350" b="0">
                <a:solidFill>
                  <a:srgbClr val="91A7BE"/>
                </a:solidFill>
              </a:defRPr>
            </a:pPr>
            <a:r>
              <a:rPr sz="1350" b="0">
                <a:solidFill>
                  <a:srgbClr val="91A7BE"/>
                </a:solidFill>
              </a:rPr>
              <a:t>TL 21.8M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15E2D7-B3B4-4CFA-852B-3E75A4F51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905250"/>
            <a:ext cx="666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5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02AB16-3FDC-47A0-98BF-D82D10285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905250"/>
            <a:ext cx="1962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AF2FF"/>
                </a:solidFill>
              </a:defRPr>
            </a:pPr>
            <a:r>
              <a:rPr sz="1875" b="1">
                <a:solidFill>
                  <a:srgbClr val="EAF2FF"/>
                </a:solidFill>
              </a:rPr>
              <a:t>Question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671981-BB6D-4EC3-8DDE-FF313D4A1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371975"/>
            <a:ext cx="19240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1A7BE"/>
                </a:solidFill>
              </a:defRPr>
            </a:pPr>
            <a:r>
              <a:rPr sz="1350" b="0">
                <a:solidFill>
                  <a:srgbClr val="91A7BE"/>
                </a:solidFill>
              </a:rPr>
              <a:t>Why is high pipeline not converting into revenue at the same rate?</a:t>
            </a:r>
          </a:p>
        </p:txBody>
      </p:sp>
    </p:spTree>
    <p:extLst>
      <p:ext uri="{BB962C8B-B14F-4D97-AF65-F5344CB8AC3E}">
        <p14:creationId xmlns:p14="http://schemas.microsoft.com/office/powerpoint/2010/main" val="144530588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906B5A6-2A9C-476B-BD3D-6C4210408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C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3F3C3A-4787-4A35-AA6C-CD7BEEF5D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AF2FF"/>
                </a:solidFill>
              </a:defRPr>
            </a:pPr>
            <a:r>
              <a:rPr sz="2700" b="1">
                <a:solidFill>
                  <a:srgbClr val="EAF2FF"/>
                </a:solidFill>
              </a:rPr>
              <a:t>Sales rep performance is operating at two speeds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2F9988-F66E-4C88-B4CD-144ADF180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A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A8D722-9E60-46EC-8674-A2B6EE78C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1A7BE"/>
                </a:solidFill>
              </a:defRPr>
            </a:pPr>
            <a:r>
              <a:rPr sz="825" b="0">
                <a:solidFill>
                  <a:srgbClr val="91A7BE"/>
                </a:solidFill>
              </a:rPr>
              <a:t>CRM Sales Analytics | 36-month sample dataset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9750AD-D786-4C71-BC31-785D61F4D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534150"/>
            <a:ext cx="2343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1A7BE"/>
                </a:solidFill>
              </a:defRPr>
            </a:pPr>
            <a:r>
              <a:rPr sz="825" b="0">
                <a:solidFill>
                  <a:srgbClr val="91A7BE"/>
                </a:solidFill>
              </a:rPr>
              <a:t>Murat Miraç Gedik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47700" y="1571625"/>
          <a:ext xmlns:a="http://schemas.openxmlformats.org/drawingml/2006/main" cx="108966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36274"/>
                <a:gridCol w="1757516"/>
                <a:gridCol w="1757516"/>
                <a:gridCol w="1757516"/>
                <a:gridCol w="1581765"/>
                <a:gridCol w="1406013"/>
              </a:tblGrid>
              <a:tr h="5715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EAF2FF"/>
                          </a:solidFill>
                        </a:rPr>
                        <a:t>Sales Rep</a:t>
                      </a:r>
                    </a:p>
                  </a:txBody>
                  <a:tcPr marL="95250" marR="95250" marT="66675" marB="66675">
                    <a:solidFill>
                      <a:srgbClr val="1526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EAF2FF"/>
                          </a:solidFill>
                        </a:rPr>
                        <a:t>Revenue</a:t>
                      </a:r>
                    </a:p>
                  </a:txBody>
                  <a:tcPr marL="95250" marR="95250" marT="66675" marB="66675">
                    <a:solidFill>
                      <a:srgbClr val="1526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EAF2FF"/>
                          </a:solidFill>
                        </a:rPr>
                        <a:t>Target</a:t>
                      </a:r>
                    </a:p>
                  </a:txBody>
                  <a:tcPr marL="95250" marR="95250" marT="66675" marB="66675">
                    <a:solidFill>
                      <a:srgbClr val="1526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EAF2FF"/>
                          </a:solidFill>
                        </a:rPr>
                        <a:t>Attainment</a:t>
                      </a:r>
                    </a:p>
                  </a:txBody>
                  <a:tcPr marL="95250" marR="95250" marT="66675" marB="66675">
                    <a:solidFill>
                      <a:srgbClr val="1526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EAF2FF"/>
                          </a:solidFill>
                        </a:rPr>
                        <a:t>Win Rate</a:t>
                      </a:r>
                    </a:p>
                  </a:txBody>
                  <a:tcPr marL="95250" marR="95250" marT="66675" marB="66675">
                    <a:solidFill>
                      <a:srgbClr val="1526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EAF2FF"/>
                          </a:solidFill>
                        </a:rPr>
                        <a:t>Cycle</a:t>
                      </a:r>
                    </a:p>
                  </a:txBody>
                  <a:tcPr marL="95250" marR="95250" marT="66675" marB="66675">
                    <a:solidFill>
                      <a:srgbClr val="15263B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AF2FF"/>
                          </a:solidFill>
                        </a:rPr>
                        <a:t>Deniz Koç</a:t>
                      </a:r>
                    </a:p>
                  </a:txBody>
                  <a:tcPr marL="95250" marR="95250" marT="66675" marB="66675">
                    <a:solidFill>
                      <a:srgbClr val="10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AF2FF"/>
                          </a:solidFill>
                        </a:rPr>
                        <a:t>TL 6.7M</a:t>
                      </a:r>
                    </a:p>
                  </a:txBody>
                  <a:tcPr marL="95250" marR="95250" marT="66675" marB="66675">
                    <a:solidFill>
                      <a:srgbClr val="10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AF2FF"/>
                          </a:solidFill>
                        </a:rPr>
                        <a:t>TL 5.1M</a:t>
                      </a:r>
                    </a:p>
                  </a:txBody>
                  <a:tcPr marL="95250" marR="95250" marT="66675" marB="66675">
                    <a:solidFill>
                      <a:srgbClr val="10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39D98A"/>
                          </a:solidFill>
                        </a:rPr>
                        <a:t>130.5%</a:t>
                      </a:r>
                    </a:p>
                  </a:txBody>
                  <a:tcPr marL="95250" marR="95250" marT="66675" marB="66675">
                    <a:solidFill>
                      <a:srgbClr val="0B17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AF2FF"/>
                          </a:solidFill>
                        </a:rPr>
                        <a:t>35.7%</a:t>
                      </a:r>
                    </a:p>
                  </a:txBody>
                  <a:tcPr marL="95250" marR="95250" marT="66675" marB="66675">
                    <a:solidFill>
                      <a:srgbClr val="10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AF2FF"/>
                          </a:solidFill>
                        </a:rPr>
                        <a:t>43 days</a:t>
                      </a:r>
                    </a:p>
                  </a:txBody>
                  <a:tcPr marL="95250" marR="95250" marT="66675" marB="66675">
                    <a:solidFill>
                      <a:srgbClr val="101D2E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AF2FF"/>
                          </a:solidFill>
                        </a:rPr>
                        <a:t>Can Arslan</a:t>
                      </a:r>
                    </a:p>
                  </a:txBody>
                  <a:tcPr marL="95250" marR="95250" marT="66675" marB="66675">
                    <a:solidFill>
                      <a:srgbClr val="10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AF2FF"/>
                          </a:solidFill>
                        </a:rPr>
                        <a:t>TL 6.5M</a:t>
                      </a:r>
                    </a:p>
                  </a:txBody>
                  <a:tcPr marL="95250" marR="95250" marT="66675" marB="66675">
                    <a:solidFill>
                      <a:srgbClr val="10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AF2FF"/>
                          </a:solidFill>
                        </a:rPr>
                        <a:t>TL 5.7M</a:t>
                      </a:r>
                    </a:p>
                  </a:txBody>
                  <a:tcPr marL="95250" marR="95250" marT="66675" marB="66675">
                    <a:solidFill>
                      <a:srgbClr val="10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39D98A"/>
                          </a:solidFill>
                        </a:rPr>
                        <a:t>113.0%</a:t>
                      </a:r>
                    </a:p>
                  </a:txBody>
                  <a:tcPr marL="95250" marR="95250" marT="66675" marB="66675">
                    <a:solidFill>
                      <a:srgbClr val="0B17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AF2FF"/>
                          </a:solidFill>
                        </a:rPr>
                        <a:t>33.4%</a:t>
                      </a:r>
                    </a:p>
                  </a:txBody>
                  <a:tcPr marL="95250" marR="95250" marT="66675" marB="66675">
                    <a:solidFill>
                      <a:srgbClr val="10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AF2FF"/>
                          </a:solidFill>
                        </a:rPr>
                        <a:t>45 days</a:t>
                      </a:r>
                    </a:p>
                  </a:txBody>
                  <a:tcPr marL="95250" marR="95250" marT="66675" marB="66675">
                    <a:solidFill>
                      <a:srgbClr val="101D2E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AF2FF"/>
                          </a:solidFill>
                        </a:rPr>
                        <a:t>Selin Yılmaz</a:t>
                      </a:r>
                    </a:p>
                  </a:txBody>
                  <a:tcPr marL="95250" marR="95250" marT="66675" marB="66675">
                    <a:solidFill>
                      <a:srgbClr val="10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AF2FF"/>
                          </a:solidFill>
                        </a:rPr>
                        <a:t>TL 5.8M</a:t>
                      </a:r>
                    </a:p>
                  </a:txBody>
                  <a:tcPr marL="95250" marR="95250" marT="66675" marB="66675">
                    <a:solidFill>
                      <a:srgbClr val="10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AF2FF"/>
                          </a:solidFill>
                        </a:rPr>
                        <a:t>TL 6.0M</a:t>
                      </a:r>
                    </a:p>
                  </a:txBody>
                  <a:tcPr marL="95250" marR="95250" marT="66675" marB="66675">
                    <a:solidFill>
                      <a:srgbClr val="10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39D98A"/>
                          </a:solidFill>
                        </a:rPr>
                        <a:t>96.6%</a:t>
                      </a:r>
                    </a:p>
                  </a:txBody>
                  <a:tcPr marL="95250" marR="95250" marT="66675" marB="66675">
                    <a:solidFill>
                      <a:srgbClr val="0B17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AF2FF"/>
                          </a:solidFill>
                        </a:rPr>
                        <a:t>30.9%</a:t>
                      </a:r>
                    </a:p>
                  </a:txBody>
                  <a:tcPr marL="95250" marR="95250" marT="66675" marB="66675">
                    <a:solidFill>
                      <a:srgbClr val="10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AF2FF"/>
                          </a:solidFill>
                        </a:rPr>
                        <a:t>46 days</a:t>
                      </a:r>
                    </a:p>
                  </a:txBody>
                  <a:tcPr marL="95250" marR="95250" marT="66675" marB="66675">
                    <a:solidFill>
                      <a:srgbClr val="101D2E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AF2FF"/>
                          </a:solidFill>
                        </a:rPr>
                        <a:t>Emre Kaya</a:t>
                      </a:r>
                    </a:p>
                  </a:txBody>
                  <a:tcPr marL="95250" marR="95250" marT="66675" marB="66675">
                    <a:solidFill>
                      <a:srgbClr val="10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AF2FF"/>
                          </a:solidFill>
                        </a:rPr>
                        <a:t>TL 5.3M</a:t>
                      </a:r>
                    </a:p>
                  </a:txBody>
                  <a:tcPr marL="95250" marR="95250" marT="66675" marB="66675">
                    <a:solidFill>
                      <a:srgbClr val="10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AF2FF"/>
                          </a:solidFill>
                        </a:rPr>
                        <a:t>TL 6.3M</a:t>
                      </a:r>
                    </a:p>
                  </a:txBody>
                  <a:tcPr marL="95250" marR="95250" marT="66675" marB="66675">
                    <a:solidFill>
                      <a:srgbClr val="10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39D98A"/>
                          </a:solidFill>
                        </a:rPr>
                        <a:t>83.6%</a:t>
                      </a:r>
                    </a:p>
                  </a:txBody>
                  <a:tcPr marL="95250" marR="95250" marT="66675" marB="66675">
                    <a:solidFill>
                      <a:srgbClr val="0B17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AF2FF"/>
                          </a:solidFill>
                        </a:rPr>
                        <a:t>28.8%</a:t>
                      </a:r>
                    </a:p>
                  </a:txBody>
                  <a:tcPr marL="95250" marR="95250" marT="66675" marB="66675">
                    <a:solidFill>
                      <a:srgbClr val="10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AF2FF"/>
                          </a:solidFill>
                        </a:rPr>
                        <a:t>48 days</a:t>
                      </a:r>
                    </a:p>
                  </a:txBody>
                  <a:tcPr marL="95250" marR="95250" marT="66675" marB="66675">
                    <a:solidFill>
                      <a:srgbClr val="101D2E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AF2FF"/>
                          </a:solidFill>
                        </a:rPr>
                        <a:t>Ayşe Demir</a:t>
                      </a:r>
                    </a:p>
                  </a:txBody>
                  <a:tcPr marL="95250" marR="95250" marT="66675" marB="66675">
                    <a:solidFill>
                      <a:srgbClr val="10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AF2FF"/>
                          </a:solidFill>
                        </a:rPr>
                        <a:t>TL 5.1M</a:t>
                      </a:r>
                    </a:p>
                  </a:txBody>
                  <a:tcPr marL="95250" marR="95250" marT="66675" marB="66675">
                    <a:solidFill>
                      <a:srgbClr val="10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AF2FF"/>
                          </a:solidFill>
                        </a:rPr>
                        <a:t>TL 6.9M</a:t>
                      </a:r>
                    </a:p>
                  </a:txBody>
                  <a:tcPr marL="95250" marR="95250" marT="66675" marB="66675">
                    <a:solidFill>
                      <a:srgbClr val="10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39D98A"/>
                          </a:solidFill>
                        </a:rPr>
                        <a:t>73.9%</a:t>
                      </a:r>
                    </a:p>
                  </a:txBody>
                  <a:tcPr marL="95250" marR="95250" marT="66675" marB="66675">
                    <a:solidFill>
                      <a:srgbClr val="0B17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AF2FF"/>
                          </a:solidFill>
                        </a:rPr>
                        <a:t>27.4%</a:t>
                      </a:r>
                    </a:p>
                  </a:txBody>
                  <a:tcPr marL="95250" marR="95250" marT="66675" marB="66675">
                    <a:solidFill>
                      <a:srgbClr val="10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AF2FF"/>
                          </a:solidFill>
                        </a:rPr>
                        <a:t>50 days</a:t>
                      </a:r>
                    </a:p>
                  </a:txBody>
                  <a:tcPr marL="95250" marR="95250" marT="66675" marB="66675">
                    <a:solidFill>
                      <a:srgbClr val="101D2E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731288-4745-4C61-A843-0650F35DD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816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B547"/>
                </a:solidFill>
              </a:defRPr>
            </a:pPr>
            <a:r>
              <a:rPr sz="1725" b="1">
                <a:solidFill>
                  <a:srgbClr val="FFB547"/>
                </a:solidFill>
              </a:rPr>
              <a:t>Deniz and Can are above target; coaching and pipeline quality are priorities for Ayşe and Emre.</a:t>
            </a:r>
          </a:p>
        </p:txBody>
      </p:sp>
    </p:spTree>
    <p:extLst>
      <p:ext uri="{BB962C8B-B14F-4D97-AF65-F5344CB8AC3E}">
        <p14:creationId xmlns:p14="http://schemas.microsoft.com/office/powerpoint/2010/main" val="1971444423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55CD6E5-1607-413E-886C-DE845C003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C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3ED6D8-26A0-4780-94E5-79EDE1292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AF2FF"/>
                </a:solidFill>
              </a:defRPr>
            </a:pPr>
            <a:r>
              <a:rPr sz="2700" b="1">
                <a:solidFill>
                  <a:srgbClr val="EAF2FF"/>
                </a:solidFill>
              </a:rPr>
              <a:t>Deniz and Can materially outperformed their 2026 targets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175DE3-7657-43D5-9A9B-7B46690F6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A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B44B0F-4302-40CF-8FC9-E74951C86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1A7BE"/>
                </a:solidFill>
              </a:defRPr>
            </a:pPr>
            <a:r>
              <a:rPr sz="825" b="0">
                <a:solidFill>
                  <a:srgbClr val="91A7BE"/>
                </a:solidFill>
              </a:rPr>
              <a:t>CRM Sales Analytics | 36-month sample dataset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8C0C82-625D-4CE5-802D-9910C5535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534150"/>
            <a:ext cx="2343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1A7BE"/>
                </a:solidFill>
              </a:defRPr>
            </a:pPr>
            <a:r>
              <a:rPr sz="825" b="0">
                <a:solidFill>
                  <a:srgbClr val="91A7BE"/>
                </a:solidFill>
              </a:rPr>
              <a:t>Murat Miraç Gedik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647700" y="1619250"/>
          <a:ext xmlns:a="http://schemas.openxmlformats.org/drawingml/2006/main" cx="81915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3d7fb0a5eda4211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E7AE04-DDC5-4418-AB35-6AFC3AD30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000250"/>
            <a:ext cx="666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7A2C00-7AA4-4B36-89BB-51DFB9733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000250"/>
            <a:ext cx="1866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AF2FF"/>
                </a:solidFill>
              </a:defRPr>
            </a:pPr>
            <a:r>
              <a:rPr sz="1875" b="1">
                <a:solidFill>
                  <a:srgbClr val="EAF2FF"/>
                </a:solidFill>
              </a:rPr>
              <a:t>Leader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301573-1E57-4A72-9F1D-B4DEB0CCB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466975"/>
            <a:ext cx="1828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1A7BE"/>
                </a:solidFill>
              </a:defRPr>
            </a:pPr>
            <a:r>
              <a:rPr sz="1350" b="0">
                <a:solidFill>
                  <a:srgbClr val="91A7BE"/>
                </a:solidFill>
              </a:rPr>
              <a:t>Deniz</a:t>
            </a:r>
          </a:p>
          <a:p xmlns:a="http://schemas.openxmlformats.org/drawingml/2006/main">
            <a:pPr algn="l">
              <a:defRPr sz="1350" b="0">
                <a:solidFill>
                  <a:srgbClr val="91A7BE"/>
                </a:solidFill>
              </a:defRPr>
            </a:pPr>
            <a:r>
              <a:rPr sz="1350" b="0">
                <a:solidFill>
                  <a:srgbClr val="91A7BE"/>
                </a:solidFill>
              </a:rPr>
              <a:t>130.5%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879D8F-CD18-43F7-BED6-4072A4AAC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905250"/>
            <a:ext cx="666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6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2BA489-9CC2-4E7D-A9B4-1F4695FAC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905250"/>
            <a:ext cx="1866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AF2FF"/>
                </a:solidFill>
              </a:defRPr>
            </a:pPr>
            <a:r>
              <a:rPr sz="1875" b="1">
                <a:solidFill>
                  <a:srgbClr val="EAF2FF"/>
                </a:solidFill>
              </a:rPr>
              <a:t>Largest gap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5EC091-CE64-4782-B86D-678DD1F87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371975"/>
            <a:ext cx="1828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1A7BE"/>
                </a:solidFill>
              </a:defRPr>
            </a:pPr>
            <a:r>
              <a:rPr sz="1350" b="0">
                <a:solidFill>
                  <a:srgbClr val="91A7BE"/>
                </a:solidFill>
              </a:rPr>
              <a:t>Ayşe</a:t>
            </a:r>
          </a:p>
          <a:p xmlns:a="http://schemas.openxmlformats.org/drawingml/2006/main">
            <a:pPr algn="l">
              <a:defRPr sz="1350" b="0">
                <a:solidFill>
                  <a:srgbClr val="91A7BE"/>
                </a:solidFill>
              </a:defRPr>
            </a:pPr>
            <a:r>
              <a:rPr sz="1350" b="0">
                <a:solidFill>
                  <a:srgbClr val="91A7BE"/>
                </a:solidFill>
              </a:rPr>
              <a:t>73.9%</a:t>
            </a:r>
          </a:p>
        </p:txBody>
      </p:sp>
    </p:spTree>
    <p:extLst>
      <p:ext uri="{BB962C8B-B14F-4D97-AF65-F5344CB8AC3E}">
        <p14:creationId xmlns:p14="http://schemas.microsoft.com/office/powerpoint/2010/main" val="542136071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6E87014-892C-44CD-B35C-50371356A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C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97479A-CECC-43B3-A85D-09249B1DC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AF2FF"/>
                </a:solidFill>
              </a:defRPr>
            </a:pPr>
            <a:r>
              <a:rPr sz="2700" b="1">
                <a:solidFill>
                  <a:srgbClr val="EAF2FF"/>
                </a:solidFill>
              </a:rPr>
              <a:t>Shorter sales cycles align with higher win rates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D4366F-B8C9-46E6-8C01-599171399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A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39C3B0-7F68-42CF-A6E2-A5D371C14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1A7BE"/>
                </a:solidFill>
              </a:defRPr>
            </a:pPr>
            <a:r>
              <a:rPr sz="825" b="0">
                <a:solidFill>
                  <a:srgbClr val="91A7BE"/>
                </a:solidFill>
              </a:rPr>
              <a:t>CRM Sales Analytics | 36-month sample dataset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71E427-2BC2-4CC9-A6C9-069C12AB7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534150"/>
            <a:ext cx="2343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1A7BE"/>
                </a:solidFill>
              </a:defRPr>
            </a:pPr>
            <a:r>
              <a:rPr sz="825" b="0">
                <a:solidFill>
                  <a:srgbClr val="91A7BE"/>
                </a:solidFill>
              </a:rPr>
              <a:t>Murat Miraç Gedik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C0E315-631B-4465-AB10-D197936CF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6685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B547"/>
                </a:solidFill>
              </a:defRPr>
            </a:pPr>
            <a:r>
              <a:rPr sz="1125" b="1">
                <a:solidFill>
                  <a:srgbClr val="FFB547"/>
                </a:solidFill>
              </a:rPr>
              <a:t>AVERAGE SALES CYCLE (DAYS)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666750" y="1714500"/>
          <a:ext xmlns:a="http://schemas.openxmlformats.org/drawingml/2006/main" cx="4857750" cy="3476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77e4d9067b149c2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BD9734-5C73-4217-9A80-8C18F2369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6685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9D98A"/>
                </a:solidFill>
              </a:defRPr>
            </a:pPr>
            <a:r>
              <a:rPr sz="1125" b="1">
                <a:solidFill>
                  <a:srgbClr val="39D98A"/>
                </a:solidFill>
              </a:rPr>
              <a:t>WIN RATE (%)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6191250" y="1714500"/>
          <a:ext xmlns:a="http://schemas.openxmlformats.org/drawingml/2006/main" cx="4857750" cy="3476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9cc227eb3c44765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806788-1BAC-4D80-A6E4-1D53AAA3E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72125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4C7D9"/>
                </a:solidFill>
              </a:defRPr>
            </a:pPr>
            <a:r>
              <a:rPr sz="1650" b="1">
                <a:solidFill>
                  <a:srgbClr val="24C7D9"/>
                </a:solidFill>
              </a:rPr>
              <a:t>Deniz combines a 43-day cycle with a 35.7% win rate, the strongest profile.</a:t>
            </a:r>
          </a:p>
        </p:txBody>
      </p:sp>
    </p:spTree>
    <p:extLst>
      <p:ext uri="{BB962C8B-B14F-4D97-AF65-F5344CB8AC3E}">
        <p14:creationId xmlns:p14="http://schemas.microsoft.com/office/powerpoint/2010/main" val="1353490186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F129151-B20B-4231-8C22-5886D532D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C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B7CA4D-4237-4123-AA4C-B4B8FA618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AF2FF"/>
                </a:solidFill>
              </a:defRPr>
            </a:pPr>
            <a:r>
              <a:rPr sz="2700" b="1">
                <a:solidFill>
                  <a:srgbClr val="EAF2FF"/>
                </a:solidFill>
              </a:rPr>
              <a:t>Customer acquisition increased while churn remained 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EFD496-BF27-4F60-ADCC-FAC12BA3A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A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8693BF-BB38-4D48-B1B0-CCC18D4E3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1A7BE"/>
                </a:solidFill>
              </a:defRPr>
            </a:pPr>
            <a:r>
              <a:rPr sz="825" b="0">
                <a:solidFill>
                  <a:srgbClr val="91A7BE"/>
                </a:solidFill>
              </a:rPr>
              <a:t>CRM Sales Analytics | 36-month sample dataset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2E3CD9-E523-41BB-9767-EAE1035CD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534150"/>
            <a:ext cx="2343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1A7BE"/>
                </a:solidFill>
              </a:defRPr>
            </a:pPr>
            <a:r>
              <a:rPr sz="825" b="0">
                <a:solidFill>
                  <a:srgbClr val="91A7BE"/>
                </a:solidFill>
              </a:rPr>
              <a:t>Murat Miraç Gedik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666750" y="1666875"/>
          <a:ext xmlns:a="http://schemas.openxmlformats.org/drawingml/2006/main" cx="5095875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6173421eeff448d"/>
          </a:graphicData>
        </a:graphic>
      </p:graphicFrame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6334125" y="1666875"/>
          <a:ext xmlns:a="http://schemas.openxmlformats.org/drawingml/2006/main" cx="5095875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4a493a554bc4b94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8D511C-EDAF-4AF0-A43D-911C9991A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57212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39D98A"/>
                </a:solidFill>
              </a:defRPr>
            </a:pPr>
            <a:r>
              <a:rPr sz="1575" b="1">
                <a:solidFill>
                  <a:srgbClr val="39D98A"/>
                </a:solidFill>
              </a:rPr>
              <a:t>December: 129 new customers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ADBB44-6F13-460F-8893-2239907AE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57212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667A"/>
                </a:solidFill>
              </a:defRPr>
            </a:pPr>
            <a:r>
              <a:rPr sz="1575" b="1">
                <a:solidFill>
                  <a:srgbClr val="FF667A"/>
                </a:solidFill>
              </a:rPr>
              <a:t>December churn: 2.4%</a:t>
            </a:r>
          </a:p>
        </p:txBody>
      </p:sp>
    </p:spTree>
    <p:extLst>
      <p:ext uri="{BB962C8B-B14F-4D97-AF65-F5344CB8AC3E}">
        <p14:creationId xmlns:p14="http://schemas.microsoft.com/office/powerpoint/2010/main" val="1480974416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9F91175-E4B5-465F-9192-74634A04E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C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011612-929B-401A-9C44-4C8300ADB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AF2FF"/>
                </a:solidFill>
              </a:defRPr>
            </a:pPr>
            <a:r>
              <a:rPr sz="2700" b="1">
                <a:solidFill>
                  <a:srgbClr val="EAF2FF"/>
                </a:solidFill>
              </a:rPr>
              <a:t>Four priorities turn growth into quality revenue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49B6F3-68AD-4532-AE06-0369B522B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A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769FEC-ACA3-4966-AC23-FB9E2F827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1A7BE"/>
                </a:solidFill>
              </a:defRPr>
            </a:pPr>
            <a:r>
              <a:rPr sz="825" b="0">
                <a:solidFill>
                  <a:srgbClr val="91A7BE"/>
                </a:solidFill>
              </a:rPr>
              <a:t>CRM Sales Analytics | 36-month sample dataset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2B9E5B-F175-4EEE-91A3-77137D0FB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534150"/>
            <a:ext cx="2343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1A7BE"/>
                </a:solidFill>
              </a:defRPr>
            </a:pPr>
            <a:r>
              <a:rPr sz="825" b="0">
                <a:solidFill>
                  <a:srgbClr val="91A7BE"/>
                </a:solidFill>
              </a:rPr>
              <a:t>Murat Miraç Gedik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057885-252E-47CD-B548-E45120737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4C7D9"/>
                </a:solidFill>
              </a:defRPr>
            </a:pPr>
            <a:r>
              <a:rPr sz="1650" b="1">
                <a:solidFill>
                  <a:srgbClr val="24C7D9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2E2EDD-BA21-4081-B3B0-DD0F3EED4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476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C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E9FEAA-3F88-4B53-8BDF-297B549E3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AF2FF"/>
                </a:solidFill>
              </a:defRPr>
            </a:pPr>
            <a:r>
              <a:rPr sz="1800" b="1">
                <a:solidFill>
                  <a:srgbClr val="EAF2FF"/>
                </a:solidFill>
              </a:rPr>
              <a:t>Rebalance the channel mix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C6FAC8-95AB-4D9B-A974-69586B71E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476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1A7BE"/>
                </a:solidFill>
              </a:defRPr>
            </a:pPr>
            <a:r>
              <a:rPr sz="1275" b="0">
                <a:solidFill>
                  <a:srgbClr val="91A7BE"/>
                </a:solidFill>
              </a:rPr>
              <a:t>Scale Referral and Organic; set quality thresholds for Paid Ads and Outbound.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A2A73D-D599-47C9-A4F5-5D78C78FD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61925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F7CFF"/>
                </a:solidFill>
              </a:defRPr>
            </a:pPr>
            <a:r>
              <a:rPr sz="1650" b="1">
                <a:solidFill>
                  <a:srgbClr val="4F7CFF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32A192-BC22-4A00-82C4-724806017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076450"/>
            <a:ext cx="476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3CB7D8-D942-40C0-ACCE-1F9524E1A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669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AF2FF"/>
                </a:solidFill>
              </a:defRPr>
            </a:pPr>
            <a:r>
              <a:rPr sz="1800" b="1">
                <a:solidFill>
                  <a:srgbClr val="EAF2FF"/>
                </a:solidFill>
              </a:rPr>
              <a:t>Manage pipeline by age and stage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A50596-6ED6-4F34-90B8-6D74702AE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743200"/>
            <a:ext cx="476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1A7BE"/>
                </a:solidFill>
              </a:defRPr>
            </a:pPr>
            <a:r>
              <a:rPr sz="1275" b="0">
                <a:solidFill>
                  <a:srgbClr val="91A7BE"/>
                </a:solidFill>
              </a:rPr>
              <a:t>Expose where high coverage fails to convert into revenue.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ED939C-8900-475B-8DAE-77F382E71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57625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9D98A"/>
                </a:solidFill>
              </a:defRPr>
            </a:pPr>
            <a:r>
              <a:rPr sz="1650" b="1">
                <a:solidFill>
                  <a:srgbClr val="39D98A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7B03D9-885A-4F3E-90BA-67397758D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14825"/>
            <a:ext cx="476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1DDC54-DD87-456D-A61D-AD12B0E99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05325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AF2FF"/>
                </a:solidFill>
              </a:defRPr>
            </a:pPr>
            <a:r>
              <a:rPr sz="1800" b="1">
                <a:solidFill>
                  <a:srgbClr val="EAF2FF"/>
                </a:solidFill>
              </a:rPr>
              <a:t>Build a rep playbook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B16F47-E91E-410A-9BD5-EB9FDE6D0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81575"/>
            <a:ext cx="476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1A7BE"/>
                </a:solidFill>
              </a:defRPr>
            </a:pPr>
            <a:r>
              <a:rPr sz="1275" b="0">
                <a:solidFill>
                  <a:srgbClr val="91A7BE"/>
                </a:solidFill>
              </a:rPr>
              <a:t>Turn Deniz and Can's sales practices into a standard coaching module.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BE567A-29B7-41DD-96DF-07FF9CACB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857625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B547"/>
                </a:solidFill>
              </a:defRPr>
            </a:pPr>
            <a:r>
              <a:rPr sz="1650" b="1">
                <a:solidFill>
                  <a:srgbClr val="FFB547"/>
                </a:solidFill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9CD4E2-9404-4980-8D5C-A5BE42883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314825"/>
            <a:ext cx="476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5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F489DB-8A58-4EDE-9215-8602D39A4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505325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AF2FF"/>
                </a:solidFill>
              </a:defRPr>
            </a:pPr>
            <a:r>
              <a:rPr sz="1800" b="1">
                <a:solidFill>
                  <a:srgbClr val="EAF2FF"/>
                </a:solidFill>
              </a:rPr>
              <a:t>Link targets to drivers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CD3219-8E5B-4E95-8585-BE8092672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981575"/>
            <a:ext cx="476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1A7BE"/>
                </a:solidFill>
              </a:defRPr>
            </a:pPr>
            <a:r>
              <a:rPr sz="1275" b="0">
                <a:solidFill>
                  <a:srgbClr val="91A7BE"/>
                </a:solidFill>
              </a:rPr>
              <a:t>Track lead, deal-size, win-rate and cycle assumptions by representative.</a:t>
            </a:r>
          </a:p>
        </p:txBody>
      </p:sp>
    </p:spTree>
    <p:extLst>
      <p:ext uri="{BB962C8B-B14F-4D97-AF65-F5344CB8AC3E}">
        <p14:creationId xmlns:p14="http://schemas.microsoft.com/office/powerpoint/2010/main" val="1013907816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DF63B93-450A-4F22-90EA-8A9F25EB4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C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A8B32F-17FC-4120-9391-36715B24F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AF2FF"/>
                </a:solidFill>
              </a:defRPr>
            </a:pPr>
            <a:r>
              <a:rPr sz="2700" b="1">
                <a:solidFill>
                  <a:srgbClr val="EAF2FF"/>
                </a:solidFill>
              </a:rPr>
              <a:t>Management cadence turns dashboards into decisions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575726-4360-4C3C-B4CF-DEF988693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A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8C7EDD-A1AC-439B-87FF-7A53E5E8E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1A7BE"/>
                </a:solidFill>
              </a:defRPr>
            </a:pPr>
            <a:r>
              <a:rPr sz="825" b="0">
                <a:solidFill>
                  <a:srgbClr val="91A7BE"/>
                </a:solidFill>
              </a:rPr>
              <a:t>CRM Sales Analytics | 36-month sample dataset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1D9D37-1B20-48DD-991E-E8C4D35FC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534150"/>
            <a:ext cx="2343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1A7BE"/>
                </a:solidFill>
              </a:defRPr>
            </a:pPr>
            <a:r>
              <a:rPr sz="825" b="0">
                <a:solidFill>
                  <a:srgbClr val="91A7BE"/>
                </a:solidFill>
              </a:rPr>
              <a:t>Murat Miraç Gedik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0A275D-51A3-4D67-BE1E-D4116E7C6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C7D9"/>
                </a:solidFill>
              </a:defRPr>
            </a:pPr>
            <a:r>
              <a:rPr sz="1200" b="1">
                <a:solidFill>
                  <a:srgbClr val="24C7D9"/>
                </a:solidFill>
              </a:rPr>
              <a:t>WEEKLY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0D7B68-A876-4D7B-9137-824C92B25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304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EAF2FF"/>
                </a:solidFill>
              </a:defRPr>
            </a:pPr>
            <a:r>
              <a:rPr sz="2025" b="1">
                <a:solidFill>
                  <a:srgbClr val="EAF2FF"/>
                </a:solidFill>
              </a:rPr>
              <a:t>Pipeline and funnel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75DA18-5D23-40A7-847F-65C0E15E8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3048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C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9F873B-C6AA-49A2-B763-EEE5DD6E4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62325"/>
            <a:ext cx="3048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1A7BE"/>
                </a:solidFill>
              </a:defRPr>
            </a:pPr>
            <a:r>
              <a:rPr sz="1350" b="0">
                <a:solidFill>
                  <a:srgbClr val="91A7BE"/>
                </a:solidFill>
              </a:rPr>
              <a:t>Aging opportunities • stage movement • rep actions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CE8ECF-3A5E-467C-BBB4-1B0EEE7E0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7145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9D98A"/>
                </a:solidFill>
              </a:defRPr>
            </a:pPr>
            <a:r>
              <a:rPr sz="1200" b="1">
                <a:solidFill>
                  <a:srgbClr val="39D98A"/>
                </a:solidFill>
              </a:rPr>
              <a:t>MONTHLY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CDA485-9F1D-44FD-9F44-99982C276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247900"/>
            <a:ext cx="304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EAF2FF"/>
                </a:solidFill>
              </a:defRPr>
            </a:pPr>
            <a:r>
              <a:rPr sz="2025" b="1">
                <a:solidFill>
                  <a:srgbClr val="EAF2FF"/>
                </a:solidFill>
              </a:rPr>
              <a:t>Target and channel performance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4EB357-FE73-412E-B253-AFFE44B01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048000"/>
            <a:ext cx="3048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42DE0E-2797-4444-B821-65A3B8533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362325"/>
            <a:ext cx="3048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1A7BE"/>
                </a:solidFill>
              </a:defRPr>
            </a:pPr>
            <a:r>
              <a:rPr sz="1350" b="0">
                <a:solidFill>
                  <a:srgbClr val="91A7BE"/>
                </a:solidFill>
              </a:rPr>
              <a:t>Actual vs target • source quality • budget reallocation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D5A657-4CC3-4015-854F-0D07DB408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7145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B547"/>
                </a:solidFill>
              </a:defRPr>
            </a:pPr>
            <a:r>
              <a:rPr sz="1200" b="1">
                <a:solidFill>
                  <a:srgbClr val="FFB547"/>
                </a:solidFill>
              </a:rPr>
              <a:t>QUARTERLY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2E8989-A8E3-49E6-8C38-287CE95ED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247900"/>
            <a:ext cx="304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EAF2FF"/>
                </a:solidFill>
              </a:defRPr>
            </a:pPr>
            <a:r>
              <a:rPr sz="2025" b="1">
                <a:solidFill>
                  <a:srgbClr val="EAF2FF"/>
                </a:solidFill>
              </a:rPr>
              <a:t>Model and strategy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B9E477-8608-4E63-B195-07F2464B1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048000"/>
            <a:ext cx="3048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5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37DEE9-06D0-4424-A49D-005CA30F7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362325"/>
            <a:ext cx="3048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1A7BE"/>
                </a:solidFill>
              </a:defRPr>
            </a:pPr>
            <a:r>
              <a:rPr sz="1350" b="0">
                <a:solidFill>
                  <a:srgbClr val="91A7BE"/>
                </a:solidFill>
              </a:rPr>
              <a:t>KPI definitions • target assumptions • capacity plan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9EE75B-D9DF-4923-A7BD-5EB7CFC84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14350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AF2FF"/>
                </a:solidFill>
              </a:defRPr>
            </a:pPr>
            <a:r>
              <a:rPr sz="1650" b="1">
                <a:solidFill>
                  <a:srgbClr val="EAF2FF"/>
                </a:solidFill>
              </a:rPr>
              <a:t>Single owner: Sales Operations • Single source of truth: semantic model • Single output: shared action list</a:t>
            </a:r>
          </a:p>
        </p:txBody>
      </p:sp>
    </p:spTree>
    <p:extLst>
      <p:ext uri="{BB962C8B-B14F-4D97-AF65-F5344CB8AC3E}">
        <p14:creationId xmlns:p14="http://schemas.microsoft.com/office/powerpoint/2010/main" val="287404521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88BDF1D-28A9-45FE-A2CD-7B18E0BB1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461F7B-CBAA-44E9-8270-B9D312693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9D98A"/>
                </a:solidFill>
              </a:defRPr>
            </a:pPr>
            <a:r>
              <a:rPr sz="1125" b="1">
                <a:solidFill>
                  <a:srgbClr val="39D98A"/>
                </a:solidFill>
              </a:rPr>
              <a:t>PORTFOLIO OUTCOME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4E4493-3F8E-4060-9C61-49BD41781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EAF2FF"/>
                </a:solidFill>
              </a:defRPr>
            </a:pPr>
            <a:r>
              <a:rPr sz="3225" b="1">
                <a:solidFill>
                  <a:srgbClr val="EAF2FF"/>
                </a:solidFill>
              </a:rPr>
              <a:t>End-to-end CRM analytics: data to action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3ACC16-E541-4BE8-806A-4B031D5C2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1A7BE"/>
                </a:solidFill>
              </a:defRPr>
            </a:pPr>
            <a:r>
              <a:rPr sz="1500" b="0">
                <a:solidFill>
                  <a:srgbClr val="91A7BE"/>
                </a:solidFill>
              </a:rPr>
              <a:t>36-month data • relational model • DAX KPIs • 10-page Power BI • Excel/Tableau outputs • 4K report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aa762e174a4047"/>
          <a:stretch xmlns:a="http://schemas.openxmlformats.org/drawingml/2006/main"/>
        </p:blipFill>
        <p:spPr>
          <a:xfrm xmlns:a="http://schemas.openxmlformats.org/drawingml/2006/main">
            <a:off x="690033" y="3048000"/>
            <a:ext cx="4944533" cy="2781300"/>
          </a:xfrm>
          <a:prstGeom xmlns:a="http://schemas.openxmlformats.org/drawingml/2006/main" prst="roundRect">
            <a:avLst>
              <a:gd name="adj" fmla="val 4110"/>
            </a:avLst>
          </a:prstGeom>
        </p:spPr>
      </p:pic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8d661e48094dad"/>
          <a:stretch xmlns:a="http://schemas.openxmlformats.org/drawingml/2006/main"/>
        </p:blipFill>
        <p:spPr>
          <a:xfrm xmlns:a="http://schemas.openxmlformats.org/drawingml/2006/main">
            <a:off x="6557433" y="3048000"/>
            <a:ext cx="4944533" cy="2781300"/>
          </a:xfrm>
          <a:prstGeom xmlns:a="http://schemas.openxmlformats.org/drawingml/2006/main" prst="roundRect">
            <a:avLst>
              <a:gd name="adj" fmla="val 4110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7DD6BC-2755-4C0D-A648-24F56A7E4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00075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39D98A"/>
                </a:solidFill>
              </a:defRPr>
            </a:pPr>
            <a:r>
              <a:rPr sz="1725" b="1">
                <a:solidFill>
                  <a:srgbClr val="39D98A"/>
                </a:solidFill>
              </a:rPr>
              <a:t>Business value: sales visibility, target discipline, channel optimization and rep productivity.</a:t>
            </a:r>
          </a:p>
        </p:txBody>
      </p:sp>
    </p:spTree>
    <p:extLst>
      <p:ext uri="{BB962C8B-B14F-4D97-AF65-F5344CB8AC3E}">
        <p14:creationId xmlns:p14="http://schemas.microsoft.com/office/powerpoint/2010/main" val="16751719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2026-07-24T13:11:01.0030000Z</dcterms:created>
  <dcterms:modified xsi:type="dcterms:W3CDTF">2026-07-24T13:11:01.0030000Z</dcterms:modified>
</coreProperties>
</file>