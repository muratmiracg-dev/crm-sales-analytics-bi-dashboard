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9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d7649e0a045a2" /><Relationship Type="http://schemas.openxmlformats.org/officeDocument/2006/relationships/extended-properties" Target="/docProps/app.xml" Id="Rf78076d6b01c4d41" /><Relationship Type="http://schemas.openxmlformats.org/officeDocument/2006/relationships/officeDocument" Target="/ppt/presentation.xml" Id="R78b39f917f60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bc4417058421e"/>
  </p:sldMasterIdLst>
  <p:notesMasterIdLst>
    <p:notesMasterId xmlns:r="http://schemas.openxmlformats.org/officeDocument/2006/relationships" r:id="R8dd664addb334186"/>
  </p:notesMasterIdLst>
  <p:sldIdLst>
    <p:sldId xmlns:r="http://schemas.openxmlformats.org/officeDocument/2006/relationships" id="256" r:id="R64b788d36d914700"/>
    <p:sldId xmlns:r="http://schemas.openxmlformats.org/officeDocument/2006/relationships" id="257" r:id="Rc3c4658a8b0f4db1"/>
    <p:sldId xmlns:r="http://schemas.openxmlformats.org/officeDocument/2006/relationships" id="258" r:id="Rac11d38b63484a10"/>
    <p:sldId xmlns:r="http://schemas.openxmlformats.org/officeDocument/2006/relationships" id="259" r:id="Rb835f81304fb4338"/>
    <p:sldId xmlns:r="http://schemas.openxmlformats.org/officeDocument/2006/relationships" id="260" r:id="R2324530dd5004d5c"/>
    <p:sldId xmlns:r="http://schemas.openxmlformats.org/officeDocument/2006/relationships" id="261" r:id="R423d7ccff0c34353"/>
    <p:sldId xmlns:r="http://schemas.openxmlformats.org/officeDocument/2006/relationships" id="262" r:id="R53a8e9f327064857"/>
    <p:sldId xmlns:r="http://schemas.openxmlformats.org/officeDocument/2006/relationships" id="263" r:id="Rcc8b66ea9fbc4330"/>
    <p:sldId xmlns:r="http://schemas.openxmlformats.org/officeDocument/2006/relationships" id="264" r:id="R8816e6509300437a"/>
    <p:sldId xmlns:r="http://schemas.openxmlformats.org/officeDocument/2006/relationships" id="265" r:id="Rd6218df787144f91"/>
    <p:sldId xmlns:r="http://schemas.openxmlformats.org/officeDocument/2006/relationships" id="266" r:id="R1c930bb7a1894537"/>
    <p:sldId xmlns:r="http://schemas.openxmlformats.org/officeDocument/2006/relationships" id="267" r:id="R3c9724345d0442db"/>
    <p:sldId xmlns:r="http://schemas.openxmlformats.org/officeDocument/2006/relationships" id="268" r:id="Rdff7fffb043640e0"/>
    <p:sldId xmlns:r="http://schemas.openxmlformats.org/officeDocument/2006/relationships" id="269" r:id="R203a9771985b455b"/>
    <p:sldId xmlns:r="http://schemas.openxmlformats.org/officeDocument/2006/relationships" id="270" r:id="R5dd57da58d774f56"/>
    <p:sldId xmlns:r="http://schemas.openxmlformats.org/officeDocument/2006/relationships" id="271" r:id="R9ba6fc1231cb47b2"/>
    <p:sldId xmlns:r="http://schemas.openxmlformats.org/officeDocument/2006/relationships" id="272" r:id="Rb6c8730c28044c19"/>
    <p:sldId xmlns:r="http://schemas.openxmlformats.org/officeDocument/2006/relationships" id="273" r:id="R64bcaed243124eb4"/>
    <p:sldId xmlns:r="http://schemas.openxmlformats.org/officeDocument/2006/relationships" id="274" r:id="Rfd4273cd75df4287"/>
    <p:sldId xmlns:r="http://schemas.openxmlformats.org/officeDocument/2006/relationships" id="275" r:id="R48697511184f432d"/>
    <p:sldId xmlns:r="http://schemas.openxmlformats.org/officeDocument/2006/relationships" id="276" r:id="R99c38827cf874098"/>
    <p:sldId xmlns:r="http://schemas.openxmlformats.org/officeDocument/2006/relationships" id="277" r:id="R40723a23af2a4ed9"/>
    <p:sldId xmlns:r="http://schemas.openxmlformats.org/officeDocument/2006/relationships" id="278" r:id="R4281754c4dca4999"/>
    <p:sldId xmlns:r="http://schemas.openxmlformats.org/officeDocument/2006/relationships" id="279" r:id="Rfd56e74e85254684"/>
    <p:sldId xmlns:r="http://schemas.openxmlformats.org/officeDocument/2006/relationships" id="280" r:id="Rdb74ab2fcd7c4005"/>
    <p:sldId xmlns:r="http://schemas.openxmlformats.org/officeDocument/2006/relationships" id="281" r:id="R11afe6fb833b4554"/>
    <p:sldId xmlns:r="http://schemas.openxmlformats.org/officeDocument/2006/relationships" id="282" r:id="Re75268aa86044b5d"/>
    <p:sldId xmlns:r="http://schemas.openxmlformats.org/officeDocument/2006/relationships" id="283" r:id="Refa015e7abc44484"/>
    <p:sldId xmlns:r="http://schemas.openxmlformats.org/officeDocument/2006/relationships" id="284" r:id="R8fa02a3718be41bb"/>
    <p:sldId xmlns:r="http://schemas.openxmlformats.org/officeDocument/2006/relationships" id="285" r:id="R11852777d07a4d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0fdc97aee4b9e" /><Relationship Type="http://schemas.openxmlformats.org/officeDocument/2006/relationships/slideMaster" Target="/ppt/slideMasters/slideMaster1.xml" Id="Rc48bc4417058421e" /><Relationship Type="http://schemas.openxmlformats.org/officeDocument/2006/relationships/notesMaster" Target="/ppt/notesMasters/notesMaster1.xml" Id="R8dd664addb334186" /><Relationship Type="http://schemas.openxmlformats.org/officeDocument/2006/relationships/presProps" Target="/ppt/presProps.xml" Id="Rbf45eb3c1d214b8a" /><Relationship Type="http://schemas.openxmlformats.org/officeDocument/2006/relationships/tableStyles" Target="/ppt/tableStyles.xml" Id="Ra0f10e389e2c45a9" /><Relationship Type="http://schemas.openxmlformats.org/officeDocument/2006/relationships/slide" Target="/ppt/slides/slide1.xml" Id="R64b788d36d914700" /><Relationship Type="http://schemas.openxmlformats.org/officeDocument/2006/relationships/slide" Target="/ppt/slides/slide2.xml" Id="Rc3c4658a8b0f4db1" /><Relationship Type="http://schemas.openxmlformats.org/officeDocument/2006/relationships/slide" Target="/ppt/slides/slide3.xml" Id="Rac11d38b63484a10" /><Relationship Type="http://schemas.openxmlformats.org/officeDocument/2006/relationships/slide" Target="/ppt/slides/slide4.xml" Id="Rb835f81304fb4338" /><Relationship Type="http://schemas.openxmlformats.org/officeDocument/2006/relationships/slide" Target="/ppt/slides/slide5.xml" Id="R2324530dd5004d5c" /><Relationship Type="http://schemas.openxmlformats.org/officeDocument/2006/relationships/slide" Target="/ppt/slides/slide6.xml" Id="R423d7ccff0c34353" /><Relationship Type="http://schemas.openxmlformats.org/officeDocument/2006/relationships/slide" Target="/ppt/slides/slide7.xml" Id="R53a8e9f327064857" /><Relationship Type="http://schemas.openxmlformats.org/officeDocument/2006/relationships/slide" Target="/ppt/slides/slide8.xml" Id="Rcc8b66ea9fbc4330" /><Relationship Type="http://schemas.openxmlformats.org/officeDocument/2006/relationships/slide" Target="/ppt/slides/slide9.xml" Id="R8816e6509300437a" /><Relationship Type="http://schemas.openxmlformats.org/officeDocument/2006/relationships/slide" Target="/ppt/slides/slide10.xml" Id="Rd6218df787144f91" /><Relationship Type="http://schemas.openxmlformats.org/officeDocument/2006/relationships/slide" Target="/ppt/slides/slide11.xml" Id="R1c930bb7a1894537" /><Relationship Type="http://schemas.openxmlformats.org/officeDocument/2006/relationships/slide" Target="/ppt/slides/slide12.xml" Id="R3c9724345d0442db" /><Relationship Type="http://schemas.openxmlformats.org/officeDocument/2006/relationships/slide" Target="/ppt/slides/slide13.xml" Id="Rdff7fffb043640e0" /><Relationship Type="http://schemas.openxmlformats.org/officeDocument/2006/relationships/slide" Target="/ppt/slides/slide14.xml" Id="R203a9771985b455b" /><Relationship Type="http://schemas.openxmlformats.org/officeDocument/2006/relationships/slide" Target="/ppt/slides/slide15.xml" Id="R5dd57da58d774f56" /><Relationship Type="http://schemas.openxmlformats.org/officeDocument/2006/relationships/slide" Target="/ppt/slides/slide16.xml" Id="R9ba6fc1231cb47b2" /><Relationship Type="http://schemas.openxmlformats.org/officeDocument/2006/relationships/slide" Target="/ppt/slides/slide17.xml" Id="Rb6c8730c28044c19" /><Relationship Type="http://schemas.openxmlformats.org/officeDocument/2006/relationships/slide" Target="/ppt/slides/slide18.xml" Id="R64bcaed243124eb4" /><Relationship Type="http://schemas.openxmlformats.org/officeDocument/2006/relationships/slide" Target="/ppt/slides/slide19.xml" Id="Rfd4273cd75df4287" /><Relationship Type="http://schemas.openxmlformats.org/officeDocument/2006/relationships/slide" Target="/ppt/slides/slide20.xml" Id="R48697511184f432d" /><Relationship Type="http://schemas.openxmlformats.org/officeDocument/2006/relationships/slide" Target="/ppt/slides/slide21.xml" Id="R99c38827cf874098" /><Relationship Type="http://schemas.openxmlformats.org/officeDocument/2006/relationships/slide" Target="/ppt/slides/slide22.xml" Id="R40723a23af2a4ed9" /><Relationship Type="http://schemas.openxmlformats.org/officeDocument/2006/relationships/slide" Target="/ppt/slides/slide23.xml" Id="R4281754c4dca4999" /><Relationship Type="http://schemas.openxmlformats.org/officeDocument/2006/relationships/slide" Target="/ppt/slides/slide24.xml" Id="Rfd56e74e85254684" /><Relationship Type="http://schemas.openxmlformats.org/officeDocument/2006/relationships/slide" Target="/ppt/slides/slide25.xml" Id="Rdb74ab2fcd7c4005" /><Relationship Type="http://schemas.openxmlformats.org/officeDocument/2006/relationships/slide" Target="/ppt/slides/slide26.xml" Id="R11afe6fb833b4554" /><Relationship Type="http://schemas.openxmlformats.org/officeDocument/2006/relationships/slide" Target="/ppt/slides/slide27.xml" Id="Re75268aa86044b5d" /><Relationship Type="http://schemas.openxmlformats.org/officeDocument/2006/relationships/slide" Target="/ppt/slides/slide28.xml" Id="Refa015e7abc44484" /><Relationship Type="http://schemas.openxmlformats.org/officeDocument/2006/relationships/slide" Target="/ppt/slides/slide29.xml" Id="R8fa02a3718be41bb" /><Relationship Type="http://schemas.openxmlformats.org/officeDocument/2006/relationships/slide" Target="/ppt/slides/slide30.xml" Id="R11852777d07a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eff3eff7943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a0d10d02f4949" /><Relationship Type="http://schemas.openxmlformats.org/officeDocument/2006/relationships/notesMaster" Target="/ppt/notesMasters/notesMaster1.xml" Id="R50826f59d7fd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75e7218f924867" /><Relationship Type="http://schemas.openxmlformats.org/officeDocument/2006/relationships/notesMaster" Target="/ppt/notesMasters/notesMaster1.xml" Id="Rdf94fb1283054d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9929a4b94414b" /><Relationship Type="http://schemas.openxmlformats.org/officeDocument/2006/relationships/notesMaster" Target="/ppt/notesMasters/notesMaster1.xml" Id="R45d801010199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29cbc7f6974576" /><Relationship Type="http://schemas.openxmlformats.org/officeDocument/2006/relationships/notesMaster" Target="/ppt/notesMasters/notesMaster1.xml" Id="Ra7d9272ac9d7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6c3c785c64152" /><Relationship Type="http://schemas.openxmlformats.org/officeDocument/2006/relationships/notesMaster" Target="/ppt/notesMasters/notesMaster1.xml" Id="R8d6a9aada5a948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997093ce0143c9" /><Relationship Type="http://schemas.openxmlformats.org/officeDocument/2006/relationships/notesMaster" Target="/ppt/notesMasters/notesMaster1.xml" Id="Rc8a7222b8bb0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12e1b96d949c0" /><Relationship Type="http://schemas.openxmlformats.org/officeDocument/2006/relationships/notesMaster" Target="/ppt/notesMasters/notesMaster1.xml" Id="Rcbd890170a68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908439bdd4430" /><Relationship Type="http://schemas.openxmlformats.org/officeDocument/2006/relationships/notesMaster" Target="/ppt/notesMasters/notesMaster1.xml" Id="R4c65e652e4e7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86cd72d7c04242" /><Relationship Type="http://schemas.openxmlformats.org/officeDocument/2006/relationships/notesMaster" Target="/ppt/notesMasters/notesMaster1.xml" Id="R1229ea8c59534d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cb5476573549af" /><Relationship Type="http://schemas.openxmlformats.org/officeDocument/2006/relationships/notesMaster" Target="/ppt/notesMasters/notesMaster1.xml" Id="Re6865024647a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46ebe8b91d4e81" /><Relationship Type="http://schemas.openxmlformats.org/officeDocument/2006/relationships/notesMaster" Target="/ppt/notesMasters/notesMaster1.xml" Id="Rd23ba09ba3f44a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fa45dc8896473c" /><Relationship Type="http://schemas.openxmlformats.org/officeDocument/2006/relationships/notesMaster" Target="/ppt/notesMasters/notesMaster1.xml" Id="Ra45a041d252040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c2f20467741b9" /><Relationship Type="http://schemas.openxmlformats.org/officeDocument/2006/relationships/notesMaster" Target="/ppt/notesMasters/notesMaster1.xml" Id="R7b46e405865442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78556b56d94027" /><Relationship Type="http://schemas.openxmlformats.org/officeDocument/2006/relationships/notesMaster" Target="/ppt/notesMasters/notesMaster1.xml" Id="R54e7fd8b303e4c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068e5ad1ef4cca" /><Relationship Type="http://schemas.openxmlformats.org/officeDocument/2006/relationships/notesMaster" Target="/ppt/notesMasters/notesMaster1.xml" Id="R1a8db3d024454e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fc096576ff4503" /><Relationship Type="http://schemas.openxmlformats.org/officeDocument/2006/relationships/notesMaster" Target="/ppt/notesMasters/notesMaster1.xml" Id="Rb5acdd3294ef44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c56b5ea8584c29" /><Relationship Type="http://schemas.openxmlformats.org/officeDocument/2006/relationships/notesMaster" Target="/ppt/notesMasters/notesMaster1.xml" Id="Rad3e8111f3cf47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42c0676d42404a" /><Relationship Type="http://schemas.openxmlformats.org/officeDocument/2006/relationships/notesMaster" Target="/ppt/notesMasters/notesMaster1.xml" Id="R23cd5a95277143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ca86bd1e904bd8" /><Relationship Type="http://schemas.openxmlformats.org/officeDocument/2006/relationships/notesMaster" Target="/ppt/notesMasters/notesMaster1.xml" Id="R01205da60f8d48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f2aae9d7444f30" /><Relationship Type="http://schemas.openxmlformats.org/officeDocument/2006/relationships/notesMaster" Target="/ppt/notesMasters/notesMaster1.xml" Id="R7626279ddea548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39a1f0cc5e4610" /><Relationship Type="http://schemas.openxmlformats.org/officeDocument/2006/relationships/notesMaster" Target="/ppt/notesMasters/notesMaster1.xml" Id="R4e64a7b839214c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83befde8f84969" /><Relationship Type="http://schemas.openxmlformats.org/officeDocument/2006/relationships/notesMaster" Target="/ppt/notesMasters/notesMaster1.xml" Id="Rf961694c30894c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10cb9dbd804fe8" /><Relationship Type="http://schemas.openxmlformats.org/officeDocument/2006/relationships/notesMaster" Target="/ppt/notesMasters/notesMaster1.xml" Id="R78ed97a838eb45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0ba78845754175" /><Relationship Type="http://schemas.openxmlformats.org/officeDocument/2006/relationships/notesMaster" Target="/ppt/notesMasters/notesMaster1.xml" Id="Rb62bf3d913c242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0b15eabb3148f4" /><Relationship Type="http://schemas.openxmlformats.org/officeDocument/2006/relationships/notesMaster" Target="/ppt/notesMasters/notesMaster1.xml" Id="Rddd8cf651e0c42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d4dda53f4245a1" /><Relationship Type="http://schemas.openxmlformats.org/officeDocument/2006/relationships/notesMaster" Target="/ppt/notesMasters/notesMaster1.xml" Id="R62c6bf5f2e914d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f30a3b87614098" /><Relationship Type="http://schemas.openxmlformats.org/officeDocument/2006/relationships/notesMaster" Target="/ppt/notesMasters/notesMaster1.xml" Id="R2ff9bbe3ba004cb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4f1cf55f0945be" /><Relationship Type="http://schemas.openxmlformats.org/officeDocument/2006/relationships/notesMaster" Target="/ppt/notesMasters/notesMaster1.xml" Id="R94cb3f2d838a48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97a12ebef64857" /><Relationship Type="http://schemas.openxmlformats.org/officeDocument/2006/relationships/notesMaster" Target="/ppt/notesMasters/notesMaster1.xml" Id="R9f63f20e261b4e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054712fb834b65" /><Relationship Type="http://schemas.openxmlformats.org/officeDocument/2006/relationships/notesMaster" Target="/ppt/notesMasters/notesMaster1.xml" Id="Rd0217d36c6b345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notu: Slayttaki sonuçları veriye dayalı olarak yorumlayın.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crm_monthly.csv</a:t>
            </a:r>
          </a:p>
          <a:p xmlns:a="http://schemas.openxmlformats.org/drawingml/2006/main">
            <a:r>
              <a:t>- crm_rep_performance.csv</a:t>
            </a:r>
          </a:p>
          <a:p xmlns:a="http://schemas.openxmlformats.org/drawingml/2006/main">
            <a:r>
              <a:t>- crm_lead_sources.csv</a:t>
            </a:r>
          </a:p>
          <a:p xmlns:a="http://schemas.openxmlformats.org/drawingml/2006/main">
            <a:r>
              <a:t>- CRM Sales Analytics Power BI / Excel / Tableau project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a3ca0bda2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a639c0d4f4209" /><Relationship Type="http://schemas.openxmlformats.org/officeDocument/2006/relationships/slideLayout" Target="/ppt/slideLayouts/slideLayout1.xml" Id="R1c5fc7bdadbe45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fc7bdadbe45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17ceb0e5247d0" /><Relationship Type="http://schemas.openxmlformats.org/officeDocument/2006/relationships/image" Target="/ppt/media/image.png" Id="R8625c84d8cc3422b" /><Relationship Type="http://schemas.openxmlformats.org/officeDocument/2006/relationships/image" Target="/ppt/media/image2.png" Id="Rc441ada6490b42d4" /><Relationship Type="http://schemas.openxmlformats.org/officeDocument/2006/relationships/notesSlide" Target="/ppt/notesSlides/notesSlide1.xml" Id="R6f421c313f6b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06bfeec2c4c44" /><Relationship Type="http://schemas.openxmlformats.org/officeDocument/2006/relationships/notesSlide" Target="/ppt/notesSlides/notesSlide2.xml" Id="R73feeddcb50244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c177dd34d43c4" /><Relationship Type="http://schemas.openxmlformats.org/officeDocument/2006/relationships/notesSlide" Target="/ppt/notesSlides/notesSlide3.xml" Id="R9a9f67b6fcc242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384ea72340b4" /><Relationship Type="http://schemas.openxmlformats.org/officeDocument/2006/relationships/notesSlide" Target="/ppt/notesSlides/notesSlide4.xml" Id="R6d6d5fe158e2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3292c68c546a7" /><Relationship Type="http://schemas.openxmlformats.org/officeDocument/2006/relationships/notesSlide" Target="/ppt/notesSlides/notesSlide5.xml" Id="Rb35d5c1152b6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7ed5281ab4f05" /><Relationship Type="http://schemas.openxmlformats.org/officeDocument/2006/relationships/notesSlide" Target="/ppt/notesSlides/notesSlide6.xml" Id="R227b3d17ddc1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e860809e04b75" /><Relationship Type="http://schemas.openxmlformats.org/officeDocument/2006/relationships/notesSlide" Target="/ppt/notesSlides/notesSlide7.xml" Id="R4e61a0a37a0a47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f5cdfc8cc4743" /><Relationship Type="http://schemas.openxmlformats.org/officeDocument/2006/relationships/notesSlide" Target="/ppt/notesSlides/notesSlide8.xml" Id="R546798fbf988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17af495f45fb" /><Relationship Type="http://schemas.openxmlformats.org/officeDocument/2006/relationships/image" Target="/ppt/media/image3.png" Id="R162e1310cd634480" /><Relationship Type="http://schemas.openxmlformats.org/officeDocument/2006/relationships/image" Target="/ppt/media/image4.png" Id="R57ab445907ca4aec" /><Relationship Type="http://schemas.openxmlformats.org/officeDocument/2006/relationships/notesSlide" Target="/ppt/notesSlides/notesSlide9.xml" Id="R273156707d4c4c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2368a2be4a05" /><Relationship Type="http://schemas.openxmlformats.org/officeDocument/2006/relationships/chart" Target="/ppt/slides/charts/chart1.xml" Id="Red22f308aa594e3f" /><Relationship Type="http://schemas.openxmlformats.org/officeDocument/2006/relationships/notesSlide" Target="/ppt/notesSlides/notesSlide10.xml" Id="Rf3ae9b3dda5745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43710706341f4" /><Relationship Type="http://schemas.openxmlformats.org/officeDocument/2006/relationships/notesSlide" Target="/ppt/notesSlides/notesSlide11.xml" Id="Race9ac17e15646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97dabb1c4f8b" /><Relationship Type="http://schemas.openxmlformats.org/officeDocument/2006/relationships/notesSlide" Target="/ppt/notesSlides/notesSlide12.xml" Id="Rbc5e0b52ba8d4a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f1dea320f4438" /><Relationship Type="http://schemas.openxmlformats.org/officeDocument/2006/relationships/chart" Target="/ppt/slides/charts/chart2.xml" Id="R4841050020164fd3" /><Relationship Type="http://schemas.openxmlformats.org/officeDocument/2006/relationships/notesSlide" Target="/ppt/notesSlides/notesSlide13.xml" Id="R1dc8143c4dd841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9f9ac4cf4bd0" /><Relationship Type="http://schemas.openxmlformats.org/officeDocument/2006/relationships/chart" Target="/ppt/slides/charts/chart3.xml" Id="R224bfdb2c53b46d6" /><Relationship Type="http://schemas.openxmlformats.org/officeDocument/2006/relationships/notesSlide" Target="/ppt/notesSlides/notesSlide14.xml" Id="Ra287b337d6f54f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d61d5d3ef4169" /><Relationship Type="http://schemas.openxmlformats.org/officeDocument/2006/relationships/chart" Target="/ppt/slides/charts/chart4.xml" Id="Rd57ee044f91a4ffe" /><Relationship Type="http://schemas.openxmlformats.org/officeDocument/2006/relationships/notesSlide" Target="/ppt/notesSlides/notesSlide15.xml" Id="R0b82f19586814d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44d577d13408b" /><Relationship Type="http://schemas.openxmlformats.org/officeDocument/2006/relationships/chart" Target="/ppt/slides/charts/chart5.xml" Id="R154b50e62e2c4e98" /><Relationship Type="http://schemas.openxmlformats.org/officeDocument/2006/relationships/notesSlide" Target="/ppt/notesSlides/notesSlide16.xml" Id="Rb4feaa19bf304d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7f3d2bf914048" /><Relationship Type="http://schemas.openxmlformats.org/officeDocument/2006/relationships/chart" Target="/ppt/slides/charts/chart6.xml" Id="R054b3ed67a0c4926" /><Relationship Type="http://schemas.openxmlformats.org/officeDocument/2006/relationships/notesSlide" Target="/ppt/notesSlides/notesSlide17.xml" Id="R132b2c8dcff243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38813f09d4e7b" /><Relationship Type="http://schemas.openxmlformats.org/officeDocument/2006/relationships/chart" Target="/ppt/slides/charts/chart7.xml" Id="R3853693b19c44fa1" /><Relationship Type="http://schemas.openxmlformats.org/officeDocument/2006/relationships/notesSlide" Target="/ppt/notesSlides/notesSlide18.xml" Id="Rdbc62bce053b41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731e931064704" /><Relationship Type="http://schemas.openxmlformats.org/officeDocument/2006/relationships/chart" Target="/ppt/slides/charts/chart8.xml" Id="R3e521a891f0b4d29" /><Relationship Type="http://schemas.openxmlformats.org/officeDocument/2006/relationships/notesSlide" Target="/ppt/notesSlides/notesSlide19.xml" Id="Rc5e429ccc3bd41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0cfc8b3f346cc" /><Relationship Type="http://schemas.openxmlformats.org/officeDocument/2006/relationships/chart" Target="/ppt/slides/charts/chart9.xml" Id="R64d1cbb8c66744e1" /><Relationship Type="http://schemas.openxmlformats.org/officeDocument/2006/relationships/notesSlide" Target="/ppt/notesSlides/notesSlide20.xml" Id="Rf624975067d14a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26804e7804944" /><Relationship Type="http://schemas.openxmlformats.org/officeDocument/2006/relationships/chart" Target="/ppt/slides/charts/chart10.xml" Id="R3bd54082b7ef4585" /><Relationship Type="http://schemas.openxmlformats.org/officeDocument/2006/relationships/notesSlide" Target="/ppt/notesSlides/notesSlide21.xml" Id="R561a502c6e3341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05ed90134a52" /><Relationship Type="http://schemas.openxmlformats.org/officeDocument/2006/relationships/chart" Target="/ppt/slides/charts/chart11.xml" Id="Rcc44c46ef1474e27" /><Relationship Type="http://schemas.openxmlformats.org/officeDocument/2006/relationships/notesSlide" Target="/ppt/notesSlides/notesSlide22.xml" Id="Rccce0d24438043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bdbcd8b224f77" /><Relationship Type="http://schemas.openxmlformats.org/officeDocument/2006/relationships/chart" Target="/ppt/slides/charts/chart12.xml" Id="R8568167c8e2a45be" /><Relationship Type="http://schemas.openxmlformats.org/officeDocument/2006/relationships/notesSlide" Target="/ppt/notesSlides/notesSlide23.xml" Id="Rd248e656756247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bf4e13b1e4600" /><Relationship Type="http://schemas.openxmlformats.org/officeDocument/2006/relationships/notesSlide" Target="/ppt/notesSlides/notesSlide24.xml" Id="R0a4f69fe11804c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7ae275744c56" /><Relationship Type="http://schemas.openxmlformats.org/officeDocument/2006/relationships/chart" Target="/ppt/slides/charts/chart13.xml" Id="R3da94437fab249e2" /><Relationship Type="http://schemas.openxmlformats.org/officeDocument/2006/relationships/notesSlide" Target="/ppt/notesSlides/notesSlide25.xml" Id="R58e37a345d4c4aa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79ebb75f441d" /><Relationship Type="http://schemas.openxmlformats.org/officeDocument/2006/relationships/chart" Target="/ppt/slides/charts/chart14.xml" Id="R25da81170f094e37" /><Relationship Type="http://schemas.openxmlformats.org/officeDocument/2006/relationships/chart" Target="/ppt/slides/charts/chart15.xml" Id="Rfa37b1065dde4803" /><Relationship Type="http://schemas.openxmlformats.org/officeDocument/2006/relationships/notesSlide" Target="/ppt/notesSlides/notesSlide26.xml" Id="R02600811871f4a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63325662c4f94" /><Relationship Type="http://schemas.openxmlformats.org/officeDocument/2006/relationships/chart" Target="/ppt/slides/charts/chart16.xml" Id="Rece49dc1ddc246f4" /><Relationship Type="http://schemas.openxmlformats.org/officeDocument/2006/relationships/chart" Target="/ppt/slides/charts/chart17.xml" Id="Rdb8720af1f394b5d" /><Relationship Type="http://schemas.openxmlformats.org/officeDocument/2006/relationships/notesSlide" Target="/ppt/notesSlides/notesSlide27.xml" Id="Rc6b1710e210f43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349c19a5b4eb3" /><Relationship Type="http://schemas.openxmlformats.org/officeDocument/2006/relationships/notesSlide" Target="/ppt/notesSlides/notesSlide28.xml" Id="Rca2698d3eb7647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2e21441aa4da9" /><Relationship Type="http://schemas.openxmlformats.org/officeDocument/2006/relationships/notesSlide" Target="/ppt/notesSlides/notesSlide29.xml" Id="R8fed48d2e72e48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37e99c57455e" /><Relationship Type="http://schemas.openxmlformats.org/officeDocument/2006/relationships/image" Target="/ppt/media/image5.png" Id="Rf56a4b80b5f04ac8" /><Relationship Type="http://schemas.openxmlformats.org/officeDocument/2006/relationships/image" Target="/ppt/media/image6.png" Id="R955fa7cbba034642" /><Relationship Type="http://schemas.openxmlformats.org/officeDocument/2006/relationships/notesSlide" Target="/ppt/notesSlides/notesSlide30.xml" Id="R977dc58ee1ee4e2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Gelir (M TL)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1.5555</c:v>
              </c:pt>
              <c:pt idx="1">
                <c:v>1.6926</c:v>
              </c:pt>
              <c:pt idx="2">
                <c:v>1.746</c:v>
              </c:pt>
              <c:pt idx="3">
                <c:v>1.78</c:v>
              </c:pt>
              <c:pt idx="4">
                <c:v>1.9008</c:v>
              </c:pt>
              <c:pt idx="5">
                <c:v>1.8096</c:v>
              </c:pt>
              <c:pt idx="6">
                <c:v>1.6008</c:v>
              </c:pt>
              <c:pt idx="7">
                <c:v>1.6182</c:v>
              </c:pt>
              <c:pt idx="8">
                <c:v>1.8025</c:v>
              </c:pt>
              <c:pt idx="9">
                <c:v>1.8231</c:v>
              </c:pt>
              <c:pt idx="10">
                <c:v>1.8079</c:v>
              </c:pt>
              <c:pt idx="11">
                <c:v>1.9005</c:v>
              </c:pt>
              <c:pt idx="12">
                <c:v>1.764</c:v>
              </c:pt>
              <c:pt idx="13">
                <c:v>1.7248</c:v>
              </c:pt>
              <c:pt idx="14">
                <c:v>1.755</c:v>
              </c:pt>
              <c:pt idx="15">
                <c:v>1.8721</c:v>
              </c:pt>
              <c:pt idx="16">
                <c:v>1.9482</c:v>
              </c:pt>
              <c:pt idx="17">
                <c:v>1.7766</c:v>
              </c:pt>
              <c:pt idx="18">
                <c:v>1.6643</c:v>
              </c:pt>
              <c:pt idx="19">
                <c:v>1.8139</c:v>
              </c:pt>
              <c:pt idx="20">
                <c:v>1.9928</c:v>
              </c:pt>
              <c:pt idx="21">
                <c:v>2.0412</c:v>
              </c:pt>
              <c:pt idx="22">
                <c:v>2.2272</c:v>
              </c:pt>
              <c:pt idx="23">
                <c:v>2.4444</c:v>
              </c:pt>
              <c:pt idx="24">
                <c:v>2.1527</c:v>
              </c:pt>
              <c:pt idx="25">
                <c:v>2.1736</c:v>
              </c:pt>
              <c:pt idx="26">
                <c:v>2.3826</c:v>
              </c:pt>
              <c:pt idx="27">
                <c:v>2.4752</c:v>
              </c:pt>
              <c:pt idx="28">
                <c:v>2.4102</c:v>
              </c:pt>
              <c:pt idx="29">
                <c:v>2.2127</c:v>
              </c:pt>
              <c:pt idx="30">
                <c:v>2.121</c:v>
              </c:pt>
              <c:pt idx="31">
                <c:v>2.1306</c:v>
              </c:pt>
              <c:pt idx="32">
                <c:v>2.211</c:v>
              </c:pt>
              <c:pt idx="33">
                <c:v>2.3432</c:v>
              </c:pt>
              <c:pt idx="34">
                <c:v>2.5296</c:v>
              </c:pt>
              <c:pt idx="35">
                <c:v>2.6574</c:v>
              </c:pt>
            </c:numLit>
          </c:val>
        </c:ser>
        <c:ser>
          <c:idx val="1"/>
          <c:order val="1"/>
          <c:tx>
            <c:v>Hedef (M TL)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1.585</c:v>
              </c:pt>
              <c:pt idx="1">
                <c:v>1.629</c:v>
              </c:pt>
              <c:pt idx="2">
                <c:v>1.713</c:v>
              </c:pt>
              <c:pt idx="3">
                <c:v>1.762</c:v>
              </c:pt>
              <c:pt idx="4">
                <c:v>1.792</c:v>
              </c:pt>
              <c:pt idx="5">
                <c:v>1.689</c:v>
              </c:pt>
              <c:pt idx="6">
                <c:v>1.59</c:v>
              </c:pt>
              <c:pt idx="7">
                <c:v>1.624</c:v>
              </c:pt>
              <c:pt idx="8">
                <c:v>1.765</c:v>
              </c:pt>
              <c:pt idx="9">
                <c:v>1.87</c:v>
              </c:pt>
              <c:pt idx="10">
                <c:v>1.959</c:v>
              </c:pt>
              <c:pt idx="11">
                <c:v>2.067</c:v>
              </c:pt>
              <c:pt idx="12">
                <c:v>1.901</c:v>
              </c:pt>
              <c:pt idx="13">
                <c:v>1.963</c:v>
              </c:pt>
              <c:pt idx="14">
                <c:v>2.078</c:v>
              </c:pt>
              <c:pt idx="15">
                <c:v>2.14</c:v>
              </c:pt>
              <c:pt idx="16">
                <c:v>2.179</c:v>
              </c:pt>
              <c:pt idx="17">
                <c:v>2.055</c:v>
              </c:pt>
              <c:pt idx="18">
                <c:v>1.914</c:v>
              </c:pt>
              <c:pt idx="19">
                <c:v>1.953</c:v>
              </c:pt>
              <c:pt idx="20">
                <c:v>2.124</c:v>
              </c:pt>
              <c:pt idx="21">
                <c:v>2.237</c:v>
              </c:pt>
              <c:pt idx="22">
                <c:v>2.353</c:v>
              </c:pt>
              <c:pt idx="23">
                <c:v>2.482</c:v>
              </c:pt>
              <c:pt idx="24">
                <c:v>2.245</c:v>
              </c:pt>
              <c:pt idx="25">
                <c:v>2.319</c:v>
              </c:pt>
              <c:pt idx="26">
                <c:v>2.467</c:v>
              </c:pt>
              <c:pt idx="27">
                <c:v>2.553</c:v>
              </c:pt>
              <c:pt idx="28">
                <c:v>2.602</c:v>
              </c:pt>
              <c:pt idx="29">
                <c:v>2.444</c:v>
              </c:pt>
              <c:pt idx="30">
                <c:v>2.288</c:v>
              </c:pt>
              <c:pt idx="31">
                <c:v>2.326</c:v>
              </c:pt>
              <c:pt idx="32">
                <c:v>2.515</c:v>
              </c:pt>
              <c:pt idx="33">
                <c:v>2.646</c:v>
              </c:pt>
              <c:pt idx="34">
                <c:v>2.769</c:v>
              </c:pt>
              <c:pt idx="35">
                <c:v>2.917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Gerçekleşen</c:v>
          </c:tx>
          <c:spPr>
            <a:ln xmlns:a="http://schemas.openxmlformats.org/drawingml/2006/main" w="38100">
              <a:solidFill>
                <a:srgbClr val="24C7D9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</c:formatCode>
              <c:ptCount val="12"/>
              <c:pt idx="0">
                <c:v>1333</c:v>
              </c:pt>
              <c:pt idx="1">
                <c:v>1338</c:v>
              </c:pt>
              <c:pt idx="2">
                <c:v>1471</c:v>
              </c:pt>
              <c:pt idx="3">
                <c:v>1557</c:v>
              </c:pt>
              <c:pt idx="4">
                <c:v>1548</c:v>
              </c:pt>
              <c:pt idx="5">
                <c:v>1461</c:v>
              </c:pt>
              <c:pt idx="6">
                <c:v>1430</c:v>
              </c:pt>
              <c:pt idx="7">
                <c:v>1459</c:v>
              </c:pt>
              <c:pt idx="8">
                <c:v>1519</c:v>
              </c:pt>
              <c:pt idx="9">
                <c:v>1608</c:v>
              </c:pt>
              <c:pt idx="10">
                <c:v>1719</c:v>
              </c:pt>
              <c:pt idx="11">
                <c:v>1763</c:v>
              </c:pt>
            </c:numLit>
          </c:val>
        </c:ser>
        <c:ser>
          <c:idx val="1"/>
          <c:order val="1"/>
          <c:tx>
            <c:v>Hedef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</c:formatCode>
              <c:ptCount val="12"/>
              <c:pt idx="0">
                <c:v>1377</c:v>
              </c:pt>
              <c:pt idx="1">
                <c:v>1422</c:v>
              </c:pt>
              <c:pt idx="2">
                <c:v>1513</c:v>
              </c:pt>
              <c:pt idx="3">
                <c:v>1573</c:v>
              </c:pt>
              <c:pt idx="4">
                <c:v>1619</c:v>
              </c:pt>
              <c:pt idx="5">
                <c:v>1543</c:v>
              </c:pt>
              <c:pt idx="6">
                <c:v>1452</c:v>
              </c:pt>
              <c:pt idx="7">
                <c:v>1483</c:v>
              </c:pt>
              <c:pt idx="8">
                <c:v>1604</c:v>
              </c:pt>
              <c:pt idx="9">
                <c:v>1679</c:v>
              </c:pt>
              <c:pt idx="10">
                <c:v>1740</c:v>
              </c:pt>
              <c:pt idx="11">
                <c:v>1815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Qualification %</c:v>
          </c:tx>
          <c:spPr>
            <a:ln xmlns:a="http://schemas.openxmlformats.org/drawingml/2006/main" w="38100">
              <a:solidFill>
                <a:srgbClr val="24C7D9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52.97951582867783</c:v>
              </c:pt>
              <c:pt idx="1">
                <c:v>53.792502179598955</c:v>
              </c:pt>
              <c:pt idx="2">
                <c:v>54.52991452991453</c:v>
              </c:pt>
              <c:pt idx="3">
                <c:v>55.11744966442953</c:v>
              </c:pt>
              <c:pt idx="4">
                <c:v>55.42544886807181</c:v>
              </c:pt>
              <c:pt idx="5">
                <c:v>55.51053484602917</c:v>
              </c:pt>
              <c:pt idx="6">
                <c:v>55.24412296564195</c:v>
              </c:pt>
              <c:pt idx="7">
                <c:v>54.81023830538394</c:v>
              </c:pt>
              <c:pt idx="8">
                <c:v>54.16991426344505</c:v>
              </c:pt>
              <c:pt idx="9">
                <c:v>53.35849056603773</c:v>
              </c:pt>
              <c:pt idx="10">
                <c:v>52.5</c:v>
              </c:pt>
              <c:pt idx="11">
                <c:v>51.77304964539007</c:v>
              </c:pt>
              <c:pt idx="12">
                <c:v>51.08783239323127</c:v>
              </c:pt>
              <c:pt idx="13">
                <c:v>50.64620355411955</c:v>
              </c:pt>
              <c:pt idx="14">
                <c:v>50.505836575875485</c:v>
              </c:pt>
              <c:pt idx="15">
                <c:v>50.57636887608069</c:v>
              </c:pt>
              <c:pt idx="16">
                <c:v>50.966850828729285</c:v>
              </c:pt>
              <c:pt idx="17">
                <c:v>51.58371040723983</c:v>
              </c:pt>
              <c:pt idx="18">
                <c:v>52.296535052377116</c:v>
              </c:pt>
              <c:pt idx="19">
                <c:v>53.132075471698116</c:v>
              </c:pt>
              <c:pt idx="20">
                <c:v>53.90570021111893</c:v>
              </c:pt>
              <c:pt idx="21">
                <c:v>54.608938547486034</c:v>
              </c:pt>
              <c:pt idx="22">
                <c:v>55.13585155732274</c:v>
              </c:pt>
              <c:pt idx="23">
                <c:v>55.45286506469501</c:v>
              </c:pt>
              <c:pt idx="24">
                <c:v>55.43885971492873</c:v>
              </c:pt>
              <c:pt idx="25">
                <c:v>55.231689088191324</c:v>
              </c:pt>
              <c:pt idx="26">
                <c:v>54.72467709041469</c:v>
              </c:pt>
              <c:pt idx="27">
                <c:v>54.01412973667309</c:v>
              </c:pt>
              <c:pt idx="28">
                <c:v>53.229974160206716</c:v>
              </c:pt>
              <c:pt idx="29">
                <c:v>52.42984257357974</c:v>
              </c:pt>
              <c:pt idx="30">
                <c:v>51.608391608391614</c:v>
              </c:pt>
              <c:pt idx="31">
                <c:v>51.06237148732008</c:v>
              </c:pt>
              <c:pt idx="32">
                <c:v>50.625411454904544</c:v>
              </c:pt>
              <c:pt idx="33">
                <c:v>50.49751243781094</c:v>
              </c:pt>
              <c:pt idx="34">
                <c:v>50.668993600930776</c:v>
              </c:pt>
              <c:pt idx="35">
                <c:v>51.04934770277936</c:v>
              </c:pt>
            </c:numLit>
          </c:val>
        </c:ser>
        <c:ser>
          <c:idx val="1"/>
          <c:order val="1"/>
          <c:tx>
            <c:v>Opportunity Conversion %</c:v>
          </c:tx>
          <c:spPr>
            <a:ln xmlns:a="http://schemas.openxmlformats.org/drawingml/2006/main" w="28575">
              <a:solidFill>
                <a:srgbClr val="A78BF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47.97891036906854</c:v>
              </c:pt>
              <c:pt idx="1">
                <c:v>47.9740680713128</c:v>
              </c:pt>
              <c:pt idx="2">
                <c:v>47.80564263322884</c:v>
              </c:pt>
              <c:pt idx="3">
                <c:v>47.48858447488584</c:v>
              </c:pt>
              <c:pt idx="4">
                <c:v>47.04225352112676</c:v>
              </c:pt>
              <c:pt idx="5">
                <c:v>46.56934306569343</c:v>
              </c:pt>
              <c:pt idx="6">
                <c:v>46.15384615384615</c:v>
              </c:pt>
              <c:pt idx="7">
                <c:v>45.571658615136876</c:v>
              </c:pt>
              <c:pt idx="8">
                <c:v>45.17985611510792</c:v>
              </c:pt>
              <c:pt idx="9">
                <c:v>44.6958981612447</c:v>
              </c:pt>
              <c:pt idx="10">
                <c:v>44.44444444444444</c:v>
              </c:pt>
              <c:pt idx="11">
                <c:v>44.109589041095894</c:v>
              </c:pt>
              <c:pt idx="12">
                <c:v>44.00630914826498</c:v>
              </c:pt>
              <c:pt idx="13">
                <c:v>44.01913875598086</c:v>
              </c:pt>
              <c:pt idx="14">
                <c:v>44.06779661016949</c:v>
              </c:pt>
              <c:pt idx="15">
                <c:v>44.3019943019943</c:v>
              </c:pt>
              <c:pt idx="16">
                <c:v>44.71544715447154</c:v>
              </c:pt>
              <c:pt idx="17">
                <c:v>45.17543859649123</c:v>
              </c:pt>
              <c:pt idx="18">
                <c:v>45.60862865947612</c:v>
              </c:pt>
              <c:pt idx="19">
                <c:v>46.02272727272727</c:v>
              </c:pt>
              <c:pt idx="20">
                <c:v>46.60574412532637</c:v>
              </c:pt>
              <c:pt idx="21">
                <c:v>47.05882352941176</c:v>
              </c:pt>
              <c:pt idx="22">
                <c:v>47.47596153846153</c:v>
              </c:pt>
              <c:pt idx="23">
                <c:v>47.77777777777778</c:v>
              </c:pt>
              <c:pt idx="24">
                <c:v>47.902571041948576</c:v>
              </c:pt>
              <c:pt idx="25">
                <c:v>48.03788903924222</c:v>
              </c:pt>
              <c:pt idx="26">
                <c:v>47.95031055900621</c:v>
              </c:pt>
              <c:pt idx="27">
                <c:v>47.80023781212842</c:v>
              </c:pt>
              <c:pt idx="28">
                <c:v>47.45145631067961</c:v>
              </c:pt>
              <c:pt idx="29">
                <c:v>47.127937336814625</c:v>
              </c:pt>
              <c:pt idx="30">
                <c:v>46.7479674796748</c:v>
              </c:pt>
              <c:pt idx="31">
                <c:v>46.1744966442953</c:v>
              </c:pt>
              <c:pt idx="32">
                <c:v>45.77373211963589</c:v>
              </c:pt>
              <c:pt idx="33">
                <c:v>45.19704433497537</c:v>
              </c:pt>
              <c:pt idx="34">
                <c:v>44.776119402985074</c:v>
              </c:pt>
              <c:pt idx="35">
                <c:v>44.44444444444444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24C7D9"/>
              </a:solidFill>
            </c:spPr>
          </c:dPt>
          <c:dPt>
            <c:idx val="1"/>
            <c:spPr>
              <a:solidFill xmlns:a="http://schemas.openxmlformats.org/drawingml/2006/main">
                <a:srgbClr val="4F7CFF"/>
              </a:solidFill>
            </c:spPr>
          </c:dPt>
          <c:dPt>
            <c:idx val="2"/>
            <c:spPr>
              <a:solidFill xmlns:a="http://schemas.openxmlformats.org/drawingml/2006/main">
                <a:srgbClr val="39D98A"/>
              </a:solidFill>
            </c:spPr>
          </c:dPt>
          <c:dPt>
            <c:idx val="3"/>
            <c:spPr>
              <a:solidFill xmlns:a="http://schemas.openxmlformats.org/drawingml/2006/main">
                <a:srgbClr val="A78BFA"/>
              </a:solidFill>
            </c:spPr>
          </c:dPt>
          <c:dPt>
            <c:idx val="4"/>
            <c:spPr>
              <a:solidFill xmlns:a="http://schemas.openxmlformats.org/drawingml/2006/main">
                <a:srgbClr val="FFB547"/>
              </a:solidFill>
            </c:spPr>
          </c:dPt>
          <c:cat>
            <c:strLit>
              <c:ptCount val="5"/>
              <c:pt idx="0">
                <c:v>Organic Search</c:v>
              </c:pt>
              <c:pt idx="1">
                <c:v>Paid Ads</c:v>
              </c:pt>
              <c:pt idx="2">
                <c:v>Referral</c:v>
              </c:pt>
              <c:pt idx="3">
                <c:v>Outbound</c:v>
              </c:pt>
              <c:pt idx="4">
                <c:v>Events</c:v>
              </c:pt>
            </c:strLit>
          </c:cat>
          <c:val>
            <c:numLit>
              <c:formatCode>General</c:formatCode>
              <c:ptCount val="5"/>
              <c:pt idx="0">
                <c:v>5272</c:v>
              </c:pt>
              <c:pt idx="1">
                <c:v>4535</c:v>
              </c:pt>
              <c:pt idx="2">
                <c:v>3267</c:v>
              </c:pt>
              <c:pt idx="3">
                <c:v>2558</c:v>
              </c:pt>
              <c:pt idx="4">
                <c:v>2552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Qualification %</c:v>
          </c:tx>
          <c:spPr>
            <a:solidFill xmlns:a="http://schemas.openxmlformats.org/drawingml/2006/main">
              <a:srgbClr val="39D98A"/>
            </a:solidFill>
          </c:spPr>
          <c:cat>
            <c:strLit>
              <c:ptCount val="5"/>
              <c:pt idx="0">
                <c:v>Referral</c:v>
              </c:pt>
              <c:pt idx="1">
                <c:v>Organic</c:v>
              </c:pt>
              <c:pt idx="2">
                <c:v>Events</c:v>
              </c:pt>
              <c:pt idx="3">
                <c:v>Paid Ads</c:v>
              </c:pt>
              <c:pt idx="4">
                <c:v>Outbd.</c:v>
              </c:pt>
            </c:strLit>
          </c:cat>
          <c:val>
            <c:numLit>
              <c:formatCode>0.0</c:formatCode>
              <c:ptCount val="5"/>
              <c:pt idx="0">
                <c:v>67.03397612488521</c:v>
              </c:pt>
              <c:pt idx="1">
                <c:v>60.982549317147196</c:v>
              </c:pt>
              <c:pt idx="2">
                <c:v>55.01567398119123</c:v>
              </c:pt>
              <c:pt idx="3">
                <c:v>48.026460859977945</c:v>
              </c:pt>
              <c:pt idx="4">
                <c:v>38.97576231430806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Harcama (K TL)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Paid Ads</c:v>
              </c:pt>
              <c:pt idx="1">
                <c:v>Events</c:v>
              </c:pt>
              <c:pt idx="2">
                <c:v>Outbound</c:v>
              </c:pt>
              <c:pt idx="3">
                <c:v>Organic</c:v>
              </c:pt>
              <c:pt idx="4">
                <c:v>Referral</c:v>
              </c:pt>
            </c:strLit>
          </c:cat>
          <c:val>
            <c:numLit>
              <c:formatCode>0</c:formatCode>
              <c:ptCount val="5"/>
              <c:pt idx="0">
                <c:v>300.851</c:v>
              </c:pt>
              <c:pt idx="1">
                <c:v>202.068</c:v>
              </c:pt>
              <c:pt idx="2">
                <c:v>112.221</c:v>
              </c:pt>
              <c:pt idx="3">
                <c:v>101.539</c:v>
              </c:pt>
              <c:pt idx="4">
                <c:v>41.948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Aralık 2026</c:v>
          </c:tx>
          <c:spPr>
            <a:solidFill xmlns:a="http://schemas.openxmlformats.org/drawingml/2006/main">
              <a:srgbClr val="24C7D9"/>
            </a:solidFill>
          </c:spPr>
          <c:cat>
            <c:strLit>
              <c:ptCount val="4"/>
              <c:pt idx="0">
                <c:v>Yeni Lead</c:v>
              </c:pt>
              <c:pt idx="1">
                <c:v>Qualified</c:v>
              </c:pt>
              <c:pt idx="2">
                <c:v>Fırsat</c:v>
              </c:pt>
              <c:pt idx="3">
                <c:v>Kazanılan</c:v>
              </c:pt>
            </c:strLit>
          </c:cat>
          <c:val>
            <c:numLit>
              <c:formatCode>0</c:formatCode>
              <c:ptCount val="4"/>
              <c:pt idx="0">
                <c:v>1763</c:v>
              </c:pt>
              <c:pt idx="1">
                <c:v>900</c:v>
              </c:pt>
              <c:pt idx="2">
                <c:v>400</c:v>
              </c:pt>
              <c:pt idx="3">
                <c:v>129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Win Rate %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31.135531135531135</c:v>
              </c:pt>
              <c:pt idx="1">
                <c:v>31.41891891891892</c:v>
              </c:pt>
              <c:pt idx="2">
                <c:v>31.80327868852459</c:v>
              </c:pt>
              <c:pt idx="3">
                <c:v>32.05128205128205</c:v>
              </c:pt>
              <c:pt idx="4">
                <c:v>32.33532934131736</c:v>
              </c:pt>
              <c:pt idx="5">
                <c:v>32.60188087774294</c:v>
              </c:pt>
              <c:pt idx="6">
                <c:v>32.62411347517731</c:v>
              </c:pt>
              <c:pt idx="7">
                <c:v>32.86219081272085</c:v>
              </c:pt>
              <c:pt idx="8">
                <c:v>32.802547770700635</c:v>
              </c:pt>
              <c:pt idx="9">
                <c:v>32.594936708860764</c:v>
              </c:pt>
              <c:pt idx="10">
                <c:v>32.7922077922078</c:v>
              </c:pt>
              <c:pt idx="11">
                <c:v>32.608695652173914</c:v>
              </c:pt>
              <c:pt idx="12">
                <c:v>32.25806451612903</c:v>
              </c:pt>
              <c:pt idx="13">
                <c:v>31.88405797101449</c:v>
              </c:pt>
              <c:pt idx="14">
                <c:v>31.46853146853147</c:v>
              </c:pt>
              <c:pt idx="15">
                <c:v>31.189710610932476</c:v>
              </c:pt>
              <c:pt idx="16">
                <c:v>30.909090909090907</c:v>
              </c:pt>
              <c:pt idx="17">
                <c:v>30.42071197411003</c:v>
              </c:pt>
              <c:pt idx="18">
                <c:v>30.067567567567565</c:v>
              </c:pt>
              <c:pt idx="19">
                <c:v>29.938271604938272</c:v>
              </c:pt>
              <c:pt idx="20">
                <c:v>29.69187675070028</c:v>
              </c:pt>
              <c:pt idx="21">
                <c:v>29.347826086956523</c:v>
              </c:pt>
              <c:pt idx="22">
                <c:v>29.367088607594937</c:v>
              </c:pt>
              <c:pt idx="23">
                <c:v>29.30232558139535</c:v>
              </c:pt>
              <c:pt idx="24">
                <c:v>29.09604519774011</c:v>
              </c:pt>
              <c:pt idx="25">
                <c:v>29.295774647887324</c:v>
              </c:pt>
              <c:pt idx="26">
                <c:v>29.533678756476682</c:v>
              </c:pt>
              <c:pt idx="27">
                <c:v>29.601990049751244</c:v>
              </c:pt>
              <c:pt idx="28">
                <c:v>29.923273657289002</c:v>
              </c:pt>
              <c:pt idx="29">
                <c:v>30.193905817174517</c:v>
              </c:pt>
              <c:pt idx="30">
                <c:v>30.434782608695656</c:v>
              </c:pt>
              <c:pt idx="31">
                <c:v>30.813953488372093</c:v>
              </c:pt>
              <c:pt idx="32">
                <c:v>31.25</c:v>
              </c:pt>
              <c:pt idx="33">
                <c:v>31.607629427792915</c:v>
              </c:pt>
              <c:pt idx="34">
                <c:v>31.794871794871792</c:v>
              </c:pt>
              <c:pt idx="35">
                <c:v>32.25</c:v>
              </c:pt>
            </c:numLit>
          </c:val>
        </c:ser>
        <c:ser>
          <c:idx val="1"/>
          <c:order val="1"/>
          <c:tx>
            <c:v>Hedef %32</c:v>
          </c:tx>
          <c:spPr>
            <a:ln xmlns:a="http://schemas.openxmlformats.org/drawingml/2006/main" w="19050">
              <a:solidFill>
                <a:srgbClr val="FFB547"/>
              </a:solidFill>
              <a:prstDash val="dash"/>
            </a:ln>
          </c:spPr>
          <c:marker>
            <c:symbol val="none"/>
            <c:size val="6"/>
          </c:marker>
          <c:cat>
            <c:strLit>
              <c:ptCount val="36"/>
              <c:pt idx="0">
                <c:v>Oca 24</c:v>
              </c:pt>
              <c:pt idx="1">
                <c:v>Şub 24</c:v>
              </c:pt>
              <c:pt idx="2">
                <c:v>Mar 24</c:v>
              </c:pt>
              <c:pt idx="3">
                <c:v>Nis 24</c:v>
              </c:pt>
              <c:pt idx="4">
                <c:v>May 24</c:v>
              </c:pt>
              <c:pt idx="5">
                <c:v>Haz 24</c:v>
              </c:pt>
              <c:pt idx="6">
                <c:v>Tem 24</c:v>
              </c:pt>
              <c:pt idx="7">
                <c:v>Ağu 24</c:v>
              </c:pt>
              <c:pt idx="8">
                <c:v>Eyl 24</c:v>
              </c:pt>
              <c:pt idx="9">
                <c:v>Eki 24</c:v>
              </c:pt>
              <c:pt idx="10">
                <c:v>Kas 24</c:v>
              </c:pt>
              <c:pt idx="11">
                <c:v>Ara 24</c:v>
              </c:pt>
              <c:pt idx="12">
                <c:v>Oca 25</c:v>
              </c:pt>
              <c:pt idx="13">
                <c:v>Şub 25</c:v>
              </c:pt>
              <c:pt idx="14">
                <c:v>Mar 25</c:v>
              </c:pt>
              <c:pt idx="15">
                <c:v>Nis 25</c:v>
              </c:pt>
              <c:pt idx="16">
                <c:v>May 25</c:v>
              </c:pt>
              <c:pt idx="17">
                <c:v>Haz 25</c:v>
              </c:pt>
              <c:pt idx="18">
                <c:v>Tem 25</c:v>
              </c:pt>
              <c:pt idx="19">
                <c:v>Ağu 25</c:v>
              </c:pt>
              <c:pt idx="20">
                <c:v>Eyl 25</c:v>
              </c:pt>
              <c:pt idx="21">
                <c:v>Eki 25</c:v>
              </c:pt>
              <c:pt idx="22">
                <c:v>Kas 25</c:v>
              </c:pt>
              <c:pt idx="23">
                <c:v>Ara 25</c:v>
              </c:pt>
              <c:pt idx="24">
                <c:v>Oca 26</c:v>
              </c:pt>
              <c:pt idx="25">
                <c:v>Şub 26</c:v>
              </c:pt>
              <c:pt idx="26">
                <c:v>Mar 26</c:v>
              </c:pt>
              <c:pt idx="27">
                <c:v>Nis 26</c:v>
              </c:pt>
              <c:pt idx="28">
                <c:v>May 26</c:v>
              </c:pt>
              <c:pt idx="29">
                <c:v>Haz 26</c:v>
              </c:pt>
              <c:pt idx="30">
                <c:v>Tem 26</c:v>
              </c:pt>
              <c:pt idx="31">
                <c:v>Ağu 26</c:v>
              </c:pt>
              <c:pt idx="32">
                <c:v>Eyl 26</c:v>
              </c:pt>
              <c:pt idx="33">
                <c:v>Eki 26</c:v>
              </c:pt>
              <c:pt idx="34">
                <c:v>Kas 26</c:v>
              </c:pt>
              <c:pt idx="35">
                <c:v>Ara 26</c:v>
              </c:pt>
            </c:strLit>
          </c:cat>
          <c:val>
            <c:numLit>
              <c:formatCode>0.0</c:formatCode>
              <c:ptCount val="36"/>
              <c:pt idx="0">
                <c:v>32</c:v>
              </c:pt>
              <c:pt idx="1">
                <c:v>32</c:v>
              </c:pt>
              <c:pt idx="2">
                <c:v>32</c:v>
              </c:pt>
              <c:pt idx="3">
                <c:v>32</c:v>
              </c:pt>
              <c:pt idx="4">
                <c:v>32</c:v>
              </c:pt>
              <c:pt idx="5">
                <c:v>32</c:v>
              </c:pt>
              <c:pt idx="6">
                <c:v>32</c:v>
              </c:pt>
              <c:pt idx="7">
                <c:v>32</c:v>
              </c:pt>
              <c:pt idx="8">
                <c:v>32</c:v>
              </c:pt>
              <c:pt idx="9">
                <c:v>32</c:v>
              </c:pt>
              <c:pt idx="10">
                <c:v>32</c:v>
              </c:pt>
              <c:pt idx="11">
                <c:v>32</c:v>
              </c:pt>
              <c:pt idx="12">
                <c:v>32</c:v>
              </c:pt>
              <c:pt idx="13">
                <c:v>32</c:v>
              </c:pt>
              <c:pt idx="14">
                <c:v>32</c:v>
              </c:pt>
              <c:pt idx="15">
                <c:v>32</c:v>
              </c:pt>
              <c:pt idx="16">
                <c:v>32</c:v>
              </c:pt>
              <c:pt idx="17">
                <c:v>32</c:v>
              </c:pt>
              <c:pt idx="18">
                <c:v>32</c:v>
              </c:pt>
              <c:pt idx="19">
                <c:v>32</c:v>
              </c:pt>
              <c:pt idx="20">
                <c:v>32</c:v>
              </c:pt>
              <c:pt idx="21">
                <c:v>32</c:v>
              </c:pt>
              <c:pt idx="22">
                <c:v>32</c:v>
              </c:pt>
              <c:pt idx="23">
                <c:v>32</c:v>
              </c:pt>
              <c:pt idx="24">
                <c:v>32</c:v>
              </c:pt>
              <c:pt idx="25">
                <c:v>32</c:v>
              </c:pt>
              <c:pt idx="26">
                <c:v>32</c:v>
              </c:pt>
              <c:pt idx="27">
                <c:v>32</c:v>
              </c:pt>
              <c:pt idx="28">
                <c:v>32</c:v>
              </c:pt>
              <c:pt idx="29">
                <c:v>32</c:v>
              </c:pt>
              <c:pt idx="30">
                <c:v>32</c:v>
              </c:pt>
              <c:pt idx="31">
                <c:v>32</c:v>
              </c:pt>
              <c:pt idx="32">
                <c:v>32</c:v>
              </c:pt>
              <c:pt idx="33">
                <c:v>32</c:v>
              </c:pt>
              <c:pt idx="34">
                <c:v>32</c:v>
              </c:pt>
              <c:pt idx="35">
                <c:v>32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6"/>
          <c:min val="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Gelir (M TL)</c:v>
          </c:tx>
          <c:spPr>
            <a:solidFill xmlns:a="http://schemas.openxmlformats.org/drawingml/2006/main">
              <a:srgbClr val="39D98A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0.0</c:formatCode>
              <c:ptCount val="3"/>
              <c:pt idx="0">
                <c:v>21.0375</c:v>
              </c:pt>
              <c:pt idx="1">
                <c:v>23.0245</c:v>
              </c:pt>
              <c:pt idx="2">
                <c:v>27.7998</c:v>
              </c:pt>
            </c:numLit>
          </c:val>
        </c:ser>
        <c:ser>
          <c:idx val="1"/>
          <c:order val="1"/>
          <c:tx>
            <c:v>Hedef (M TL)</c:v>
          </c:tx>
          <c:spPr>
            <a:solidFill xmlns:a="http://schemas.openxmlformats.org/drawingml/2006/main">
              <a:srgbClr val="FFB547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0.0</c:formatCode>
              <c:ptCount val="3"/>
              <c:pt idx="0">
                <c:v>21.045</c:v>
              </c:pt>
              <c:pt idx="1">
                <c:v>25.379</c:v>
              </c:pt>
              <c:pt idx="2">
                <c:v>30.091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Gerçekleşen (M TL)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0.0</c:formatCode>
              <c:ptCount val="12"/>
              <c:pt idx="0">
                <c:v>2.1527</c:v>
              </c:pt>
              <c:pt idx="1">
                <c:v>2.1736</c:v>
              </c:pt>
              <c:pt idx="2">
                <c:v>2.3826</c:v>
              </c:pt>
              <c:pt idx="3">
                <c:v>2.4752</c:v>
              </c:pt>
              <c:pt idx="4">
                <c:v>2.4102</c:v>
              </c:pt>
              <c:pt idx="5">
                <c:v>2.2127</c:v>
              </c:pt>
              <c:pt idx="6">
                <c:v>2.121</c:v>
              </c:pt>
              <c:pt idx="7">
                <c:v>2.1306</c:v>
              </c:pt>
              <c:pt idx="8">
                <c:v>2.211</c:v>
              </c:pt>
              <c:pt idx="9">
                <c:v>2.3432</c:v>
              </c:pt>
              <c:pt idx="10">
                <c:v>2.5296</c:v>
              </c:pt>
              <c:pt idx="11">
                <c:v>2.6574</c:v>
              </c:pt>
            </c:numLit>
          </c:val>
        </c:ser>
        <c:ser>
          <c:idx val="1"/>
          <c:order val="1"/>
          <c:tx>
            <c:v>Hedef (M TL)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0.0</c:formatCode>
              <c:ptCount val="12"/>
              <c:pt idx="0">
                <c:v>2.245</c:v>
              </c:pt>
              <c:pt idx="1">
                <c:v>2.319</c:v>
              </c:pt>
              <c:pt idx="2">
                <c:v>2.467</c:v>
              </c:pt>
              <c:pt idx="3">
                <c:v>2.553</c:v>
              </c:pt>
              <c:pt idx="4">
                <c:v>2.602</c:v>
              </c:pt>
              <c:pt idx="5">
                <c:v>2.444</c:v>
              </c:pt>
              <c:pt idx="6">
                <c:v>2.288</c:v>
              </c:pt>
              <c:pt idx="7">
                <c:v>2.326</c:v>
              </c:pt>
              <c:pt idx="8">
                <c:v>2.515</c:v>
              </c:pt>
              <c:pt idx="9">
                <c:v>2.646</c:v>
              </c:pt>
              <c:pt idx="10">
                <c:v>2.769</c:v>
              </c:pt>
              <c:pt idx="11">
                <c:v>2.917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Varyans (K TL)</c:v>
          </c:tx>
          <c:spPr>
            <a:solidFill xmlns:a="http://schemas.openxmlformats.org/drawingml/2006/main">
              <a:srgbClr val="FF667A"/>
            </a:solidFill>
          </c:spPr>
          <c:invertIfNegative val="0"/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</c:formatCode>
              <c:ptCount val="12"/>
              <c:pt idx="0">
                <c:v>-92.3</c:v>
              </c:pt>
              <c:pt idx="1">
                <c:v>-145.4</c:v>
              </c:pt>
              <c:pt idx="2">
                <c:v>-84.4</c:v>
              </c:pt>
              <c:pt idx="3">
                <c:v>-77.8</c:v>
              </c:pt>
              <c:pt idx="4">
                <c:v>-191.8</c:v>
              </c:pt>
              <c:pt idx="5">
                <c:v>-231.3</c:v>
              </c:pt>
              <c:pt idx="6">
                <c:v>-167</c:v>
              </c:pt>
              <c:pt idx="7">
                <c:v>-195.4</c:v>
              </c:pt>
              <c:pt idx="8">
                <c:v>-304</c:v>
              </c:pt>
              <c:pt idx="9">
                <c:v>-302.8</c:v>
              </c:pt>
              <c:pt idx="10">
                <c:v>-239.4</c:v>
              </c:pt>
              <c:pt idx="11">
                <c:v>-259.6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Pipeline kapsama (x)</c:v>
          </c:tx>
          <c:spPr>
            <a:ln xmlns:a="http://schemas.openxmlformats.org/drawingml/2006/main" w="38100">
              <a:solidFill>
                <a:srgbClr val="4F7CFF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0.0</c:formatCode>
              <c:ptCount val="12"/>
              <c:pt idx="0">
                <c:v>8.733184855233853</c:v>
              </c:pt>
              <c:pt idx="1">
                <c:v>8.478654592496765</c:v>
              </c:pt>
              <c:pt idx="2">
                <c:v>8.665991082286178</c:v>
              </c:pt>
              <c:pt idx="3">
                <c:v>8.679200940070505</c:v>
              </c:pt>
              <c:pt idx="4">
                <c:v>8.203305149884704</c:v>
              </c:pt>
              <c:pt idx="5">
                <c:v>7.945990180032733</c:v>
              </c:pt>
              <c:pt idx="6">
                <c:v>8.071678321678322</c:v>
              </c:pt>
              <c:pt idx="7">
                <c:v>7.877472055030094</c:v>
              </c:pt>
              <c:pt idx="8">
                <c:v>7.454870775347913</c:v>
              </c:pt>
              <c:pt idx="9">
                <c:v>7.424792139077853</c:v>
              </c:pt>
              <c:pt idx="10">
                <c:v>7.613940050559769</c:v>
              </c:pt>
              <c:pt idx="11">
                <c:v>7.485773054508056</c:v>
              </c:pt>
            </c:numLit>
          </c:val>
        </c:ser>
        <c:ser>
          <c:idx val="1"/>
          <c:order val="1"/>
          <c:tx>
            <c:v>Referans 4x</c:v>
          </c:tx>
          <c:spPr>
            <a:ln xmlns:a="http://schemas.openxmlformats.org/drawingml/2006/main" w="19050">
              <a:solidFill>
                <a:srgbClr val="FFB547"/>
              </a:solidFill>
              <a:prstDash val="dash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0.0</c:formatCode>
              <c:ptCount val="12"/>
              <c:pt idx="0">
                <c:v>4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4</c:v>
              </c:pt>
              <c:pt idx="9">
                <c:v>4</c:v>
              </c:pt>
              <c:pt idx="10">
                <c:v>4</c:v>
              </c:pt>
              <c:pt idx="11">
                <c:v>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Gelir (M TL)</c:v>
          </c:tx>
          <c:spPr>
            <a:solidFill xmlns:a="http://schemas.openxmlformats.org/drawingml/2006/main">
              <a:srgbClr val="24C7D9"/>
            </a:solidFill>
          </c:spPr>
          <c:cat>
            <c:strLit>
              <c:ptCount val="5"/>
              <c:pt idx="0">
                <c:v>Deniz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6.673</c:v>
              </c:pt>
              <c:pt idx="1">
                <c:v>6.46</c:v>
              </c:pt>
              <c:pt idx="2">
                <c:v>5.813</c:v>
              </c:pt>
              <c:pt idx="3">
                <c:v>5.283</c:v>
              </c:pt>
              <c:pt idx="4">
                <c:v>5.115</c:v>
              </c:pt>
            </c:numLit>
          </c:val>
        </c:ser>
        <c:ser>
          <c:idx val="1"/>
          <c:order val="1"/>
          <c:tx>
            <c:v>Hedef (M TL)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Deniz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5.115</c:v>
              </c:pt>
              <c:pt idx="1">
                <c:v>5.718</c:v>
              </c:pt>
              <c:pt idx="2">
                <c:v>6.018</c:v>
              </c:pt>
              <c:pt idx="3">
                <c:v>6.317</c:v>
              </c:pt>
              <c:pt idx="4">
                <c:v>6.919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1A7B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Gün</c:v>
          </c:tx>
          <c:spPr>
            <a:solidFill xmlns:a="http://schemas.openxmlformats.org/drawingml/2006/main">
              <a:srgbClr val="FFB547"/>
            </a:solidFill>
          </c:spPr>
          <c:cat>
            <c:strLit>
              <c:ptCount val="5"/>
              <c:pt idx="0">
                <c:v>Dnz.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</c:formatCode>
              <c:ptCount val="5"/>
              <c:pt idx="0">
                <c:v>43</c:v>
              </c:pt>
              <c:pt idx="1">
                <c:v>45</c:v>
              </c:pt>
              <c:pt idx="2">
                <c:v>46</c:v>
              </c:pt>
              <c:pt idx="3">
                <c:v>48</c:v>
              </c:pt>
              <c:pt idx="4">
                <c:v>49.75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Win Rate %</c:v>
          </c:tx>
          <c:spPr>
            <a:solidFill xmlns:a="http://schemas.openxmlformats.org/drawingml/2006/main">
              <a:srgbClr val="39D98A"/>
            </a:solidFill>
          </c:spPr>
          <c:cat>
            <c:strLit>
              <c:ptCount val="5"/>
              <c:pt idx="0">
                <c:v>Dnz.</c:v>
              </c:pt>
              <c:pt idx="1">
                <c:v>Can</c:v>
              </c:pt>
              <c:pt idx="2">
                <c:v>Selin</c:v>
              </c:pt>
              <c:pt idx="3">
                <c:v>Emre</c:v>
              </c:pt>
              <c:pt idx="4">
                <c:v>Ayşe</c:v>
              </c:pt>
            </c:strLit>
          </c:cat>
          <c:val>
            <c:numLit>
              <c:formatCode>0.0</c:formatCode>
              <c:ptCount val="5"/>
              <c:pt idx="0">
                <c:v>35.70566948130278</c:v>
              </c:pt>
              <c:pt idx="1">
                <c:v>33.40782122905028</c:v>
              </c:pt>
              <c:pt idx="2">
                <c:v>30.87912087912088</c:v>
              </c:pt>
              <c:pt idx="3">
                <c:v>28.771551724137932</c:v>
              </c:pt>
              <c:pt idx="4">
                <c:v>27.42914979757085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AF2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Yeni müşteri</c:v>
          </c:tx>
          <c:spPr>
            <a:ln xmlns:a="http://schemas.openxmlformats.org/drawingml/2006/main" w="38100">
              <a:solidFill>
                <a:srgbClr val="39D98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</c:formatCode>
              <c:ptCount val="12"/>
              <c:pt idx="0">
                <c:v>103</c:v>
              </c:pt>
              <c:pt idx="1">
                <c:v>104</c:v>
              </c:pt>
              <c:pt idx="2">
                <c:v>114</c:v>
              </c:pt>
              <c:pt idx="3">
                <c:v>119</c:v>
              </c:pt>
              <c:pt idx="4">
                <c:v>117</c:v>
              </c:pt>
              <c:pt idx="5">
                <c:v>109</c:v>
              </c:pt>
              <c:pt idx="6">
                <c:v>105</c:v>
              </c:pt>
              <c:pt idx="7">
                <c:v>106</c:v>
              </c:pt>
              <c:pt idx="8">
                <c:v>110</c:v>
              </c:pt>
              <c:pt idx="9">
                <c:v>116</c:v>
              </c:pt>
              <c:pt idx="10">
                <c:v>124</c:v>
              </c:pt>
              <c:pt idx="11">
                <c:v>129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Churn %</c:v>
          </c:tx>
          <c:spPr>
            <a:ln xmlns:a="http://schemas.openxmlformats.org/drawingml/2006/main" w="38100">
              <a:solidFill>
                <a:srgbClr val="FF667A"/>
              </a:solidFill>
              <a:prstDash val="solid"/>
            </a:ln>
          </c:spPr>
          <c:marker>
            <c:symbol val="none"/>
            <c:size val="6"/>
          </c:marker>
          <c:cat>
            <c:strLit>
              <c:ptCount val="12"/>
              <c:pt idx="0">
                <c:v>Oca</c:v>
              </c:pt>
              <c:pt idx="1">
                <c:v>Şub</c:v>
              </c:pt>
              <c:pt idx="2">
                <c:v>Mar</c:v>
              </c:pt>
              <c:pt idx="3">
                <c:v>Nis</c:v>
              </c:pt>
              <c:pt idx="4">
                <c:v>May</c:v>
              </c:pt>
              <c:pt idx="5">
                <c:v>Haz</c:v>
              </c:pt>
              <c:pt idx="6">
                <c:v>Tem</c:v>
              </c:pt>
              <c:pt idx="7">
                <c:v>Ağu</c:v>
              </c:pt>
              <c:pt idx="8">
                <c:v>Eyl</c:v>
              </c:pt>
              <c:pt idx="9">
                <c:v>Eki</c:v>
              </c:pt>
              <c:pt idx="10">
                <c:v>Kas</c:v>
              </c:pt>
              <c:pt idx="11">
                <c:v>Ara</c:v>
              </c:pt>
            </c:strLit>
          </c:cat>
          <c:val>
            <c:numLit>
              <c:formatCode>0.0</c:formatCode>
              <c:ptCount val="12"/>
              <c:pt idx="0">
                <c:v>2.5386541271340106</c:v>
              </c:pt>
              <c:pt idx="1">
                <c:v>2.4165878954308977</c:v>
              </c:pt>
              <c:pt idx="2">
                <c:v>2.2929148921012237</c:v>
              </c:pt>
              <c:pt idx="3">
                <c:v>2.1796145917895906</c:v>
              </c:pt>
              <c:pt idx="4">
                <c:v>2.0876617265577004</c:v>
              </c:pt>
              <c:pt idx="5">
                <c:v>2.0259632282976137</c:v>
              </c:pt>
              <c:pt idx="6">
                <c:v>2.000495466755494</c:v>
              </c:pt>
              <c:pt idx="7">
                <c:v>2.0137253538315525</c:v>
              </c:pt>
              <c:pt idx="8">
                <c:v>2.0643713883694192</c:v>
              </c:pt>
              <c:pt idx="9">
                <c:v>2.14752778761731</c:v>
              </c:pt>
              <c:pt idx="10">
                <c:v>2.2551396814782234</c:v>
              </c:pt>
              <c:pt idx="11">
                <c:v>2.376783340283947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5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3A5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53A5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7B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  <a:prstDash val="solid"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C3ABD-98FA-4344-AEF2-C01BC76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E61BE-28BB-436E-94FF-B9F92DBA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C7D9"/>
                </a:solidFill>
              </a:defRPr>
            </a:pPr>
            <a:r>
              <a:rPr sz="1125" b="1">
                <a:solidFill>
                  <a:srgbClr val="24C7D9"/>
                </a:solidFill>
              </a:rPr>
              <a:t>PORTFÖY PROJESİ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1602-08AD-4EA1-89EA-6E9B242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F2FF"/>
                </a:solidFill>
              </a:defRPr>
            </a:pPr>
            <a:r>
              <a:rPr sz="3900" b="1">
                <a:solidFill>
                  <a:srgbClr val="EAF2FF"/>
                </a:solidFill>
              </a:rPr>
              <a:t>CRM Satış Analitiği ve İş Zekâsı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268B0-EC65-4CF9-99CE-072BAB6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1A7BE"/>
                </a:solidFill>
              </a:defRPr>
            </a:pPr>
            <a:r>
              <a:rPr sz="1725" b="0">
                <a:solidFill>
                  <a:srgbClr val="91A7BE"/>
                </a:solidFill>
              </a:rPr>
              <a:t>36 Aylık Performans İncelemesi | Power BI, Tableau ve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A396-543C-4AB9-ACF8-256CA89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6710E-5D8B-4B67-9929-0CBE669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Murat Miraç Gedik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FDD0E-9FC7-444D-A462-5311D10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Temmuz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94CF3-3906-4D6E-948D-3B846351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42950"/>
            <a:ext cx="4619625" cy="537210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5c84d8cc3422b"/>
          <a:stretch xmlns:a="http://schemas.openxmlformats.org/drawingml/2006/main"/>
        </p:blipFill>
        <p:spPr>
          <a:xfrm xmlns:a="http://schemas.openxmlformats.org/drawingml/2006/main">
            <a:off x="7194021" y="933450"/>
            <a:ext cx="4233333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1ada6490b42d4"/>
          <a:stretch xmlns:a="http://schemas.openxmlformats.org/drawingml/2006/main"/>
        </p:blipFill>
        <p:spPr>
          <a:xfrm xmlns:a="http://schemas.openxmlformats.org/drawingml/2006/main">
            <a:off x="7194021" y="3524250"/>
            <a:ext cx="4233333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523476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087F0-928F-4A34-A688-2B594E0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51B73-9E14-40C0-938B-B06432F5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Büyüme güçlü; hedef disiplini geride kalıyor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83E47-54B7-4894-B8A4-1E153715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35753-2B93-44D9-A7E6-44FCACC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47756-D585-4D95-A6E1-89BC6E1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540AE-1014-48F2-AC6F-082AF99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311C9-C11A-46EF-B06A-B5B6275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2026 GELIRI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FCBA3-06E3-4FE9-9678-FC56059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27.8M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E8784-D611-4CD7-AB3A-CD4AAF1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+32.1% 2024'e göre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B7D7F-9051-40C0-B1A7-0500AB63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E2545-3C7B-4000-BFE7-B5A649E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2026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3C3E3-0E30-4189-8661-F96E2C3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18,206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FAD18-9EAF-44F8-99BF-7C8DAACB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+24.1% 2024'e göre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6871E-CBB0-4707-BAA5-166F874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630C6-9ABC-4A88-B335-175ECBAB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HEDEF GERÇEKLEŞME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3AD35-BA7C-4234-87FC-7F3D3D84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92.4%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C0CE6-389D-4433-A0CE-69E1EC2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2025'e göre +1,7 puan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E6E8E-E520-4E47-800F-53A00981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F03B5-41BB-482C-838C-120F96B3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383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ARALIK WIN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89C74-69D5-457A-A212-C95CA988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240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32.3%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E402F-1583-48B8-B17A-479274B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57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</a:defRPr>
            </a:pPr>
            <a:r>
              <a:rPr sz="1200" b="1">
                <a:solidFill>
                  <a:srgbClr val="A78BFA"/>
                </a:solidFill>
              </a:rPr>
              <a:t>Hedef %32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14686-438F-4D2D-B300-46FF8D72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5B4A1-3ABA-406D-836A-0B8C07D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24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Yönetim mesajı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9F677-24DC-46A9-BDD1-CABD6570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1021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Talep ve gelir ölçeği genişliyor. Ana fırsat, büyümeyi daha tutarlı hedef gerçekleşmesine ve dengeli ekip performansına çevirmek.</a:t>
            </a:r>
          </a:p>
        </p:txBody>
      </p:sp>
    </p:spTree>
    <p:extLst>
      <p:ext uri="{BB962C8B-B14F-4D97-AF65-F5344CB8AC3E}">
        <p14:creationId xmlns:p14="http://schemas.microsoft.com/office/powerpoint/2010/main" val="2086428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BBAC4-7818-4FA3-9658-D52B5D7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3822D-617A-4306-BF12-9441DD59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Analiz, veriden yönetim aksiyonuna ilerliyor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AC00F-4C58-48CE-8BC4-2ACD4412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BEFE-8021-42BB-95FF-272811A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423D2-39DA-49AA-98D7-AC07398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D678D-A68F-44F8-AD18-D8372B77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57CE4-6DCF-4CFF-9465-373D2527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490CF-3572-4450-AD26-4E2291F0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Veri temeli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AC06F-71B3-4F3D-9F92-4350D8D1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36 aylık CRM veri modeli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FA4D8-CB91-47A0-94FF-796E990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135EB-7817-4CF1-9C13-00D276F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B71E1-3F13-4133-992F-2D8504B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Ticari büyüme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511C6-98D4-4E93-BC73-02332C78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Lead, gelir ve hedef trendleri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2AFC6-43EC-485A-A97A-D716A66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AF1ED-B445-4CBA-B6DB-D287A00D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790B7-5A34-4947-8AEA-25225D77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Dönüşüm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1F086-00EC-4B4B-A5FB-38C5E8A5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Funnel ve kanal kalitesi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339BB-7F74-482B-9591-DA70F2A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C7D9"/>
                </a:solidFill>
              </a:defRPr>
            </a:pPr>
            <a:r>
              <a:rPr sz="255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94708-7211-411C-AA81-957148A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10AFD-DEE5-45D8-8E47-BF67713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Verimlilik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B4E8D-CA58-4E4E-A6B1-D7F275D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Pipeline ve temsilci performansı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D36F1-4466-422C-B0EF-2056D75E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5737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D98A"/>
                </a:solidFill>
              </a:defRPr>
            </a:pPr>
            <a:r>
              <a:rPr sz="2550" b="1">
                <a:solidFill>
                  <a:srgbClr val="39D98A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B1207-82A1-45E0-AC07-86A845C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182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36FA9-A2BA-485B-B48B-6F303AA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Aksiyon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19001-0A51-495E-85AC-470C2A1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33725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Öncelikler ve yönetişim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3DCA2-047B-4E7A-ABF2-6A7CB1F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2FF"/>
                </a:solidFill>
              </a:defRPr>
            </a:pPr>
            <a:r>
              <a:rPr sz="1950" b="1">
                <a:solidFill>
                  <a:srgbClr val="EAF2FF"/>
                </a:solidFill>
              </a:rPr>
              <a:t>Amaç: sonuçları yalnızca raporlamak değil, karar kalitesini artırmak.</a:t>
            </a:r>
          </a:p>
        </p:txBody>
      </p:sp>
    </p:spTree>
    <p:extLst>
      <p:ext uri="{BB962C8B-B14F-4D97-AF65-F5344CB8AC3E}">
        <p14:creationId xmlns:p14="http://schemas.microsoft.com/office/powerpoint/2010/main" val="1118523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8735E-F54B-42E7-BDE8-83B54EA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ACCD-D032-4BDE-B44C-B70E30C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Proje tüm CRM performans döngüsünü kapsıyor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280D7-406C-46C1-B480-BA2D80D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9EC25-46F2-4F4E-8831-425B86F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CEAE7-8581-4A22-A2BC-EAD4608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31B5D-06BC-4140-8B83-DBABC99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24446-284C-4AC3-9538-875531E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Talep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AB2B3-807D-447A-B4CD-DAA58DC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Lead üretimi ve kaynak karması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71936-D012-4224-A6E3-D750532E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FC5F1-AE66-4FB4-A712-D040027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30F1F-8B03-4D65-9190-A83507F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Kalite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F9BF6-BC53-4A01-B058-5D912BCB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95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Qualification ve fırsata dönüşüm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FFA33-11CB-4C68-8675-8509F71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A4BA9-D6C7-4C1D-886E-18E3BD94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C666D-DC5C-47AB-8E9D-FCC41694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Değer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E39E5-3B5B-4F0A-8D75-8422E14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Gelir, hedef ve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68544-96FD-4374-BDC6-85453541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385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23B2D-57B3-425A-A164-064AB5B3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44F88-510F-4426-B4C6-DF7A971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Verimlilik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B8A53-29AE-4D7E-9023-4454FFA6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Win rate ve satış döngüsü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39121-0464-4C17-A87C-0283CAD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148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F5C45-05AF-4465-8363-2964A3F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5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C7D9"/>
                </a:solidFill>
              </a:defRPr>
            </a:pPr>
            <a:r>
              <a:rPr sz="1800" b="1">
                <a:solidFill>
                  <a:srgbClr val="24C7D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CA05F-A7BA-467B-95AA-580AC5B6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Müşteri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A6898-917B-4E2B-A050-977C278F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24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Yeni müşteri ve churn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3B10F-C69E-4D04-9824-A534A7CE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08B4A-B53B-4027-945A-0DEFEAC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5A14F-1C15-41E5-978E-6C1C2EDA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Teslimat kapsamı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ADA68A-7AD1-4C74-A003-DA25B39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765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Power BI PBIP projesi, Excel KPI dashboard'u, Tableau workbook'u ve yönetici seviyesinde 4K raporlama çıktısı.</a:t>
            </a:r>
          </a:p>
        </p:txBody>
      </p:sp>
    </p:spTree>
    <p:extLst>
      <p:ext uri="{BB962C8B-B14F-4D97-AF65-F5344CB8AC3E}">
        <p14:creationId xmlns:p14="http://schemas.microsoft.com/office/powerpoint/2010/main" val="1621812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BDA5E-B508-4F41-94EE-05E63517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C3E51-B559-450B-BE46-0FA6386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Veri temeli küçük ama ölçeklenebilir bir yıldız şema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6AF0A-00AA-4296-B6EB-6507680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A76C4-E2A0-40C3-AFB5-B449D61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5697C-6C76-4012-ADBE-3AF3DC31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8636B-C7E7-4011-B463-C0B195A9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C7D9"/>
                </a:solidFill>
              </a:defRPr>
            </a:pPr>
            <a:r>
              <a:rPr sz="3900" b="1">
                <a:solidFill>
                  <a:srgbClr val="24C7D9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9A84B-A833-471D-A8D1-3ED5809D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9E760-2B0E-4126-8541-FFD98BC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9D98A"/>
                </a:solidFill>
              </a:defRPr>
            </a:pPr>
            <a:r>
              <a:rPr sz="3900" b="1">
                <a:solidFill>
                  <a:srgbClr val="39D98A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0A603-9C06-4288-9BB3-45328F2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OLGU TABLOSU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D0BAE-8136-4B3A-A78F-C9CC8A3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A78BFA"/>
                </a:solidFill>
              </a:defRPr>
            </a:pPr>
            <a:r>
              <a:rPr sz="3900" b="1">
                <a:solidFill>
                  <a:srgbClr val="A78BFA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8AD90-F39F-4A41-89C9-0414A2C8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TEMSILCI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FDEC9-D908-4F4F-B8A9-B28924D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62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B547"/>
                </a:solidFill>
              </a:defRPr>
            </a:pPr>
            <a:r>
              <a:rPr sz="3900" b="1">
                <a:solidFill>
                  <a:srgbClr val="FFB547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89863-57A8-4B1B-8FCE-783BE776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7BE"/>
                </a:solidFill>
              </a:defRPr>
            </a:pPr>
            <a:r>
              <a:rPr sz="1125" b="1">
                <a:solidFill>
                  <a:srgbClr val="91A7BE"/>
                </a:solidFill>
              </a:rPr>
              <a:t>LEAD KAYNAĞI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F6CE2-ECC7-4D3C-B064-1B443292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D0014-1005-442A-A196-3DA32367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61F64-798A-4CE6-9F54-6804724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Aylık performans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4E10A-B24C-4001-921A-EC1B0CD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Lead, funnel, gelir, pipeline, müşteri ve churn metrikleri.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2E1D2-C9D4-4080-96B4-9A0690E2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3651A-33A4-4A55-8427-197D211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Temsilci performansı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D6A2F-B9D3-4140-82B4-F79CF9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Gelir, hedef, win rate, fırsat ve satış döngüsü.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4308E-160D-440B-A735-29AB6DD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9419E-F1EB-46EF-9DA4-A3B743E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Lead kaynakları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631CC-5917-4D74-9EA1-8F22A5E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Hacim, qualification rate ve edinim harcaması.</a:t>
            </a:r>
          </a:p>
        </p:txBody>
      </p:sp>
    </p:spTree>
    <p:extLst>
      <p:ext uri="{BB962C8B-B14F-4D97-AF65-F5344CB8AC3E}">
        <p14:creationId xmlns:p14="http://schemas.microsoft.com/office/powerpoint/2010/main" val="497700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D83FC3-D679-4DF1-B17D-95BF621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18683-FFCE-4403-91F5-48C3883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Takvim tablosu ortak zaman ekseni sağlıyor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CB9D5-69F0-4886-93CF-4843BD2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EC68B-86C4-45EE-9678-FEDC837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2A131-60B4-45D4-8711-C46928D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39856-F171-456E-A49E-B6BD7C50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368C2-DB8A-4916-AD2D-5DD69C8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3D7F1-2AEA-47EE-B07C-ACACD45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D74CC-DD31-4B56-87B8-F38BB42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52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63B"/>
          </a:solidFill>
          <a:ln xmlns:a="http://schemas.openxmlformats.org/drawingml/2006/main" w="9525">
            <a:solidFill>
              <a:srgbClr val="24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DF5A8-FD69-4551-BE4A-AE10886D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F2FF"/>
                </a:solidFill>
              </a:defRPr>
            </a:pPr>
            <a:r>
              <a:rPr sz="2250" b="1">
                <a:solidFill>
                  <a:srgbClr val="EAF2FF"/>
                </a:solidFill>
              </a:rPr>
              <a:t>Calendar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FF447-9AD5-496D-9624-152F1BD2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Date • Month • Year • Sort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C2DA6-2097-4361-8C04-0AD4D04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C73AD-F3D7-4FAB-9F00-A521863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crm_monthly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3A0AE-E04A-429B-BD01-4760323D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Aylık KPI'lar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A48D7-7100-4C19-8964-6B4A71C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66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0672D-A501-4A1D-BA84-AE975A0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A6CA7-A5C1-4911-8A72-041BE931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crm_rep_performance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14FA1-05D6-434C-A3EB-438E9970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Temsilci performansı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5B4F6-F6FD-4B45-950F-97FC6D6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A5DD0-21AB-4E9A-BF66-1C49B214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238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A8A84-83D8-4D8E-8DDC-23593FB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F"/>
                </a:solidFill>
              </a:defRPr>
            </a:pPr>
            <a:r>
              <a:rPr sz="1575" b="1">
                <a:solidFill>
                  <a:srgbClr val="EAF2FF"/>
                </a:solidFill>
              </a:rPr>
              <a:t>crm_lead_sources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16A5E-76D5-4A1D-BA6D-DE38614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7BE"/>
                </a:solidFill>
              </a:defRPr>
            </a:pPr>
            <a:r>
              <a:rPr sz="1125" b="0">
                <a:solidFill>
                  <a:srgbClr val="91A7BE"/>
                </a:solidFill>
              </a:rPr>
              <a:t>Kanal performansı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AA944-626F-4D50-BD12-91BC785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62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1 → 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03F05-2429-495C-923D-6DE697C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19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Tek yönlü filtre, tutarlı KPI hesapları ve güvenilir zaman zekâsı sağlar.</a:t>
            </a:r>
          </a:p>
        </p:txBody>
      </p:sp>
    </p:spTree>
    <p:extLst>
      <p:ext uri="{BB962C8B-B14F-4D97-AF65-F5344CB8AC3E}">
        <p14:creationId xmlns:p14="http://schemas.microsoft.com/office/powerpoint/2010/main" val="77221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25771-351B-44AA-BEBD-E7474FC7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32D43-04B3-4E90-84F7-35747F59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KPI sistemi büyümeyi dört yönetim sorusuna ayırıyor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1898D-7BE4-4130-9FD6-C2110D2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3093-D806-4982-AFD3-5A0ED77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49B3E-DF5E-4D07-AA8E-B92C5D2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99D6F-2E84-46C0-9529-4E08D3E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8337-E7BE-4FD2-A9AB-4594E1E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C7D9"/>
                </a:solidFill>
              </a:defRPr>
            </a:pPr>
            <a:r>
              <a:rPr sz="1500" b="1">
                <a:solidFill>
                  <a:srgbClr val="24C7D9"/>
                </a:solidFill>
              </a:rPr>
              <a:t>TALEP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E6F57-3865-4FE4-9CD2-AB4BA37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Ne kadar ilgi yaratıyoruz?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2BBF2-BD14-4077-8E19-9FE6D43D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906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New Leads • Lead Target • Kaynak Payı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E19E7-B180-42D3-AC43-4B2423C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769EC-ED7E-4E42-800A-6A7232E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658F3-024D-4127-8E6D-3A7B64BA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DÖNÜŞÜM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D895E-B2BD-4354-944D-15DB443D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İlgiyi ne kadar verimli ilerletiyoruz?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61B5B-A1F3-40E0-B26B-5F5C97F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Qualification • Opportunity • Win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C9D6C-58B5-49A6-9587-8B799B3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AF575-295A-42CC-8195-A52D02B8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1EF50-DD83-4763-8663-09BB6F3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98A"/>
                </a:solidFill>
              </a:defRPr>
            </a:pPr>
            <a:r>
              <a:rPr sz="1500" b="1">
                <a:solidFill>
                  <a:srgbClr val="39D98A"/>
                </a:solidFill>
              </a:rPr>
              <a:t>DEĞER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7E97-950E-4E6B-8726-1434E9EB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Dönüşüm ne kadar gelir yaratıyor?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D5AED-4608-4B86-8D4E-7E5AFE7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242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Won Revenue • Pipeline • Avg Deal 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98C86-2F91-47BD-9AFB-D3D3FE2E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481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2C6FB-6285-45CD-BAB2-3EC5C41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A8803-2A7E-4003-A8D8-556527A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72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547"/>
                </a:solidFill>
              </a:defRPr>
            </a:pPr>
            <a:r>
              <a:rPr sz="1500" b="1">
                <a:solidFill>
                  <a:srgbClr val="FFB547"/>
                </a:solidFill>
              </a:rPr>
              <a:t>HIZ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FBF1A-ADC0-40DD-9296-D4A9207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Gelire ne kadar hızlı ulaşıyoruz?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29BE4-C4DF-4327-A6A6-B4998024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Sales Cycle • Churn • Target Attainment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BEBDC-7735-4963-A357-38FF0319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14975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8712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76083-76FB-4F28-A340-B14A510B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09DAC-2F93-4B2B-A5E5-C85314A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Çözüm ham veriden yönetici raporuna uzanıyor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595C-2BFD-4A02-AD8A-AB12F78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F7CF9-7FC7-4465-B09D-2E6161F3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65D83-69E3-4EA0-AD86-2A25D22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978EC-678D-4CAE-ACE2-E7DEFAD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3611C-B5C9-4C9D-888F-2EC07927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2823E-2A32-47A3-BF20-BC643325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DCFF5-3A4E-48BE-9BD2-5F0ACC4F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4EAC7-837D-4E7F-B291-95F968A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Veri hazırlama ve kalite kontrol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CD004-B9D3-4D89-8564-FF0B0D5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09221-1C50-4FF0-A537-51931F3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C9F8E-2293-4121-B982-FCEF7FB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A4349-23FA-4EF2-B61E-C2CA63B5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Power 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90618-A73E-4C28-9572-7629FEC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Dönüşüm ve standardizasyon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70CF1-D614-4C54-8A04-DC373A6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26D40-CB5D-4936-B32D-E8E2C9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EC95E-4142-4F22-A967-23E22AAF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E66C3-C731-4CF9-9E77-0AD59831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Power BI + DAX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34CFE-7478-43FB-97AA-2C55E3F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Model, KPI ve interaktif analiz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F574A-2B2C-48E2-BB9C-0DD5554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CCDB3-5E6D-4A9F-8368-444DC88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0DCD9-FE43-4617-AAB1-AD56A86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90FAF-23C2-4411-ABE2-10D8454E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Tableau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2A32C-FB4B-4A39-B26F-D142B5F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Çapraz platform görselleştirme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55AAA-0028-4A77-8D26-8C29DDF4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C7D9"/>
                </a:solidFill>
              </a:defRPr>
            </a:pPr>
            <a:r>
              <a:rPr sz="1350" b="1">
                <a:solidFill>
                  <a:srgbClr val="24C7D9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F13DD-666C-4036-A7FD-9F2CFEE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0"/>
            <a:ext cx="1733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53A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84C14-19FA-4F45-A850-E284BC9C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PowerPoint + PDF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49D0E-9EAB-454D-88F2-6F495177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146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7BE"/>
                </a:solidFill>
              </a:defRPr>
            </a:pPr>
            <a:r>
              <a:rPr sz="1050" b="0">
                <a:solidFill>
                  <a:srgbClr val="91A7BE"/>
                </a:solidFill>
              </a:rPr>
              <a:t>Yönetici iletişimi ve paylaşım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C21A7-391D-4135-AB54-6313BFD5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2EE08-282F-44AF-ACCF-4019229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33875"/>
            <a:ext cx="720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Tek kaynak, çoklu çıktı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16FE4-C7EE-40F6-B939-75A3C44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Aynı veri tanımları tüm platformlarda tutarlı sonuç üretir.</a:t>
            </a:r>
          </a:p>
        </p:txBody>
      </p:sp>
    </p:spTree>
    <p:extLst>
      <p:ext uri="{BB962C8B-B14F-4D97-AF65-F5344CB8AC3E}">
        <p14:creationId xmlns:p14="http://schemas.microsoft.com/office/powerpoint/2010/main" val="773259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A0C1C-174E-49CC-82DE-478CFD5E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EE08B-0B0E-41CF-85FC-A0B9BEE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Aynı iş mantığı üç farklı BI ortamında sunuluyor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58A6B-A460-4141-AB28-9EE80906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5CF4A-5178-439D-B8F4-021C301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3473C-185A-473E-9541-0E646C1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A8371-7F74-4B62-A46B-3D8A728A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Power BI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e1310cd634480"/>
          <a:stretch xmlns:a="http://schemas.openxmlformats.org/drawingml/2006/main"/>
        </p:blipFill>
        <p:spPr>
          <a:xfrm xmlns:a="http://schemas.openxmlformats.org/drawingml/2006/main">
            <a:off x="652463" y="1857375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2E090-DC09-40DA-AC58-67E62E3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İnteraktif analiz ve DAX tabanlı KPI modeli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F563C-9074-4011-80A1-0D54562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Excel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445907ca4aec"/>
          <a:stretch xmlns:a="http://schemas.openxmlformats.org/drawingml/2006/main"/>
        </p:blipFill>
        <p:spPr>
          <a:xfrm xmlns:a="http://schemas.openxmlformats.org/drawingml/2006/main">
            <a:off x="7011465" y="1857375"/>
            <a:ext cx="3931696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C9658-39C0-41E1-B9C8-BF05D860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7BE"/>
                </a:solidFill>
              </a:defRPr>
            </a:pPr>
            <a:r>
              <a:rPr sz="1200" b="0">
                <a:solidFill>
                  <a:srgbClr val="91A7BE"/>
                </a:solidFill>
              </a:rPr>
              <a:t>Denetlenebilir veri tabanı ve yönetici dashboard'u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3656-90A1-4EDB-A0C2-83FD66E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547"/>
                </a:solidFill>
              </a:defRPr>
            </a:pPr>
            <a:r>
              <a:rPr sz="1650" b="1">
                <a:solidFill>
                  <a:srgbClr val="FFB547"/>
                </a:solidFill>
              </a:rPr>
              <a:t>Tableau çıktısı aynı kaynak tablolarla taşınabilirliği doğrular.</a:t>
            </a:r>
          </a:p>
        </p:txBody>
      </p:sp>
    </p:spTree>
    <p:extLst>
      <p:ext uri="{BB962C8B-B14F-4D97-AF65-F5344CB8AC3E}">
        <p14:creationId xmlns:p14="http://schemas.microsoft.com/office/powerpoint/2010/main" val="1294930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AEB89-6A26-4C33-A94F-E41519AF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78838-325A-40AE-8379-3D4F82E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Üç yılda gelir %32, lead hacmi %24 büyüdü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9203E-14B8-4EBF-8D47-782B205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F8147-FD16-4BEC-BD0A-2A5ADDBA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32C9C-3848-4FF8-B2CD-E4296031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22f308aa594e3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80618-67B2-43A3-A4E7-BE701DD8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6DD69-0A64-4113-9901-3BFE606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Gelir ölçeği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07CC0-9726-414D-A61F-56B0635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2209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2024: TL 21.0M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2026: TL 27.8M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Büyüme: +32.1%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113DF-8DE5-4615-9D3E-40483E97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D6B9-4AE1-4321-8CB3-016E7E68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Talep ölçeği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A83C3-0F03-464E-A9CD-56542E7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71975"/>
            <a:ext cx="2209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2024: 14,675 lead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2026: 18,206 lead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Büyüme: +24.1%</a:t>
            </a:r>
          </a:p>
        </p:txBody>
      </p:sp>
    </p:spTree>
    <p:extLst>
      <p:ext uri="{BB962C8B-B14F-4D97-AF65-F5344CB8AC3E}">
        <p14:creationId xmlns:p14="http://schemas.microsoft.com/office/powerpoint/2010/main" val="1913139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B05CB-A024-4BC5-9C2F-70AF7DE2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7C384-1064-481D-8EDE-58FE8AE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2026 büyümesi, 2025 hedef açığını kısmen kapattı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C6DF-1D4B-4A0C-885F-D861ABCA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49A66-AF48-4F60-81D8-4221AE7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51E13-2558-4010-B8E0-BB4003B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7618"/>
                <a:gridCol w="1803400"/>
                <a:gridCol w="1967345"/>
                <a:gridCol w="1967345"/>
                <a:gridCol w="1967345"/>
                <a:gridCol w="1967345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Yıl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Lead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Gelir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Hedef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Gerçekleşme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Kazanılan İş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2024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14,675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21.0M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21.0M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100.0%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1,184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2025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16,477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23.0M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25.4M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90.7%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1,203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2026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18,206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27.8M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30.1M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92.4%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1,356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66872-ED02-406F-8EDA-04B42B31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2A248-2220-4A53-A86D-2763332C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4375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Kritik okuma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D2E18-7A3F-487A-82D1-B0EDB319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906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2024 neredeyse tam hedefteydi. 2025'te hedef seviyesi büyümeden hızlı yükseldi; 2026'da gelir toparlandı ancak yıllık gerçekleşme %92,4'te kaldı.</a:t>
            </a:r>
          </a:p>
        </p:txBody>
      </p:sp>
    </p:spTree>
    <p:extLst>
      <p:ext uri="{BB962C8B-B14F-4D97-AF65-F5344CB8AC3E}">
        <p14:creationId xmlns:p14="http://schemas.microsoft.com/office/powerpoint/2010/main" val="9172923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A16E7-847C-498D-8780-C0EF9C6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EC51-ADCD-49B5-A0AE-AEF1263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Aralık: dönüşüm hedefte, gelir planın altında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06E3E-B81E-41ED-931F-E107EDE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591B7-39B9-41BD-85D6-48747E9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60E37-47E9-4099-81F5-D1B1F2C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7F9DB-45BA-44FD-994B-83F03110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10FF7-698D-4DEE-A20B-8B5A591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NEW 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EA2A2-FBE4-4EAE-B444-E3A25F84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1,763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B6CB-92D7-4653-B54D-0B6E964C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97.1% hedef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3C66C-5D7F-487A-9EAD-EEF9147D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BC372-D4C2-46BA-AC9C-454DEB2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WON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8A31C-14B4-4345-9347-2B909FE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2.7M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FBD89-47B4-4626-B6AD-541848A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7A"/>
                </a:solidFill>
              </a:defRPr>
            </a:pPr>
            <a:r>
              <a:rPr sz="1200" b="1">
                <a:solidFill>
                  <a:srgbClr val="FF667A"/>
                </a:solidFill>
              </a:rPr>
              <a:t>TL -260K fark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08C63-8AB1-48EA-A2AB-175F3EF8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535E8-6120-42CD-BA82-6481D3B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938CC-DCA9-4B64-BB71-B537AC7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TL 21.8M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954C6-F0D6-422A-BBA9-6D6AEC5E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CFF"/>
                </a:solidFill>
              </a:defRPr>
            </a:pPr>
            <a:r>
              <a:rPr sz="1200" b="1">
                <a:solidFill>
                  <a:srgbClr val="4F7CFF"/>
                </a:solidFill>
              </a:rPr>
              <a:t>7.5x kapsama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F5FC4-67C7-40D1-87DE-23820CD9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14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F89E7-E8C7-4415-B589-D39A6AE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85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A7BE"/>
                </a:solidFill>
              </a:defRPr>
            </a:pPr>
            <a:r>
              <a:rPr sz="1050" b="1">
                <a:solidFill>
                  <a:srgbClr val="91A7BE"/>
                </a:solidFill>
              </a:rPr>
              <a:t>WIN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B73AC-5408-4EBD-8043-4D9F8E21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71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32.3%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A5EC6-669B-4CBD-82D3-98DC7E01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05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+10.1% YoY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22A08-00DF-4118-B0E9-DC1B9A2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1A5DF-14E5-4A18-BCBD-5CC02DF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24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Denge problemi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FBC9B-4BBC-4B75-BE39-7725F090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1021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Funnel'ın son aşaması sağlıklı görünürken, toplam gelir hedefi karşılamıyor. Sorun yalnızca win rate değil; hedef dağılımı, deal mix ve temsilci katkı dengesi birlikte ele alınmalı.</a:t>
            </a:r>
          </a:p>
        </p:txBody>
      </p:sp>
    </p:spTree>
    <p:extLst>
      <p:ext uri="{BB962C8B-B14F-4D97-AF65-F5344CB8AC3E}">
        <p14:creationId xmlns:p14="http://schemas.microsoft.com/office/powerpoint/2010/main" val="1099129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9130C-6BC5-4C3D-ACBB-1DE34E44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ABA87-A52B-413D-AED7-3D64E37A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Lead hacmi yıl sonunda yeni zirveye ulaştı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49E43-FE17-4EC1-8CEA-07C96697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010A2-C506-4DDF-89A3-5FA92D3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88E26-4C08-4EEF-8AD2-6B8AF72E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41050020164fd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7F35D-45BE-4D4C-ACD0-F2E0A23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0AF51-777D-42C2-B9DB-81408F1C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Aralık sonucu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3238A-2BDA-4975-AD1A-7986F64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1,763 / 1,815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97.1% gerçekleşme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1A1E-4339-4657-A6E3-E61B2289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AA0B3-6620-4667-9D0D-FB43CFFD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5762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Yorum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AF44-6027-42CB-9098-138EC37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24350"/>
            <a:ext cx="1924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Hacim artıyor; büyümenin kalitesini korumak için kaynak bazlı qualification oranı izlenmeli.</a:t>
            </a:r>
          </a:p>
        </p:txBody>
      </p:sp>
    </p:spTree>
    <p:extLst>
      <p:ext uri="{BB962C8B-B14F-4D97-AF65-F5344CB8AC3E}">
        <p14:creationId xmlns:p14="http://schemas.microsoft.com/office/powerpoint/2010/main" val="18603853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17EB0-4DC2-4272-9A39-82460F8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03CCE-ED7D-4494-AA14-9FC2FC9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Lead büyümesi qualification oranını taşımadı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8374F-5ACD-4130-8479-4926285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A9A4E-AB9A-40FA-BC8C-C0EF6A2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8A2C3-09AC-4774-8A5B-298D540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4bfdb2c53b46d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D0214-3243-43E1-8ED9-9575BAB6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47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2E150-F73D-49A2-A968-84561B3B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478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Aralık oranları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DB00B-330F-40B0-B46A-38F405C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14600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Qualification: 51.0%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Opportunity: 44.4%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E1951-BD85-4657-B710-69FF3C12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B10EF-2E6A-4611-A864-833F2DC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528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Fırsat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47E66-2138-47BF-AFD2-FB3B00FB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419600"/>
            <a:ext cx="1924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Kaynak karmasını yalnızca hacimle değil, kalite ve edinim maliyetiyle optimize etmek.</a:t>
            </a:r>
          </a:p>
        </p:txBody>
      </p:sp>
    </p:spTree>
    <p:extLst>
      <p:ext uri="{BB962C8B-B14F-4D97-AF65-F5344CB8AC3E}">
        <p14:creationId xmlns:p14="http://schemas.microsoft.com/office/powerpoint/2010/main" val="1755520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6ACEA-679B-45B3-A27E-C6A3972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FC1F7-B999-4637-8116-1C81795E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2026 lead hacminin %29'u organik aramadan geldi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6BBA-47E1-4BD3-A6D8-8D5CE185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8A2DA-9DF8-4D3F-A9AE-09BFB1A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4FF72-B918-4202-A0D2-2A96874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858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7ee044f91a4ff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5360B-8114-4452-982D-CCA11D5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C094C-C3F9-46C7-B0AF-1805A0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97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En büyük kaynak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C0243-1AC8-41E7-A396-73BCAED4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59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Organic Search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5,272 lead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29.0% 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0E773-004B-4B29-A5C9-8ED3A9FC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44154-9A46-462D-B6D5-C63B85FE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576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Portföy riski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307B0-1C88-4EFC-8376-8A7C9BA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24350"/>
            <a:ext cx="259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İlk iki kanal toplam hacmin yarısından fazlasını taşıyor. Kanal bağımlılığı kalite ve maliyet perspektifiyle izlenmeli.</a:t>
            </a:r>
          </a:p>
        </p:txBody>
      </p:sp>
    </p:spTree>
    <p:extLst>
      <p:ext uri="{BB962C8B-B14F-4D97-AF65-F5344CB8AC3E}">
        <p14:creationId xmlns:p14="http://schemas.microsoft.com/office/powerpoint/2010/main" val="22491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853D6-92A2-4AA3-8AD2-E6FD86B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58CDD-D3B9-419B-A97F-4AB5E5B7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Referral en yüksek qualification oranına sahip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D2D63-DBBB-42B9-BEB2-A3964073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E2F82-4B0A-4CD9-B7AA-83CE489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45A94-B8AF-4CA2-A9E7-E3DE610B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b50e62e2c4e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E4F86-0106-4909-9041-A95288C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36F3F-2664-4C01-BE15-0FA6DF8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Kalite lideri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C5896-673D-4F4D-8B51-CD0F057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Referral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67.0% qualification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8605-761B-4C4E-ACF2-3D1B7FEA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42E09-2E0C-4029-BA00-0B53323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623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İyileştirme alanı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E4CC7-AA80-4E5C-8DAB-BD05F730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Outbound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39.0% qualification</a:t>
            </a:r>
          </a:p>
        </p:txBody>
      </p:sp>
    </p:spTree>
    <p:extLst>
      <p:ext uri="{BB962C8B-B14F-4D97-AF65-F5344CB8AC3E}">
        <p14:creationId xmlns:p14="http://schemas.microsoft.com/office/powerpoint/2010/main" val="14867156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2A4076-E2F3-4D64-A81F-49CC0743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D79FE-2C66-4E70-BFDC-01E74B73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Paid Ads en yüksek edinim harcamasını taşıyor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CBB33-8794-4F3E-BDC6-816D38DB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AC88-8F7F-43FD-B71F-7FC0560C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D809-45B3-4061-999F-1C6E315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b3ed67a0c492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8B850-93CD-4E3A-A1BE-543A564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A5C43-0D18-48DD-856F-D36ECAB7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Paid 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223BA-5A16-4C76-8754-BA4885D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301K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48.0% qualification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DFD35-B808-4B00-9063-85E0122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4BADD-BE68-4C65-8A6A-762F7A84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623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Referral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4DDEC-538C-43E1-9605-0819C60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220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42K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67.0% qualification</a:t>
            </a:r>
          </a:p>
        </p:txBody>
      </p:sp>
    </p:spTree>
    <p:extLst>
      <p:ext uri="{BB962C8B-B14F-4D97-AF65-F5344CB8AC3E}">
        <p14:creationId xmlns:p14="http://schemas.microsoft.com/office/powerpoint/2010/main" val="12753358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BBF80-DB68-4959-8890-066FF40A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6DA89-2F8C-49EF-8B8E-DCA1FA2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En büyük funnel kaybı fırsata geçişte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3BF4-838B-47C2-84B3-F2D0AE2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06B8D-CFC8-44C7-8A0B-4E934F0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B99C8-0B12-485A-BC7C-FB1EC37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09625" y="161925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53693b19c44fa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4CE89-1053-4507-A73D-70F8D82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4FDE7-4FF3-42EB-9AE2-1008309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Lead → Qualified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BE3A6-E637-4D21-A7E1-859FE50B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51.0%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C7958-3357-40E4-B3AB-239E777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6D27-C186-4808-B22A-CD04B7A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Qualified → Fırsat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AE4AD-60A9-4714-88BC-FB108A87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44.4%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8C455-8910-4BF5-B593-34206F9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AE795-25C0-4597-B791-212163E0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Fırsat → Kazanılan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964EB-7696-4742-A7D9-5314A22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32.3%</a:t>
            </a:r>
          </a:p>
        </p:txBody>
      </p:sp>
    </p:spTree>
    <p:extLst>
      <p:ext uri="{BB962C8B-B14F-4D97-AF65-F5344CB8AC3E}">
        <p14:creationId xmlns:p14="http://schemas.microsoft.com/office/powerpoint/2010/main" val="16737932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3BFAA-0C30-4C8A-8D9E-8F55065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D2F50-9A06-4671-A51C-710C885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Win rate yıl sonunda %32,2 ile hedef seviyesini aştı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CB382-4A06-46EA-8331-B352310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67ED-7C97-45F4-A999-A2AA8FF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8001-B530-4BB9-B9F9-DDE14F09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048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521a891f0b4d2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82C79-C785-452D-B600-957B2AF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ECA6-3917-4AC4-8C45-A9C7457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Aralık sonucu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0304-0896-4D99-B0EC-4FACE44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32.3%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+10.1% YoY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EEA69-19AF-46CF-8F91-A008CE7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B1F9F-3948-4AB2-B0C8-2A73E92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Sınır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8D985-6002-438C-A994-420203E9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71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Win rate iyileşmesi tek başına gelir hedef açığını kapatmadı.</a:t>
            </a:r>
          </a:p>
        </p:txBody>
      </p:sp>
    </p:spTree>
    <p:extLst>
      <p:ext uri="{BB962C8B-B14F-4D97-AF65-F5344CB8AC3E}">
        <p14:creationId xmlns:p14="http://schemas.microsoft.com/office/powerpoint/2010/main" val="12608777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1E3E4-1C55-4F4A-9A66-FFB200B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7092B-06AE-408F-8B9B-9E57ADA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2026 gelir büyümesi yeniden hızlandı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0E79A-1ABC-4433-8FE8-BA5EF86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E683B-6EE0-4EC2-A2D5-B10842E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9E620-1D68-4535-94E3-F93EED0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23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d1cbb8c66744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C6DEB-09B4-40E7-841D-3E43C981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E16F1-426A-40AA-92BC-3CD4FDB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2024 →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77CA4-E18A-4DAD-89CF-CE5B2F9B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400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21.0M → TL 27.8M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+32.1% büyüme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9BA8D-B55B-4000-B6DF-962A31B5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6DAEA-94C7-4CB1-8F8F-99D9CDE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2026 hedef açığı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7AC64-1D10-476B-AF8B-F8AA581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71975"/>
            <a:ext cx="2400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-2.3M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92.4% gerçekleşme</a:t>
            </a:r>
          </a:p>
        </p:txBody>
      </p:sp>
    </p:spTree>
    <p:extLst>
      <p:ext uri="{BB962C8B-B14F-4D97-AF65-F5344CB8AC3E}">
        <p14:creationId xmlns:p14="http://schemas.microsoft.com/office/powerpoint/2010/main" val="13939025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75257-E100-49C1-BEBD-C3C3790C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883B3-FC17-4C42-A097-B11747B3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Aylık gelir hedef açığı 2026 boyunca süreklilik gösterdi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864C-5D0A-45BB-BFE1-CA9D6BF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A80D-6F71-464A-A98F-1E678BAD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8E78-277D-4A8C-8A43-99D0068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809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54082b7ef458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1F525-93D2-427B-AE9C-5E8E56D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CA1CB-8327-4B6A-B7FD-98C61EB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Yıllık fark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729EE-5FF4-41E6-A530-129D295A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-2.3M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92.4% gerçekleşme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79CCA-8EC2-4181-AFD5-C275E4C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42EC8-5906-4A9F-926C-BFACBA08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Öncelik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F174E-61E9-419D-BA08-CD108C1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1924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Hedeflerin temsilci, kanal ve deal mix seviyesinde sürücülere ayrıştırılması.</a:t>
            </a:r>
          </a:p>
        </p:txBody>
      </p:sp>
    </p:spTree>
    <p:extLst>
      <p:ext uri="{BB962C8B-B14F-4D97-AF65-F5344CB8AC3E}">
        <p14:creationId xmlns:p14="http://schemas.microsoft.com/office/powerpoint/2010/main" val="8001066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C474E-8D0B-46F4-AA3E-C11FA641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6EF4-4023-4022-B772-5190083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Aralık gelir açığı 260 bin 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321E7-00FF-435C-8039-6D14E221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24536-B96C-4520-BE12-79142E00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31B8A-9115-4A05-9B63-3341EEC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44c46ef1474e2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8FE9C-7833-487F-A585-879B1606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4101C-DC91-4B8D-8545-C019120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Aralık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4D81C-AD52-40C2-A246-A9B499B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-260K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91.1%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DD687-A994-4B10-A2AC-B69200CF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3FE95-C33E-4717-BFDB-04769A6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Yorum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E563-440C-4866-B445-BAEE214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1924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Açık tek seferlik değil; yıl içindeki çoğu ayda tekrarlanan yapısal bir hedef problemi.</a:t>
            </a:r>
          </a:p>
        </p:txBody>
      </p:sp>
    </p:spTree>
    <p:extLst>
      <p:ext uri="{BB962C8B-B14F-4D97-AF65-F5344CB8AC3E}">
        <p14:creationId xmlns:p14="http://schemas.microsoft.com/office/powerpoint/2010/main" val="13563531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0AC65-9ACF-4722-ADC9-B06038B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0C907-C812-408F-ABA2-9B5677B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Pipeline, hedefin ortalama 7 katından fazla kapsama sağlıyor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78F10-EB3D-40D1-B8F7-85D9F9AC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2328A-E9F5-4B05-B5E5-CB4E092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76191-3AD9-4289-9616-A7D55E1B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048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68167c8e2a45b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40F65-5CF4-4EFE-A69C-E2902AB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6666C-6B27-4C94-A90B-E4C3D55D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Aralık kapsama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DFA1D-8B93-4FFA-A6C7-08E489D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7.5x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TL 21.8M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652DB-F4D5-4491-B875-5A361C6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0651A-BFCD-4917-ADCE-63DB867D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Soru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26380-3351-4D5F-ADDC-52DA648F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71975"/>
            <a:ext cx="1924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Yüksek pipeline neden aynı ölçüde gelire dönüşmüyor?</a:t>
            </a:r>
          </a:p>
        </p:txBody>
      </p:sp>
    </p:spTree>
    <p:extLst>
      <p:ext uri="{BB962C8B-B14F-4D97-AF65-F5344CB8AC3E}">
        <p14:creationId xmlns:p14="http://schemas.microsoft.com/office/powerpoint/2010/main" val="11970719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7A8CB-EED6-4F74-AC5F-9CD1431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A0E38-757A-4144-BF9C-F73DA1A9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Temsilci performansı iki hızda ilerliyor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879B-C641-4B4E-AD7E-5E50D86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4F0BE-B9A5-4454-8FC1-CC6250ED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0F630-6738-48E9-97FE-53DB5C8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6274"/>
                <a:gridCol w="1757516"/>
                <a:gridCol w="1757516"/>
                <a:gridCol w="1757516"/>
                <a:gridCol w="1581765"/>
                <a:gridCol w="1406013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Temsilci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Gelir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Hedef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Gerçekleşme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Win Rate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</a:rPr>
                        <a:t>Döngü</a:t>
                      </a:r>
                    </a:p>
                  </a:txBody>
                  <a:tcPr marL="95250" marR="95250" marT="66675" marB="66675">
                    <a:solidFill>
                      <a:srgbClr val="1526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Deniz Koç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6.7M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130.5%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35.7%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43 gün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Can Arslan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6.5M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5.7M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113.0%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33.4%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45 gün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Selin Yılmaz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5.8M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6.0M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96.6%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30.9%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46 gün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Emre Kaya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5.3M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6.3M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83.6%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28.8%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48 gün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Ayşe Demir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5.1M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TL 6.9M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9D98A"/>
                          </a:solidFill>
                        </a:rPr>
                        <a:t>73.9%</a:t>
                      </a:r>
                    </a:p>
                  </a:txBody>
                  <a:tcPr marL="95250" marR="95250" marT="66675" marB="66675">
                    <a:solidFill>
                      <a:srgbClr val="0B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27.4%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</a:rPr>
                        <a:t>50 gün</a:t>
                      </a:r>
                    </a:p>
                  </a:txBody>
                  <a:tcPr marL="95250" marR="95250" marT="66675" marB="66675">
                    <a:solidFill>
                      <a:srgbClr val="101D2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AC38B-5C60-4040-A847-9BE67AAF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547"/>
                </a:solidFill>
              </a:defRPr>
            </a:pPr>
            <a:r>
              <a:rPr sz="1725" b="1">
                <a:solidFill>
                  <a:srgbClr val="FFB547"/>
                </a:solidFill>
              </a:rPr>
              <a:t>Deniz ve Can hedef üzerinde; Ayşe ve Emre için koçluk ve pipeline kalitesi öncelikli.</a:t>
            </a:r>
          </a:p>
        </p:txBody>
      </p:sp>
    </p:spTree>
    <p:extLst>
      <p:ext uri="{BB962C8B-B14F-4D97-AF65-F5344CB8AC3E}">
        <p14:creationId xmlns:p14="http://schemas.microsoft.com/office/powerpoint/2010/main" val="583030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D229D-3B89-494E-8308-1CF3596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37386-08A8-47AD-86DD-6CCFC7C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Deniz ve Can, 2026 hedeflerini belirgin şekilde aştı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D36B-BBD8-4D51-A52A-DB06129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500CE-EC67-4DC2-A765-139F4D7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9BDDF-2CAE-45B2-B2E8-3136988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8191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94437fab249e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AB580-C305-4ABD-828E-BAC0E80B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733A5-06F1-402A-B4D5-BD1428D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Lider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80ABD-911F-4A0F-B8E5-96C5DBB3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66975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Deniz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130.5%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B6782-0B9F-4ABC-958A-644DA52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F7FF0-F52E-46FE-90F5-42254AB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F"/>
                </a:solidFill>
              </a:defRPr>
            </a:pPr>
            <a:r>
              <a:rPr sz="1875" b="1">
                <a:solidFill>
                  <a:srgbClr val="EAF2FF"/>
                </a:solidFill>
              </a:rPr>
              <a:t>En büyük açık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B50D9-456E-4168-988B-0ABADC6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71975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Ayşe</a:t>
            </a:r>
          </a:p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73.9%</a:t>
            </a:r>
          </a:p>
        </p:txBody>
      </p:sp>
    </p:spTree>
    <p:extLst>
      <p:ext uri="{BB962C8B-B14F-4D97-AF65-F5344CB8AC3E}">
        <p14:creationId xmlns:p14="http://schemas.microsoft.com/office/powerpoint/2010/main" val="19746504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94EEB-4C11-4265-A8A0-4C8FF28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C6BF1-9795-4A29-9229-4EFFF30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Kısa satış döngüsü, yüksek win rate ile ilerliyor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246F4-80D6-4E48-95EB-F9D00193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880E1-3892-4105-9C1A-2E18C56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CAD5-2067-4B86-A9AA-E98D2A1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5DD57-393F-4134-AECE-34AE440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</a:defRPr>
            </a:pPr>
            <a:r>
              <a:rPr sz="1125" b="1">
                <a:solidFill>
                  <a:srgbClr val="FFB547"/>
                </a:solidFill>
              </a:rPr>
              <a:t>ORTALAMA SATIŞ DÖNGÜSÜ (GÜN)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4857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a81170f094e3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3677-089D-4799-80B3-83E4CFD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98A"/>
                </a:solidFill>
              </a:defRPr>
            </a:pPr>
            <a:r>
              <a:rPr sz="1125" b="1">
                <a:solidFill>
                  <a:srgbClr val="39D98A"/>
                </a:solidFill>
              </a:rPr>
              <a:t>WIN RATE (%)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4857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37b1065dde480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37000-D7C8-48C9-99EC-0938B46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Deniz, 43 günlük döngü ve %35,7 win rate ile en güçlü kombinasyonu sunuyor.</a:t>
            </a:r>
          </a:p>
        </p:txBody>
      </p:sp>
    </p:spTree>
    <p:extLst>
      <p:ext uri="{BB962C8B-B14F-4D97-AF65-F5344CB8AC3E}">
        <p14:creationId xmlns:p14="http://schemas.microsoft.com/office/powerpoint/2010/main" val="9084053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D68DA-641B-49AE-A7C3-D736711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F0178-5F88-40EC-A885-5E670FE5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Yeni müşteri kazanımı artarken churn düşük kaldı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FEC83-A583-49D5-880A-6D1A8378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F97D9-7974-49AD-A5B6-27C15FCB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559EC-2867-4B12-9C85-338A246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5095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49dc1ddc246f4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34125" y="1666875"/>
          <a:ext xmlns:a="http://schemas.openxmlformats.org/drawingml/2006/main" cx="5095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720af1f394b5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1C759-B396-4986-9557-9E25B987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D98A"/>
                </a:solidFill>
              </a:defRPr>
            </a:pPr>
            <a:r>
              <a:rPr sz="1575" b="1">
                <a:solidFill>
                  <a:srgbClr val="39D98A"/>
                </a:solidFill>
              </a:rPr>
              <a:t>Aralık: 129 yeni müşteri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EA25F-2E8B-4F45-8B7B-A2AA7D6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67A"/>
                </a:solidFill>
              </a:defRPr>
            </a:pPr>
            <a:r>
              <a:rPr sz="1575" b="1">
                <a:solidFill>
                  <a:srgbClr val="FF667A"/>
                </a:solidFill>
              </a:rPr>
              <a:t>Aralık churn: 2.4%</a:t>
            </a:r>
          </a:p>
        </p:txBody>
      </p:sp>
    </p:spTree>
    <p:extLst>
      <p:ext uri="{BB962C8B-B14F-4D97-AF65-F5344CB8AC3E}">
        <p14:creationId xmlns:p14="http://schemas.microsoft.com/office/powerpoint/2010/main" val="6673645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F0EAD-E64B-41E1-BAAD-253236D4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945C-7ADA-45EE-807C-20032B3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Dört öncelik büyümeyi kaliteli gelire çevirir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6F746-54DE-434A-A059-E4CAF113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8F065-0E2B-4C8D-9FF2-7FA6ACF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FDCA9-A5E4-44D7-B7B3-D43676E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4163D-6A30-4E0B-848D-A26A4092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C7D9"/>
                </a:solidFill>
              </a:defRPr>
            </a:pPr>
            <a:r>
              <a:rPr sz="1650" b="1">
                <a:solidFill>
                  <a:srgbClr val="24C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60351-E9DA-48A3-880F-6EBB4A8D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5AD69-DB9B-45B6-886C-ADCF5391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Kanal karmasını yeniden dengele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2D2D1-0D0C-4A31-A0C7-9A9CDB56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Referral ve Organic'e ölçek yatırımı; Paid Ads ve Outbound için kalite eşikleri.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EFBF-B452-4B0E-9AC5-5E18D92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7CFF"/>
                </a:solidFill>
              </a:defRPr>
            </a:pPr>
            <a:r>
              <a:rPr sz="1650" b="1">
                <a:solidFill>
                  <a:srgbClr val="4F7C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684F1-764D-4D87-8D79-BFF8B66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2FB0B-157B-42FF-8DCC-B345DCA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Pipeline'ı yaş ve aşama bazında yönet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0573F-A956-4A58-801E-1EAEE5DA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Yüksek kapsamanın gelire dönüşmediği noktaları görünür kıl.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BEE44-E859-4F3D-8CCF-EDF1199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FD18F-7200-459B-B4F0-FA91A05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98959-5ED5-4326-877E-27E1784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Temsilci oyun kitabı oluştur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E8194-84CA-4F1B-AE0D-86637B4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Deniz ve Can'ın satış pratiklerini standart koçluk modülüne taşı.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BC860-D908-4242-811E-629E2673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547"/>
                </a:solidFill>
              </a:defRPr>
            </a:pPr>
            <a:r>
              <a:rPr sz="1650" b="1">
                <a:solidFill>
                  <a:srgbClr val="FFB547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BE0C9-E1B4-45AB-9B56-3FE43821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1482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3018F-BFC2-47D2-BEB1-9044FBC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2FF"/>
                </a:solidFill>
              </a:defRPr>
            </a:pPr>
            <a:r>
              <a:rPr sz="1800" b="1">
                <a:solidFill>
                  <a:srgbClr val="EAF2FF"/>
                </a:solidFill>
              </a:rPr>
              <a:t>Hedefleri sürücülere bağla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AAF60-6C82-4BD8-A86F-B2545C20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815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E"/>
                </a:solidFill>
              </a:defRPr>
            </a:pPr>
            <a:r>
              <a:rPr sz="1275" b="0">
                <a:solidFill>
                  <a:srgbClr val="91A7BE"/>
                </a:solidFill>
              </a:rPr>
              <a:t>Lead, deal size, win rate ve cycle varsayımlarını temsilci bazında izle.</a:t>
            </a:r>
          </a:p>
        </p:txBody>
      </p:sp>
    </p:spTree>
    <p:extLst>
      <p:ext uri="{BB962C8B-B14F-4D97-AF65-F5344CB8AC3E}">
        <p14:creationId xmlns:p14="http://schemas.microsoft.com/office/powerpoint/2010/main" val="4553490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24C51-8F36-4006-ABBA-05674DB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1C82-2355-4AE1-9859-5ADA3D7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</a:defRPr>
            </a:pPr>
            <a:r>
              <a:rPr sz="2700" b="1">
                <a:solidFill>
                  <a:srgbClr val="EAF2FF"/>
                </a:solidFill>
              </a:rPr>
              <a:t>Yönetim ritmi dashboard'u karar sistemine dönüştürür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C5EC5-2EFB-4983-B7E8-1680C42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8D651-10EA-4288-9AFD-6603CF5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CRM Satış Analitiği | 36 aylık örnek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45CB-0C81-4B7E-B818-DE61F1D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7BE"/>
                </a:solidFill>
              </a:defRPr>
            </a:pPr>
            <a:r>
              <a:rPr sz="825" b="0">
                <a:solidFill>
                  <a:srgbClr val="91A7BE"/>
                </a:solidFill>
              </a:rPr>
              <a:t>Murat Miraç Gedik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18E64-C9FD-4E42-B1C9-FB1C1E2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</a:defRPr>
            </a:pPr>
            <a:r>
              <a:rPr sz="1200" b="1">
                <a:solidFill>
                  <a:srgbClr val="24C7D9"/>
                </a:solidFill>
              </a:rPr>
              <a:t>HAFTALIK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7AE4B-8AA8-4174-82D9-E5C1430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Pipeline ve funnel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28ACF-5DF5-4354-B90E-C8DA064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86B18-EA33-4B23-A617-7B5E5EC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Yaşlanan fırsatlar • stage movement • temsilci aksiyonları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10A96-732A-4B6C-B75F-84D09AE3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98A"/>
                </a:solidFill>
              </a:defRPr>
            </a:pPr>
            <a:r>
              <a:rPr sz="1200" b="1">
                <a:solidFill>
                  <a:srgbClr val="39D98A"/>
                </a:solidFill>
              </a:rPr>
              <a:t>AYLIK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934CA-B1DC-414D-9FF3-40E5DC87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Hedef ve kanal performansı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E3A62-E789-4DFA-A041-BD0DBC2F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4FAEA-C9BA-4CEA-B1F9-289E97D0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Actual vs target • kaynak kalitesi • bütçe yeniden dağıtımı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3FEEB-652F-4165-A86A-48110D5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ÇEYREKLİK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92F0E-4F05-443B-A61B-C4299AD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F"/>
                </a:solidFill>
              </a:defRPr>
            </a:pPr>
            <a:r>
              <a:rPr sz="2025" b="1">
                <a:solidFill>
                  <a:srgbClr val="EAF2FF"/>
                </a:solidFill>
              </a:rPr>
              <a:t>Model ve strateji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44A70-4E49-4660-8F28-3C5F5817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E8025-260F-4A7D-9F5F-3F3CF6C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623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7BE"/>
                </a:solidFill>
              </a:defRPr>
            </a:pPr>
            <a:r>
              <a:rPr sz="1350" b="0">
                <a:solidFill>
                  <a:srgbClr val="91A7BE"/>
                </a:solidFill>
              </a:rPr>
              <a:t>KPI tanımları • hedef varsayımları • kapasite planı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82CF5-CBF0-436F-BD72-8D6E4612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</a:defRPr>
            </a:pPr>
            <a:r>
              <a:rPr sz="1650" b="1">
                <a:solidFill>
                  <a:srgbClr val="EAF2FF"/>
                </a:solidFill>
              </a:rPr>
              <a:t>Tek sahiplik: Sales Operations • Tek gerçeklik kaynağı: semantik model • Tek çıktı: ortak aksiyon listesi</a:t>
            </a:r>
          </a:p>
        </p:txBody>
      </p:sp>
    </p:spTree>
    <p:extLst>
      <p:ext uri="{BB962C8B-B14F-4D97-AF65-F5344CB8AC3E}">
        <p14:creationId xmlns:p14="http://schemas.microsoft.com/office/powerpoint/2010/main" val="8407585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85830-99EC-4AF4-A5C2-53CBD0B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CDE9-A20E-4F12-AC91-E530078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98A"/>
                </a:solidFill>
              </a:defRPr>
            </a:pPr>
            <a:r>
              <a:rPr sz="1125" b="1">
                <a:solidFill>
                  <a:srgbClr val="39D98A"/>
                </a:solidFill>
              </a:rPr>
              <a:t>PORTFÖY SONUCU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67D68-7DF6-4C9D-BB4F-AAF741FC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F2FF"/>
                </a:solidFill>
              </a:defRPr>
            </a:pPr>
            <a:r>
              <a:rPr sz="3225" b="1">
                <a:solidFill>
                  <a:srgbClr val="EAF2FF"/>
                </a:solidFill>
              </a:rPr>
              <a:t>Uçtan uca CRM analitiği: veriden yönetim aksiyonuna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323DB-EB0D-4E89-9234-15248DA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7BE"/>
                </a:solidFill>
              </a:defRPr>
            </a:pPr>
            <a:r>
              <a:rPr sz="1500" b="0">
                <a:solidFill>
                  <a:srgbClr val="91A7BE"/>
                </a:solidFill>
              </a:rPr>
              <a:t>36 aylık veri • ilişkisel model • DAX KPI'ları • 10 sayfalık Power BI raporu • Excel ve Tableau çıktıları • 4K yönetici raporu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a4b80b5f04ac8"/>
          <a:stretch xmlns:a="http://schemas.openxmlformats.org/drawingml/2006/main"/>
        </p:blipFill>
        <p:spPr>
          <a:xfrm xmlns:a="http://schemas.openxmlformats.org/drawingml/2006/main">
            <a:off x="690033" y="3048000"/>
            <a:ext cx="4944533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fa7cbba034642"/>
          <a:stretch xmlns:a="http://schemas.openxmlformats.org/drawingml/2006/main"/>
        </p:blipFill>
        <p:spPr>
          <a:xfrm xmlns:a="http://schemas.openxmlformats.org/drawingml/2006/main">
            <a:off x="6557433" y="3048000"/>
            <a:ext cx="4944533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F0239-8C26-48BA-B879-9BC1844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9D98A"/>
                </a:solidFill>
              </a:defRPr>
            </a:pPr>
            <a:r>
              <a:rPr sz="1725" b="1">
                <a:solidFill>
                  <a:srgbClr val="39D98A"/>
                </a:solidFill>
              </a:rPr>
              <a:t>İş değeri: satış görünürlüğü, hedef disiplini, kanal optimizasyonu ve temsilci verimliliği.</a:t>
            </a:r>
          </a:p>
        </p:txBody>
      </p:sp>
    </p:spTree>
    <p:extLst>
      <p:ext uri="{BB962C8B-B14F-4D97-AF65-F5344CB8AC3E}">
        <p14:creationId xmlns:p14="http://schemas.microsoft.com/office/powerpoint/2010/main" val="752583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2026-07-24T13:10:59.9350000Z</dcterms:created>
  <dcterms:modified xsi:type="dcterms:W3CDTF">2026-07-24T13:10:59.9350000Z</dcterms:modified>
</coreProperties>
</file>